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147477720" r:id="rId2"/>
    <p:sldId id="2147477642" r:id="rId3"/>
    <p:sldId id="256" r:id="rId4"/>
    <p:sldId id="2147477654" r:id="rId5"/>
    <p:sldId id="259" r:id="rId6"/>
    <p:sldId id="2147477663" r:id="rId7"/>
    <p:sldId id="257" r:id="rId8"/>
    <p:sldId id="258" r:id="rId9"/>
    <p:sldId id="2147477672" r:id="rId10"/>
    <p:sldId id="2147477645" r:id="rId11"/>
    <p:sldId id="2147477646" r:id="rId12"/>
    <p:sldId id="2147477664" r:id="rId13"/>
    <p:sldId id="2147477608" r:id="rId14"/>
    <p:sldId id="2147477656" r:id="rId15"/>
    <p:sldId id="2147477655" r:id="rId16"/>
    <p:sldId id="2147477657" r:id="rId17"/>
    <p:sldId id="1166" r:id="rId18"/>
    <p:sldId id="2147477670" r:id="rId19"/>
    <p:sldId id="2147477648" r:id="rId20"/>
    <p:sldId id="2147477658" r:id="rId21"/>
    <p:sldId id="2147477666" r:id="rId22"/>
    <p:sldId id="2147477667" r:id="rId23"/>
    <p:sldId id="1162" r:id="rId24"/>
    <p:sldId id="2147477628" r:id="rId25"/>
    <p:sldId id="2147477649" r:id="rId26"/>
    <p:sldId id="2147477659" r:id="rId27"/>
    <p:sldId id="2147477632" r:id="rId28"/>
    <p:sldId id="2147477639" r:id="rId29"/>
    <p:sldId id="2147477638" r:id="rId30"/>
    <p:sldId id="2147477668" r:id="rId31"/>
    <p:sldId id="2147477673" r:id="rId32"/>
    <p:sldId id="2147477674" r:id="rId33"/>
    <p:sldId id="2147477624" r:id="rId34"/>
    <p:sldId id="2147477676" r:id="rId35"/>
    <p:sldId id="2147477651" r:id="rId36"/>
    <p:sldId id="2147477690" r:id="rId37"/>
    <p:sldId id="2147477680" r:id="rId38"/>
    <p:sldId id="2147477625" r:id="rId39"/>
    <p:sldId id="2147477635" r:id="rId40"/>
    <p:sldId id="2147477717" r:id="rId41"/>
    <p:sldId id="2147477715" r:id="rId42"/>
    <p:sldId id="2147477726" r:id="rId43"/>
    <p:sldId id="2147477727" r:id="rId44"/>
    <p:sldId id="2147477694" r:id="rId45"/>
    <p:sldId id="2147477696" r:id="rId46"/>
    <p:sldId id="2147477629" r:id="rId47"/>
    <p:sldId id="2147477652" r:id="rId48"/>
    <p:sldId id="2147477697" r:id="rId49"/>
    <p:sldId id="2147477699" r:id="rId50"/>
    <p:sldId id="2147477722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6720D294-8629-4AF9-B35D-0E8DA06398AE}">
          <p14:sldIdLst>
            <p14:sldId id="2147477720"/>
            <p14:sldId id="2147477642"/>
            <p14:sldId id="256"/>
            <p14:sldId id="2147477654"/>
            <p14:sldId id="259"/>
          </p14:sldIdLst>
        </p14:section>
        <p14:section name="Navigation" id="{23975BCD-3834-43F8-AF26-FDC0F6269439}">
          <p14:sldIdLst>
            <p14:sldId id="2147477663"/>
            <p14:sldId id="257"/>
            <p14:sldId id="258"/>
            <p14:sldId id="2147477672"/>
            <p14:sldId id="2147477645"/>
            <p14:sldId id="2147477646"/>
          </p14:sldIdLst>
        </p14:section>
        <p14:section name="Intro" id="{DFE42209-D76E-42DB-9A42-14BCD344A498}">
          <p14:sldIdLst>
            <p14:sldId id="2147477664"/>
            <p14:sldId id="2147477608"/>
            <p14:sldId id="2147477656"/>
            <p14:sldId id="2147477655"/>
            <p14:sldId id="2147477657"/>
            <p14:sldId id="1166"/>
            <p14:sldId id="2147477670"/>
          </p14:sldIdLst>
        </p14:section>
        <p14:section name="Obsidian" id="{012DF5BD-A156-48E5-AFC3-899DC1A55F34}">
          <p14:sldIdLst>
            <p14:sldId id="2147477648"/>
            <p14:sldId id="2147477658"/>
            <p14:sldId id="2147477666"/>
            <p14:sldId id="2147477667"/>
            <p14:sldId id="1162"/>
            <p14:sldId id="2147477628"/>
          </p14:sldIdLst>
        </p14:section>
        <p14:section name="Excalidraw" id="{888EE90F-C723-42F1-B466-084C2498DFD4}">
          <p14:sldIdLst>
            <p14:sldId id="2147477649"/>
            <p14:sldId id="2147477659"/>
            <p14:sldId id="2147477632"/>
            <p14:sldId id="2147477639"/>
            <p14:sldId id="2147477638"/>
            <p14:sldId id="2147477668"/>
          </p14:sldIdLst>
        </p14:section>
        <p14:section name="VS Code" id="{C89AF8DD-7CD6-42AB-97E8-B187715EF8CF}">
          <p14:sldIdLst>
            <p14:sldId id="2147477673"/>
            <p14:sldId id="2147477674"/>
            <p14:sldId id="2147477624"/>
            <p14:sldId id="2147477676"/>
          </p14:sldIdLst>
        </p14:section>
        <p14:section name="PowerToys" id="{BDE79AB3-4BBB-4458-B66D-E1CD9AD18E97}">
          <p14:sldIdLst>
            <p14:sldId id="2147477651"/>
            <p14:sldId id="2147477690"/>
            <p14:sldId id="2147477680"/>
            <p14:sldId id="2147477625"/>
            <p14:sldId id="2147477635"/>
            <p14:sldId id="2147477717"/>
            <p14:sldId id="2147477715"/>
            <p14:sldId id="2147477726"/>
            <p14:sldId id="2147477727"/>
            <p14:sldId id="2147477694"/>
            <p14:sldId id="2147477696"/>
            <p14:sldId id="2147477629"/>
          </p14:sldIdLst>
        </p14:section>
        <p14:section name="Wrap-Up" id="{FB209E13-F8BD-4877-AB11-93E34DF92991}">
          <p14:sldIdLst>
            <p14:sldId id="2147477652"/>
            <p14:sldId id="2147477697"/>
            <p14:sldId id="2147477699"/>
            <p14:sldId id="21474777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7111F"/>
    <a:srgbClr val="070B16"/>
    <a:srgbClr val="F48771"/>
    <a:srgbClr val="AAAAAA"/>
    <a:srgbClr val="4EC9B0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E17F4E-54A2-46DC-B3EC-D31EC4364FEE}" v="4" dt="2026-08-08T12:06:12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Romans" userId="b1594dadafe83612" providerId="LiveId" clId="{CBB49B5A-BAC4-4EF9-90F7-6CF68F907A02}"/>
    <pc:docChg chg="custSel addSld delSld modSld sldOrd delMainMaster modSection">
      <pc:chgData name="Jason Romans" userId="b1594dadafe83612" providerId="LiveId" clId="{CBB49B5A-BAC4-4EF9-90F7-6CF68F907A02}" dt="2026-08-08T12:06:51.447" v="459" actId="1076"/>
      <pc:docMkLst>
        <pc:docMk/>
      </pc:docMkLst>
      <pc:sldChg chg="modSp add mod ord">
        <pc:chgData name="Jason Romans" userId="b1594dadafe83612" providerId="LiveId" clId="{CBB49B5A-BAC4-4EF9-90F7-6CF68F907A02}" dt="2026-08-06T20:52:17.634" v="76"/>
        <pc:sldMkLst>
          <pc:docMk/>
          <pc:sldMk cId="983066425" sldId="256"/>
        </pc:sldMkLst>
        <pc:spChg chg="mod">
          <ac:chgData name="Jason Romans" userId="b1594dadafe83612" providerId="LiveId" clId="{CBB49B5A-BAC4-4EF9-90F7-6CF68F907A02}" dt="2026-08-06T20:52:07.203" v="72" actId="27636"/>
          <ac:spMkLst>
            <pc:docMk/>
            <pc:sldMk cId="983066425" sldId="256"/>
            <ac:spMk id="2" creationId="{3B2FCDF4-EC4C-51E0-3320-FB1F76263624}"/>
          </ac:spMkLst>
        </pc:spChg>
        <pc:spChg chg="mod">
          <ac:chgData name="Jason Romans" userId="b1594dadafe83612" providerId="LiveId" clId="{CBB49B5A-BAC4-4EF9-90F7-6CF68F907A02}" dt="2026-08-06T20:52:07.202" v="71" actId="27636"/>
          <ac:spMkLst>
            <pc:docMk/>
            <pc:sldMk cId="983066425" sldId="256"/>
            <ac:spMk id="3" creationId="{C3966B70-7A83-6DE2-E532-A0D60B449064}"/>
          </ac:spMkLst>
        </pc:spChg>
        <pc:spChg chg="mod">
          <ac:chgData name="Jason Romans" userId="b1594dadafe83612" providerId="LiveId" clId="{CBB49B5A-BAC4-4EF9-90F7-6CF68F907A02}" dt="2026-08-06T20:52:07.200" v="70" actId="27636"/>
          <ac:spMkLst>
            <pc:docMk/>
            <pc:sldMk cId="983066425" sldId="256"/>
            <ac:spMk id="11" creationId="{C0783BE1-0079-C790-8548-1118AE97DEC8}"/>
          </ac:spMkLst>
        </pc:spChg>
      </pc:sldChg>
      <pc:sldChg chg="modSp mod">
        <pc:chgData name="Jason Romans" userId="b1594dadafe83612" providerId="LiveId" clId="{CBB49B5A-BAC4-4EF9-90F7-6CF68F907A02}" dt="2026-08-07T19:31:52.253" v="335" actId="1076"/>
        <pc:sldMkLst>
          <pc:docMk/>
          <pc:sldMk cId="0" sldId="1162"/>
        </pc:sldMkLst>
        <pc:picChg chg="mod">
          <ac:chgData name="Jason Romans" userId="b1594dadafe83612" providerId="LiveId" clId="{CBB49B5A-BAC4-4EF9-90F7-6CF68F907A02}" dt="2026-08-07T19:31:52.253" v="335" actId="1076"/>
          <ac:picMkLst>
            <pc:docMk/>
            <pc:sldMk cId="0" sldId="1162"/>
            <ac:picMk id="11" creationId="{0F07B542-457B-83F5-ECA6-0BA3BC84D0EA}"/>
          </ac:picMkLst>
        </pc:picChg>
      </pc:sldChg>
      <pc:sldChg chg="modSp mod">
        <pc:chgData name="Jason Romans" userId="b1594dadafe83612" providerId="LiveId" clId="{CBB49B5A-BAC4-4EF9-90F7-6CF68F907A02}" dt="2026-08-07T20:10:50.857" v="368"/>
        <pc:sldMkLst>
          <pc:docMk/>
          <pc:sldMk cId="0" sldId="2147477628"/>
        </pc:sldMkLst>
        <pc:spChg chg="mod">
          <ac:chgData name="Jason Romans" userId="b1594dadafe83612" providerId="LiveId" clId="{CBB49B5A-BAC4-4EF9-90F7-6CF68F907A02}" dt="2026-08-07T19:44:16.928" v="336"/>
          <ac:spMkLst>
            <pc:docMk/>
            <pc:sldMk cId="0" sldId="2147477628"/>
            <ac:spMk id="3" creationId="{4CE46282-40D8-443C-970E-B793B24C42A9}"/>
          </ac:spMkLst>
        </pc:spChg>
        <pc:spChg chg="mod">
          <ac:chgData name="Jason Romans" userId="b1594dadafe83612" providerId="LiveId" clId="{CBB49B5A-BAC4-4EF9-90F7-6CF68F907A02}" dt="2026-08-07T19:44:16.929" v="337"/>
          <ac:spMkLst>
            <pc:docMk/>
            <pc:sldMk cId="0" sldId="2147477628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8-07T20:10:50.857" v="368"/>
          <ac:spMkLst>
            <pc:docMk/>
            <pc:sldMk cId="0" sldId="2147477628"/>
            <ac:spMk id="8" creationId="{00000000-0000-0000-0000-000000000000}"/>
          </ac:spMkLst>
        </pc:spChg>
        <pc:cxnChg chg="mod">
          <ac:chgData name="Jason Romans" userId="b1594dadafe83612" providerId="LiveId" clId="{CBB49B5A-BAC4-4EF9-90F7-6CF68F907A02}" dt="2026-08-07T19:44:16.930" v="338"/>
          <ac:cxnSpMkLst>
            <pc:docMk/>
            <pc:sldMk cId="0" sldId="2147477628"/>
            <ac:cxnSpMk id="6" creationId="{00000000-0000-0000-0000-000000000000}"/>
          </ac:cxnSpMkLst>
        </pc:cxnChg>
      </pc:sldChg>
      <pc:sldChg chg="modSp mod">
        <pc:chgData name="Jason Romans" userId="b1594dadafe83612" providerId="LiveId" clId="{CBB49B5A-BAC4-4EF9-90F7-6CF68F907A02}" dt="2026-08-07T20:10:51.149" v="377"/>
        <pc:sldMkLst>
          <pc:docMk/>
          <pc:sldMk cId="0" sldId="2147477629"/>
        </pc:sldMkLst>
        <pc:spChg chg="mod">
          <ac:chgData name="Jason Romans" userId="b1594dadafe83612" providerId="LiveId" clId="{CBB49B5A-BAC4-4EF9-90F7-6CF68F907A02}" dt="2026-08-07T19:44:17.094" v="350"/>
          <ac:spMkLst>
            <pc:docMk/>
            <pc:sldMk cId="0" sldId="2147477629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8-07T20:10:51.149" v="377"/>
          <ac:spMkLst>
            <pc:docMk/>
            <pc:sldMk cId="0" sldId="2147477629"/>
            <ac:spMk id="8" creationId="{00000000-0000-0000-0000-000000000000}"/>
          </ac:spMkLst>
        </pc:spChg>
        <pc:cxnChg chg="mod">
          <ac:chgData name="Jason Romans" userId="b1594dadafe83612" providerId="LiveId" clId="{CBB49B5A-BAC4-4EF9-90F7-6CF68F907A02}" dt="2026-08-07T19:44:17.097" v="351"/>
          <ac:cxnSpMkLst>
            <pc:docMk/>
            <pc:sldMk cId="0" sldId="2147477629"/>
            <ac:cxnSpMk id="6" creationId="{00000000-0000-0000-0000-000000000000}"/>
          </ac:cxnSpMkLst>
        </pc:cxnChg>
      </pc:sldChg>
      <pc:sldChg chg="modSp mod ord">
        <pc:chgData name="Jason Romans" userId="b1594dadafe83612" providerId="LiveId" clId="{CBB49B5A-BAC4-4EF9-90F7-6CF68F907A02}" dt="2026-08-08T12:06:51.447" v="459" actId="1076"/>
        <pc:sldMkLst>
          <pc:docMk/>
          <pc:sldMk cId="2737689308" sldId="2147477635"/>
        </pc:sldMkLst>
        <pc:spChg chg="mod">
          <ac:chgData name="Jason Romans" userId="b1594dadafe83612" providerId="LiveId" clId="{CBB49B5A-BAC4-4EF9-90F7-6CF68F907A02}" dt="2026-08-08T12:06:27.785" v="453" actId="20577"/>
          <ac:spMkLst>
            <pc:docMk/>
            <pc:sldMk cId="2737689308" sldId="2147477635"/>
            <ac:spMk id="4" creationId="{154D2885-C974-94AF-7345-69210C3ED743}"/>
          </ac:spMkLst>
        </pc:spChg>
        <pc:spChg chg="mod">
          <ac:chgData name="Jason Romans" userId="b1594dadafe83612" providerId="LiveId" clId="{CBB49B5A-BAC4-4EF9-90F7-6CF68F907A02}" dt="2026-08-08T12:05:48.853" v="404" actId="1076"/>
          <ac:spMkLst>
            <pc:docMk/>
            <pc:sldMk cId="2737689308" sldId="2147477635"/>
            <ac:spMk id="5" creationId="{57D8D3AC-9FE2-AA72-D872-A3A612AE7AF8}"/>
          </ac:spMkLst>
        </pc:spChg>
        <pc:spChg chg="mod">
          <ac:chgData name="Jason Romans" userId="b1594dadafe83612" providerId="LiveId" clId="{CBB49B5A-BAC4-4EF9-90F7-6CF68F907A02}" dt="2026-08-08T12:05:53.981" v="405" actId="14100"/>
          <ac:spMkLst>
            <pc:docMk/>
            <pc:sldMk cId="2737689308" sldId="2147477635"/>
            <ac:spMk id="9" creationId="{2315C3E8-5E60-0E26-FC0B-18692C3E2EAE}"/>
          </ac:spMkLst>
        </pc:spChg>
        <pc:picChg chg="mod">
          <ac:chgData name="Jason Romans" userId="b1594dadafe83612" providerId="LiveId" clId="{CBB49B5A-BAC4-4EF9-90F7-6CF68F907A02}" dt="2026-08-08T12:06:51.447" v="459" actId="1076"/>
          <ac:picMkLst>
            <pc:docMk/>
            <pc:sldMk cId="2737689308" sldId="2147477635"/>
            <ac:picMk id="14" creationId="{67A2C993-13C1-8FAC-E5C5-2286754FA78B}"/>
          </ac:picMkLst>
        </pc:picChg>
      </pc:sldChg>
      <pc:sldChg chg="ord">
        <pc:chgData name="Jason Romans" userId="b1594dadafe83612" providerId="LiveId" clId="{CBB49B5A-BAC4-4EF9-90F7-6CF68F907A02}" dt="2026-08-06T20:52:19.798" v="78"/>
        <pc:sldMkLst>
          <pc:docMk/>
          <pc:sldMk cId="1751448393" sldId="2147477642"/>
        </pc:sldMkLst>
      </pc:sldChg>
      <pc:sldChg chg="modSp mod">
        <pc:chgData name="Jason Romans" userId="b1594dadafe83612" providerId="LiveId" clId="{CBB49B5A-BAC4-4EF9-90F7-6CF68F907A02}" dt="2026-08-07T19:11:53.394" v="330"/>
        <pc:sldMkLst>
          <pc:docMk/>
          <pc:sldMk cId="76527763" sldId="2147477655"/>
        </pc:sldMkLst>
        <pc:spChg chg="mod">
          <ac:chgData name="Jason Romans" userId="b1594dadafe83612" providerId="LiveId" clId="{CBB49B5A-BAC4-4EF9-90F7-6CF68F907A02}" dt="2026-08-07T19:10:09.094" v="266"/>
          <ac:spMkLst>
            <pc:docMk/>
            <pc:sldMk cId="76527763" sldId="2147477655"/>
            <ac:spMk id="4" creationId="{C294373D-A293-AA69-F4FB-78C5E89D01AE}"/>
          </ac:spMkLst>
        </pc:spChg>
        <pc:spChg chg="mod">
          <ac:chgData name="Jason Romans" userId="b1594dadafe83612" providerId="LiveId" clId="{CBB49B5A-BAC4-4EF9-90F7-6CF68F907A02}" dt="2026-08-07T19:10:09.095" v="273"/>
          <ac:spMkLst>
            <pc:docMk/>
            <pc:sldMk cId="76527763" sldId="2147477655"/>
            <ac:spMk id="8" creationId="{846FD453-DBDA-B22E-749B-7AEB4516B450}"/>
          </ac:spMkLst>
        </pc:spChg>
        <pc:spChg chg="mod">
          <ac:chgData name="Jason Romans" userId="b1594dadafe83612" providerId="LiveId" clId="{CBB49B5A-BAC4-4EF9-90F7-6CF68F907A02}" dt="2026-08-07T19:11:31.185" v="326"/>
          <ac:spMkLst>
            <pc:docMk/>
            <pc:sldMk cId="76527763" sldId="2147477655"/>
            <ac:spMk id="12" creationId="{39F90F3E-2CFA-AA02-8EDE-955B4118FE56}"/>
          </ac:spMkLst>
        </pc:spChg>
        <pc:graphicFrameChg chg="mod modGraphic">
          <ac:chgData name="Jason Romans" userId="b1594dadafe83612" providerId="LiveId" clId="{CBB49B5A-BAC4-4EF9-90F7-6CF68F907A02}" dt="2026-08-07T19:11:53.394" v="330"/>
          <ac:graphicFrameMkLst>
            <pc:docMk/>
            <pc:sldMk cId="76527763" sldId="2147477655"/>
            <ac:graphicFrameMk id="11" creationId="{2C26C75E-EB08-3040-DA0D-1189A888C123}"/>
          </ac:graphicFrameMkLst>
        </pc:graphicFrameChg>
        <pc:picChg chg="mod">
          <ac:chgData name="Jason Romans" userId="b1594dadafe83612" providerId="LiveId" clId="{CBB49B5A-BAC4-4EF9-90F7-6CF68F907A02}" dt="2026-08-07T19:10:09.095" v="271"/>
          <ac:picMkLst>
            <pc:docMk/>
            <pc:sldMk cId="76527763" sldId="2147477655"/>
            <ac:picMk id="9" creationId="{69EFAFC2-D0CF-A667-94A1-8F64305F3AC7}"/>
          </ac:picMkLst>
        </pc:picChg>
        <pc:cxnChg chg="mod">
          <ac:chgData name="Jason Romans" userId="b1594dadafe83612" providerId="LiveId" clId="{CBB49B5A-BAC4-4EF9-90F7-6CF68F907A02}" dt="2026-08-07T19:10:09.094" v="267"/>
          <ac:cxnSpMkLst>
            <pc:docMk/>
            <pc:sldMk cId="76527763" sldId="2147477655"/>
            <ac:cxnSpMk id="6" creationId="{1998C7C7-78D2-0824-9964-3CAD9C3412DF}"/>
          </ac:cxnSpMkLst>
        </pc:cxnChg>
      </pc:sldChg>
      <pc:sldChg chg="modSp mod">
        <pc:chgData name="Jason Romans" userId="b1594dadafe83612" providerId="LiveId" clId="{CBB49B5A-BAC4-4EF9-90F7-6CF68F907A02}" dt="2026-08-07T19:11:53.303" v="329"/>
        <pc:sldMkLst>
          <pc:docMk/>
          <pc:sldMk cId="3501204236" sldId="2147477656"/>
        </pc:sldMkLst>
        <pc:spChg chg="mod">
          <ac:chgData name="Jason Romans" userId="b1594dadafe83612" providerId="LiveId" clId="{CBB49B5A-BAC4-4EF9-90F7-6CF68F907A02}" dt="2026-08-07T19:10:09.003" v="236"/>
          <ac:spMkLst>
            <pc:docMk/>
            <pc:sldMk cId="3501204236" sldId="2147477656"/>
            <ac:spMk id="4" creationId="{C294373D-A293-AA69-F4FB-78C5E89D01AE}"/>
          </ac:spMkLst>
        </pc:spChg>
        <pc:spChg chg="mod">
          <ac:chgData name="Jason Romans" userId="b1594dadafe83612" providerId="LiveId" clId="{CBB49B5A-BAC4-4EF9-90F7-6CF68F907A02}" dt="2026-08-07T19:10:09.007" v="239"/>
          <ac:spMkLst>
            <pc:docMk/>
            <pc:sldMk cId="3501204236" sldId="2147477656"/>
            <ac:spMk id="8" creationId="{846FD453-DBDA-B22E-749B-7AEB4516B450}"/>
          </ac:spMkLst>
        </pc:spChg>
        <pc:spChg chg="mod">
          <ac:chgData name="Jason Romans" userId="b1594dadafe83612" providerId="LiveId" clId="{CBB49B5A-BAC4-4EF9-90F7-6CF68F907A02}" dt="2026-08-07T19:11:31.115" v="324"/>
          <ac:spMkLst>
            <pc:docMk/>
            <pc:sldMk cId="3501204236" sldId="2147477656"/>
            <ac:spMk id="12" creationId="{39F90F3E-2CFA-AA02-8EDE-955B4118FE56}"/>
          </ac:spMkLst>
        </pc:spChg>
        <pc:graphicFrameChg chg="mod modGraphic">
          <ac:chgData name="Jason Romans" userId="b1594dadafe83612" providerId="LiveId" clId="{CBB49B5A-BAC4-4EF9-90F7-6CF68F907A02}" dt="2026-08-07T19:11:53.303" v="329"/>
          <ac:graphicFrameMkLst>
            <pc:docMk/>
            <pc:sldMk cId="3501204236" sldId="2147477656"/>
            <ac:graphicFrameMk id="11" creationId="{2C26C75E-EB08-3040-DA0D-1189A888C123}"/>
          </ac:graphicFrameMkLst>
        </pc:graphicFrameChg>
        <pc:cxnChg chg="mod">
          <ac:chgData name="Jason Romans" userId="b1594dadafe83612" providerId="LiveId" clId="{CBB49B5A-BAC4-4EF9-90F7-6CF68F907A02}" dt="2026-08-07T19:10:09.005" v="237"/>
          <ac:cxnSpMkLst>
            <pc:docMk/>
            <pc:sldMk cId="3501204236" sldId="2147477656"/>
            <ac:cxnSpMk id="6" creationId="{1998C7C7-78D2-0824-9964-3CAD9C3412DF}"/>
          </ac:cxnSpMkLst>
        </pc:cxnChg>
      </pc:sldChg>
      <pc:sldChg chg="modSp mod">
        <pc:chgData name="Jason Romans" userId="b1594dadafe83612" providerId="LiveId" clId="{CBB49B5A-BAC4-4EF9-90F7-6CF68F907A02}" dt="2026-08-07T19:11:53.441" v="331"/>
        <pc:sldMkLst>
          <pc:docMk/>
          <pc:sldMk cId="334184523" sldId="2147477657"/>
        </pc:sldMkLst>
        <pc:spChg chg="mod">
          <ac:chgData name="Jason Romans" userId="b1594dadafe83612" providerId="LiveId" clId="{CBB49B5A-BAC4-4EF9-90F7-6CF68F907A02}" dt="2026-08-07T19:10:09.165" v="295"/>
          <ac:spMkLst>
            <pc:docMk/>
            <pc:sldMk cId="334184523" sldId="2147477657"/>
            <ac:spMk id="4" creationId="{C294373D-A293-AA69-F4FB-78C5E89D01AE}"/>
          </ac:spMkLst>
        </pc:spChg>
        <pc:spChg chg="mod">
          <ac:chgData name="Jason Romans" userId="b1594dadafe83612" providerId="LiveId" clId="{CBB49B5A-BAC4-4EF9-90F7-6CF68F907A02}" dt="2026-08-07T19:10:09.167" v="298"/>
          <ac:spMkLst>
            <pc:docMk/>
            <pc:sldMk cId="334184523" sldId="2147477657"/>
            <ac:spMk id="8" creationId="{846FD453-DBDA-B22E-749B-7AEB4516B450}"/>
          </ac:spMkLst>
        </pc:spChg>
        <pc:spChg chg="mod">
          <ac:chgData name="Jason Romans" userId="b1594dadafe83612" providerId="LiveId" clId="{CBB49B5A-BAC4-4EF9-90F7-6CF68F907A02}" dt="2026-08-07T19:11:31.221" v="328"/>
          <ac:spMkLst>
            <pc:docMk/>
            <pc:sldMk cId="334184523" sldId="2147477657"/>
            <ac:spMk id="12" creationId="{39F90F3E-2CFA-AA02-8EDE-955B4118FE56}"/>
          </ac:spMkLst>
        </pc:spChg>
        <pc:graphicFrameChg chg="mod modGraphic">
          <ac:chgData name="Jason Romans" userId="b1594dadafe83612" providerId="LiveId" clId="{CBB49B5A-BAC4-4EF9-90F7-6CF68F907A02}" dt="2026-08-07T19:11:53.441" v="331"/>
          <ac:graphicFrameMkLst>
            <pc:docMk/>
            <pc:sldMk cId="334184523" sldId="2147477657"/>
            <ac:graphicFrameMk id="11" creationId="{2C26C75E-EB08-3040-DA0D-1189A888C123}"/>
          </ac:graphicFrameMkLst>
        </pc:graphicFrameChg>
        <pc:cxnChg chg="mod">
          <ac:chgData name="Jason Romans" userId="b1594dadafe83612" providerId="LiveId" clId="{CBB49B5A-BAC4-4EF9-90F7-6CF68F907A02}" dt="2026-08-07T19:10:09.166" v="296"/>
          <ac:cxnSpMkLst>
            <pc:docMk/>
            <pc:sldMk cId="334184523" sldId="2147477657"/>
            <ac:cxnSpMk id="6" creationId="{1998C7C7-78D2-0824-9964-3CAD9C3412DF}"/>
          </ac:cxnSpMkLst>
        </pc:cxnChg>
      </pc:sldChg>
      <pc:sldChg chg="modSp mod">
        <pc:chgData name="Jason Romans" userId="b1594dadafe83612" providerId="LiveId" clId="{CBB49B5A-BAC4-4EF9-90F7-6CF68F907A02}" dt="2026-08-07T20:10:50.965" v="371"/>
        <pc:sldMkLst>
          <pc:docMk/>
          <pc:sldMk cId="2940099492" sldId="2147477668"/>
        </pc:sldMkLst>
        <pc:spChg chg="mod">
          <ac:chgData name="Jason Romans" userId="b1594dadafe83612" providerId="LiveId" clId="{CBB49B5A-BAC4-4EF9-90F7-6CF68F907A02}" dt="2026-08-07T19:44:17.003" v="341"/>
          <ac:spMkLst>
            <pc:docMk/>
            <pc:sldMk cId="2940099492" sldId="2147477668"/>
            <ac:spMk id="3" creationId="{4A4CF165-7F7C-4582-BB3F-04ECFC5CA7D8}"/>
          </ac:spMkLst>
        </pc:spChg>
        <pc:spChg chg="mod">
          <ac:chgData name="Jason Romans" userId="b1594dadafe83612" providerId="LiveId" clId="{CBB49B5A-BAC4-4EF9-90F7-6CF68F907A02}" dt="2026-08-07T19:44:17.006" v="342"/>
          <ac:spMkLst>
            <pc:docMk/>
            <pc:sldMk cId="2940099492" sldId="2147477668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8-07T20:10:50.965" v="371"/>
          <ac:spMkLst>
            <pc:docMk/>
            <pc:sldMk cId="2940099492" sldId="2147477668"/>
            <ac:spMk id="8" creationId="{00000000-0000-0000-0000-000000000000}"/>
          </ac:spMkLst>
        </pc:spChg>
        <pc:cxnChg chg="mod">
          <ac:chgData name="Jason Romans" userId="b1594dadafe83612" providerId="LiveId" clId="{CBB49B5A-BAC4-4EF9-90F7-6CF68F907A02}" dt="2026-08-07T19:44:17.006" v="343"/>
          <ac:cxnSpMkLst>
            <pc:docMk/>
            <pc:sldMk cId="2940099492" sldId="2147477668"/>
            <ac:cxnSpMk id="6" creationId="{00000000-0000-0000-0000-000000000000}"/>
          </ac:cxnSpMkLst>
        </pc:cxnChg>
      </pc:sldChg>
      <pc:sldChg chg="modSp mod">
        <pc:chgData name="Jason Romans" userId="b1594dadafe83612" providerId="LiveId" clId="{CBB49B5A-BAC4-4EF9-90F7-6CF68F907A02}" dt="2026-08-07T20:10:51.052" v="374"/>
        <pc:sldMkLst>
          <pc:docMk/>
          <pc:sldMk cId="1626937011" sldId="2147477676"/>
        </pc:sldMkLst>
        <pc:spChg chg="mod">
          <ac:chgData name="Jason Romans" userId="b1594dadafe83612" providerId="LiveId" clId="{CBB49B5A-BAC4-4EF9-90F7-6CF68F907A02}" dt="2026-08-07T19:44:17.056" v="346"/>
          <ac:spMkLst>
            <pc:docMk/>
            <pc:sldMk cId="1626937011" sldId="2147477676"/>
            <ac:spMk id="4" creationId="{00000000-0000-0000-0000-000000000000}"/>
          </ac:spMkLst>
        </pc:spChg>
        <pc:spChg chg="mod">
          <ac:chgData name="Jason Romans" userId="b1594dadafe83612" providerId="LiveId" clId="{CBB49B5A-BAC4-4EF9-90F7-6CF68F907A02}" dt="2026-08-07T20:10:51.052" v="374"/>
          <ac:spMkLst>
            <pc:docMk/>
            <pc:sldMk cId="1626937011" sldId="2147477676"/>
            <ac:spMk id="8" creationId="{00000000-0000-0000-0000-000000000000}"/>
          </ac:spMkLst>
        </pc:spChg>
        <pc:cxnChg chg="mod">
          <ac:chgData name="Jason Romans" userId="b1594dadafe83612" providerId="LiveId" clId="{CBB49B5A-BAC4-4EF9-90F7-6CF68F907A02}" dt="2026-08-07T19:44:17.058" v="347"/>
          <ac:cxnSpMkLst>
            <pc:docMk/>
            <pc:sldMk cId="1626937011" sldId="2147477676"/>
            <ac:cxnSpMk id="6" creationId="{00000000-0000-0000-0000-000000000000}"/>
          </ac:cxnSpMkLst>
        </pc:cxnChg>
      </pc:sldChg>
      <pc:sldChg chg="del">
        <pc:chgData name="Jason Romans" userId="b1594dadafe83612" providerId="LiveId" clId="{CBB49B5A-BAC4-4EF9-90F7-6CF68F907A02}" dt="2026-08-08T02:14:04.624" v="379"/>
        <pc:sldMkLst>
          <pc:docMk/>
          <pc:sldMk cId="372290975" sldId="2147477719"/>
        </pc:sldMkLst>
      </pc:sldChg>
      <pc:sldChg chg="modSp mod modClrScheme chgLayout">
        <pc:chgData name="Jason Romans" userId="b1594dadafe83612" providerId="LiveId" clId="{CBB49B5A-BAC4-4EF9-90F7-6CF68F907A02}" dt="2026-07-27T11:32:12.831" v="61" actId="20577"/>
        <pc:sldMkLst>
          <pc:docMk/>
          <pc:sldMk cId="0" sldId="2147477720"/>
        </pc:sldMkLst>
        <pc:spChg chg="mod">
          <ac:chgData name="Jason Romans" userId="b1594dadafe83612" providerId="LiveId" clId="{CBB49B5A-BAC4-4EF9-90F7-6CF68F907A02}" dt="2026-07-27T11:32:12.831" v="61" actId="20577"/>
          <ac:spMkLst>
            <pc:docMk/>
            <pc:sldMk cId="0" sldId="2147477720"/>
            <ac:spMk id="67" creationId="{00000000-0000-0000-0000-000000000000}"/>
          </ac:spMkLst>
        </pc:spChg>
      </pc:sldChg>
      <pc:sldChg chg="addSp delSp modSp mod">
        <pc:chgData name="Jason Romans" userId="b1594dadafe83612" providerId="LiveId" clId="{CBB49B5A-BAC4-4EF9-90F7-6CF68F907A02}" dt="2026-07-27T11:34:05.226" v="68" actId="14100"/>
        <pc:sldMkLst>
          <pc:docMk/>
          <pc:sldMk cId="4099285088" sldId="2147477722"/>
        </pc:sldMkLst>
        <pc:picChg chg="add mod">
          <ac:chgData name="Jason Romans" userId="b1594dadafe83612" providerId="LiveId" clId="{CBB49B5A-BAC4-4EF9-90F7-6CF68F907A02}" dt="2026-07-27T11:34:05.226" v="68" actId="14100"/>
          <ac:picMkLst>
            <pc:docMk/>
            <pc:sldMk cId="4099285088" sldId="2147477722"/>
            <ac:picMk id="11" creationId="{80761B7E-7288-8028-5600-344039982574}"/>
          </ac:picMkLst>
        </pc:picChg>
      </pc:sldChg>
      <pc:sldChg chg="modSp add del mod">
        <pc:chgData name="Jason Romans" userId="b1594dadafe83612" providerId="LiveId" clId="{CBB49B5A-BAC4-4EF9-90F7-6CF68F907A02}" dt="2026-08-08T02:21:46.037" v="387"/>
        <pc:sldMkLst>
          <pc:docMk/>
          <pc:sldMk cId="1297964079" sldId="2147477723"/>
        </pc:sldMkLst>
        <pc:spChg chg="mod">
          <ac:chgData name="Jason Romans" userId="b1594dadafe83612" providerId="LiveId" clId="{CBB49B5A-BAC4-4EF9-90F7-6CF68F907A02}" dt="2026-08-08T02:14:05.130" v="381"/>
          <ac:spMkLst>
            <pc:docMk/>
            <pc:sldMk cId="1297964079" sldId="2147477723"/>
            <ac:spMk id="15" creationId="{00000000-0000-0000-0000-000000000000}"/>
          </ac:spMkLst>
        </pc:spChg>
        <pc:spChg chg="mod">
          <ac:chgData name="Jason Romans" userId="b1594dadafe83612" providerId="LiveId" clId="{CBB49B5A-BAC4-4EF9-90F7-6CF68F907A02}" dt="2026-08-08T02:14:05.132" v="383"/>
          <ac:spMkLst>
            <pc:docMk/>
            <pc:sldMk cId="1297964079" sldId="2147477723"/>
            <ac:spMk id="17" creationId="{00000000-0000-0000-0000-000000000000}"/>
          </ac:spMkLst>
        </pc:spChg>
        <pc:spChg chg="mod">
          <ac:chgData name="Jason Romans" userId="b1594dadafe83612" providerId="LiveId" clId="{CBB49B5A-BAC4-4EF9-90F7-6CF68F907A02}" dt="2026-08-08T02:14:05.133" v="385"/>
          <ac:spMkLst>
            <pc:docMk/>
            <pc:sldMk cId="1297964079" sldId="2147477723"/>
            <ac:spMk id="20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8-08T02:21:55.293" v="394"/>
        <pc:sldMkLst>
          <pc:docMk/>
          <pc:sldMk cId="3570784601" sldId="2147477724"/>
        </pc:sldMkLst>
        <pc:spChg chg="mod">
          <ac:chgData name="Jason Romans" userId="b1594dadafe83612" providerId="LiveId" clId="{CBB49B5A-BAC4-4EF9-90F7-6CF68F907A02}" dt="2026-08-08T02:21:46.581" v="389"/>
          <ac:spMkLst>
            <pc:docMk/>
            <pc:sldMk cId="3570784601" sldId="2147477724"/>
            <ac:spMk id="15" creationId="{00000000-0000-0000-0000-000000000000}"/>
          </ac:spMkLst>
        </pc:spChg>
        <pc:spChg chg="mod">
          <ac:chgData name="Jason Romans" userId="b1594dadafe83612" providerId="LiveId" clId="{CBB49B5A-BAC4-4EF9-90F7-6CF68F907A02}" dt="2026-08-08T02:21:46.582" v="390"/>
          <ac:spMkLst>
            <pc:docMk/>
            <pc:sldMk cId="3570784601" sldId="2147477724"/>
            <ac:spMk id="17" creationId="{00000000-0000-0000-0000-000000000000}"/>
          </ac:spMkLst>
        </pc:spChg>
        <pc:spChg chg="mod">
          <ac:chgData name="Jason Romans" userId="b1594dadafe83612" providerId="LiveId" clId="{CBB49B5A-BAC4-4EF9-90F7-6CF68F907A02}" dt="2026-08-08T02:21:46.586" v="391"/>
          <ac:spMkLst>
            <pc:docMk/>
            <pc:sldMk cId="3570784601" sldId="2147477724"/>
            <ac:spMk id="20" creationId="{00000000-0000-0000-0000-000000000000}"/>
          </ac:spMkLst>
        </pc:spChg>
        <pc:spChg chg="mod">
          <ac:chgData name="Jason Romans" userId="b1594dadafe83612" providerId="LiveId" clId="{CBB49B5A-BAC4-4EF9-90F7-6CF68F907A02}" dt="2026-08-08T02:21:46.590" v="392"/>
          <ac:spMkLst>
            <pc:docMk/>
            <pc:sldMk cId="3570784601" sldId="2147477724"/>
            <ac:spMk id="32" creationId="{00000000-0000-0000-0000-000000000000}"/>
          </ac:spMkLst>
        </pc:spChg>
      </pc:sldChg>
      <pc:sldChg chg="modSp add del mod">
        <pc:chgData name="Jason Romans" userId="b1594dadafe83612" providerId="LiveId" clId="{CBB49B5A-BAC4-4EF9-90F7-6CF68F907A02}" dt="2026-08-08T02:24:56.741" v="397"/>
        <pc:sldMkLst>
          <pc:docMk/>
          <pc:sldMk cId="2954600906" sldId="2147477725"/>
        </pc:sldMkLst>
        <pc:spChg chg="mod">
          <ac:chgData name="Jason Romans" userId="b1594dadafe83612" providerId="LiveId" clId="{CBB49B5A-BAC4-4EF9-90F7-6CF68F907A02}" dt="2026-08-08T02:21:55.826" v="395"/>
          <ac:spMkLst>
            <pc:docMk/>
            <pc:sldMk cId="2954600906" sldId="2147477725"/>
            <ac:spMk id="32" creationId="{00000000-0000-0000-0000-000000000000}"/>
          </ac:spMkLst>
        </pc:spChg>
      </pc:sldChg>
      <pc:sldChg chg="modSp add mod">
        <pc:chgData name="Jason Romans" userId="b1594dadafe83612" providerId="LiveId" clId="{CBB49B5A-BAC4-4EF9-90F7-6CF68F907A02}" dt="2026-08-08T02:24:57.272" v="399"/>
        <pc:sldMkLst>
          <pc:docMk/>
          <pc:sldMk cId="1555554784" sldId="2147477726"/>
        </pc:sldMkLst>
        <pc:spChg chg="mod">
          <ac:chgData name="Jason Romans" userId="b1594dadafe83612" providerId="LiveId" clId="{CBB49B5A-BAC4-4EF9-90F7-6CF68F907A02}" dt="2026-08-08T02:24:57.269" v="398"/>
          <ac:spMkLst>
            <pc:docMk/>
            <pc:sldMk cId="1555554784" sldId="2147477726"/>
            <ac:spMk id="20" creationId="{00000000-0000-0000-0000-000000000000}"/>
          </ac:spMkLst>
        </pc:spChg>
        <pc:spChg chg="mod">
          <ac:chgData name="Jason Romans" userId="b1594dadafe83612" providerId="LiveId" clId="{CBB49B5A-BAC4-4EF9-90F7-6CF68F907A02}" dt="2026-08-08T02:24:57.272" v="399"/>
          <ac:spMkLst>
            <pc:docMk/>
            <pc:sldMk cId="1555554784" sldId="2147477726"/>
            <ac:spMk id="32" creationId="{00000000-0000-0000-0000-000000000000}"/>
          </ac:spMkLst>
        </pc:spChg>
      </pc:sldChg>
      <pc:sldChg chg="add">
        <pc:chgData name="Jason Romans" userId="b1594dadafe83612" providerId="LiveId" clId="{CBB49B5A-BAC4-4EF9-90F7-6CF68F907A02}" dt="2026-08-08T12:05:36.597" v="400" actId="2890"/>
        <pc:sldMkLst>
          <pc:docMk/>
          <pc:sldMk cId="187819767" sldId="21474777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B3BDF-312B-4441-AB66-405EE977F42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B98EB-6EAB-4397-9371-15880E5EE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240D9-9398-7B1A-8EEE-8D72D193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F746F-F780-1B36-BBDD-AB9619B2A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11668-CAAE-B98C-9214-34485E617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C5B6C-CB9E-4DCE-BB53-01E3EA77C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990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AC5E-C105-EB2D-AE95-DDB1607D2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E4DE3-EF78-6ABC-8E7B-5CB0623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7918F-F2AB-441F-F25E-D40FDD516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3BAC2-CC8D-ACC1-E4A8-8C91FDBCF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94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C3BA7-E3BD-D371-A830-844BC3ACD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D8F50-89E3-F44C-49BF-A54C3FCB4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EC077-A3B0-96B6-527B-87346540B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721E4-0470-B91F-992A-8F719AF53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976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B98EB-6EAB-4397-9371-15880E5EE0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46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1E89F-BE24-9C26-B08A-0F4BC630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858B9-4888-E3E5-4FF1-579A4164F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2EAEE-6915-328F-CF9F-423EDE223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7CE5A-1B62-ACBE-0E8F-446712A40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300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BC043-7ACB-43D6-3192-EEAE52B2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83636-24A8-94A1-39BE-85C037F85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3A5CC-95AB-22C5-E151-09596415C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2ED0-92F5-29CC-DB34-E954A5E91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053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3D8B-2860-EAEF-750C-7A46E76E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F8B4A-7C9A-40FD-631F-5C05D4D29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17E95-1466-BAA8-3398-27BE8C425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F85B6-28E6-8E55-AF31-2F647A23F1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3990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C3214-AEDA-B794-D2CA-3AEDBEE3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4F7B0-9182-B683-2F88-602CFB709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BC682-BA03-5985-01A2-37673B088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D5B9A-83FB-4879-270F-C95C39616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626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 picked these three (presenter notes):</a:t>
            </a:r>
          </a:p>
          <a:p>
            <a:endParaRPr lang="en-US"/>
          </a:p>
          <a:p>
            <a:r>
              <a:rPr lang="en-US" dirty="0"/>
              <a:t>• Command Palette — biggest daily-driver impact; you'll use it within an hour of installing.</a:t>
            </a:r>
          </a:p>
          <a:p>
            <a:r>
              <a:rPr lang="en-US" dirty="0"/>
              <a:t>• FancyZones — most visible "wow" for the audience; the demo lands instantly.</a:t>
            </a:r>
          </a:p>
          <a:p>
            <a:r>
              <a:rPr lang="en-US" dirty="0"/>
              <a:t>• Advanced Paste — proves PowerToys isn't just legacy tweaks; it's still evolving.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these picks — specialist (presenter notes):</a:t>
            </a:r>
          </a:p>
          <a:p>
            <a:endParaRPr lang="en-US"/>
          </a:p>
          <a:p>
            <a:r>
              <a:rPr lang="en-US" dirty="0"/>
              <a:t>• Color Picker — small tool, outsized payoff; niche use case that everyone secretly needs.</a:t>
            </a:r>
          </a:p>
          <a:p>
            <a:r>
              <a:rPr lang="en-US" dirty="0"/>
              <a:t>• ZoomIt — meta-relevant for this audience; I'm using it during this talk.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536AB-7D23-7AE9-14F7-A67B9394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A6D5E-D024-7E9D-41D0-240781751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40EBE-472D-4150-0036-D1C2F637E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8C2DA-9E10-371E-7A3F-8C20FEF3C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3315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25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91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880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74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69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57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52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46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40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35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23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18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12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07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01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795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4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28600" y="50292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28600" y="109728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28600" y="169164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28600" y="228600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28600" y="288036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28600" y="347472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8600" y="406908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28600" y="466344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28600" y="525780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28600" y="585216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28600" y="6446520"/>
            <a:ext cx="11750040" cy="0"/>
          </a:xfrm>
          <a:prstGeom prst="line">
            <a:avLst/>
          </a:prstGeom>
          <a:noFill/>
          <a:ln w="12700">
            <a:solidFill>
              <a:srgbClr val="1E293B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" y="137160"/>
            <a:ext cx="2651760" cy="26517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052560" y="4069080"/>
            <a:ext cx="2926080" cy="24231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6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13232" y="530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FREE TOOLS FOR DATA PROFESSIONALS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8368" y="1078992"/>
            <a:ext cx="61722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PROFESSIONAL'S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2770632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TOOLKIT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13232" y="3730752"/>
            <a:ext cx="626364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13232" y="400507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Four free tools to capture, visualize, execute, and optimize your workflow.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845552" y="713232"/>
            <a:ext cx="3602736" cy="4160520"/>
          </a:xfrm>
          <a:prstGeom prst="roundRect">
            <a:avLst>
              <a:gd name="adj" fmla="val 3553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156448" y="98755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TODAY'S TOOLCHAIN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0" y="15361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454896" y="15087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Obsidian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202168" y="1947672"/>
            <a:ext cx="2715768" cy="0"/>
          </a:xfrm>
          <a:prstGeom prst="line">
            <a:avLst/>
          </a:prstGeom>
          <a:noFill/>
          <a:ln w="12700">
            <a:solidFill>
              <a:srgbClr val="334155">
                <a:alpha val="8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229600" y="22494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Visualize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454896" y="22219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Excalidraw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202168" y="2660904"/>
            <a:ext cx="2715768" cy="0"/>
          </a:xfrm>
          <a:prstGeom prst="line">
            <a:avLst/>
          </a:prstGeom>
          <a:noFill/>
          <a:ln w="12700">
            <a:solidFill>
              <a:srgbClr val="334155">
                <a:alpha val="8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229600" y="29626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454896" y="29352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 Code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202168" y="3374136"/>
            <a:ext cx="2715768" cy="0"/>
          </a:xfrm>
          <a:prstGeom prst="line">
            <a:avLst/>
          </a:prstGeom>
          <a:noFill/>
          <a:ln w="12700">
            <a:solidFill>
              <a:srgbClr val="334155">
                <a:alpha val="8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29600" y="36758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Optimize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454896" y="36484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PowerToys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229600" y="41879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 vendor pitches.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Just practical workflow wins.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49808" y="6272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Jason Romans  |  </a:t>
            </a: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of Data 2026 | Albany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69" name="Picture 68" descr="powertoys.png">
            <a:extLst>
              <a:ext uri="{FF2B5EF4-FFF2-40B4-BE49-F238E27FC236}">
                <a16:creationId xmlns:a16="http://schemas.microsoft.com/office/drawing/2014/main" id="{7CDF1D9E-6721-E57D-9780-9B1DA0586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582" y="3581400"/>
            <a:ext cx="429767" cy="429767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90436E94-DD0C-E007-D0FD-7B1D6C5D1F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86136" y="1513390"/>
            <a:ext cx="568960" cy="319926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5BC9A4C-C3CD-E72E-A296-C647E1442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91" y="2258455"/>
            <a:ext cx="237745" cy="23774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EC070BEB-8057-2DB8-F486-A84838DF4A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3096" y="2921676"/>
            <a:ext cx="264840" cy="264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01C566-723A-B270-BED3-9519998E2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4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CDF4-EC4C-51E0-3320-FB1F76263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107"/>
            <a:ext cx="9144000" cy="880173"/>
          </a:xfrm>
        </p:spPr>
        <p:txBody>
          <a:bodyPr>
            <a:normAutofit/>
          </a:bodyPr>
          <a:lstStyle/>
          <a:p>
            <a:r>
              <a:rPr lang="en-US" b="1" dirty="0"/>
              <a:t>Thank You to Our Sponsors!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66B70-7A83-6DE2-E532-A0D60B449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904" y="1097280"/>
            <a:ext cx="2072479" cy="384048"/>
          </a:xfrm>
        </p:spPr>
        <p:txBody>
          <a:bodyPr>
            <a:normAutofit fontScale="70000" lnSpcReduction="20000"/>
          </a:bodyPr>
          <a:lstStyle/>
          <a:p>
            <a:r>
              <a:rPr lang="en-US" i="1" dirty="0"/>
              <a:t>Global Sponsors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70AD6-AC82-E672-CFB2-A9C509EC4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5" y="1430894"/>
            <a:ext cx="4978668" cy="123696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2F22B1D-76D3-0AF5-0502-DCDC651A0325}"/>
              </a:ext>
            </a:extLst>
          </p:cNvPr>
          <p:cNvSpPr txBox="1">
            <a:spLocks/>
          </p:cNvSpPr>
          <p:nvPr/>
        </p:nvSpPr>
        <p:spPr>
          <a:xfrm>
            <a:off x="7203260" y="1593115"/>
            <a:ext cx="2651600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Platinum Sponsor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A5BAB1-0664-F7D8-5DAB-C558847A4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3070"/>
            <a:ext cx="4772025" cy="120967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2537F85-97FB-6D4D-6555-D97D0F8609EE}"/>
              </a:ext>
            </a:extLst>
          </p:cNvPr>
          <p:cNvSpPr txBox="1">
            <a:spLocks/>
          </p:cNvSpPr>
          <p:nvPr/>
        </p:nvSpPr>
        <p:spPr>
          <a:xfrm>
            <a:off x="1817981" y="4308098"/>
            <a:ext cx="2072479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Silver Sponsors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0783BE1-0079-C790-8548-1118AE97DEC8}"/>
              </a:ext>
            </a:extLst>
          </p:cNvPr>
          <p:cNvSpPr txBox="1">
            <a:spLocks/>
          </p:cNvSpPr>
          <p:nvPr/>
        </p:nvSpPr>
        <p:spPr>
          <a:xfrm>
            <a:off x="7690498" y="4308098"/>
            <a:ext cx="2072479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Bronze Sponsor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B76FE-FAF9-B10E-CF0F-866D504C0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" y="5261103"/>
            <a:ext cx="2857500" cy="752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663F18-5D1E-A92A-4BD2-38CF6D8051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414" y="4538536"/>
            <a:ext cx="2197608" cy="21976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53A00E-EA93-EACD-3083-D2BD3ED89B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260" y="4850775"/>
            <a:ext cx="3146259" cy="15731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A1CA31-7662-2DBE-0298-C82DFA362E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981" y="2667855"/>
            <a:ext cx="1947019" cy="14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66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201D8-4271-099B-93ED-6A41B391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E1AAA3-57AC-11B2-E798-B22D0BA4CEE3}"/>
              </a:ext>
            </a:extLst>
          </p:cNvPr>
          <p:cNvSpPr/>
          <p:nvPr/>
        </p:nvSpPr>
        <p:spPr>
          <a:xfrm>
            <a:off x="621792" y="5029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0263B"/>
          </a:solidFill>
          <a:ln w="15240">
            <a:solidFill>
              <a:srgbClr val="3BE38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DA4645-14F2-40E1-AFE9-0F98AE4AF8E5}"/>
              </a:ext>
            </a:extLst>
          </p:cNvPr>
          <p:cNvSpPr/>
          <p:nvPr/>
        </p:nvSpPr>
        <p:spPr>
          <a:xfrm>
            <a:off x="676656" y="539496"/>
            <a:ext cx="19019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BE38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 THIS WITH YOU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40736-C4E9-332A-BBB2-D0AF7901BEF6}"/>
              </a:ext>
            </a:extLst>
          </p:cNvPr>
          <p:cNvSpPr/>
          <p:nvPr/>
        </p:nvSpPr>
        <p:spPr>
          <a:xfrm>
            <a:off x="621792" y="9601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DOWNLOAD THIS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PRESENTATION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4B661E-53DF-64FB-B250-A9E6943DAE3F}"/>
              </a:ext>
            </a:extLst>
          </p:cNvPr>
          <p:cNvSpPr/>
          <p:nvPr/>
        </p:nvSpPr>
        <p:spPr>
          <a:xfrm>
            <a:off x="64008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All slides, resources, and demo files available: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48DB38C-EF97-E72D-5388-AC11417DF263}"/>
              </a:ext>
            </a:extLst>
          </p:cNvPr>
          <p:cNvSpPr/>
          <p:nvPr/>
        </p:nvSpPr>
        <p:spPr>
          <a:xfrm>
            <a:off x="54864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BC60B61-0508-645C-FA2F-842D483917A8}"/>
              </a:ext>
            </a:extLst>
          </p:cNvPr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66ECBFE-6AF0-F318-7FBF-3BE936FC99B5}"/>
              </a:ext>
            </a:extLst>
          </p:cNvPr>
          <p:cNvSpPr/>
          <p:nvPr/>
        </p:nvSpPr>
        <p:spPr>
          <a:xfrm>
            <a:off x="5528734" y="406400"/>
            <a:ext cx="5080000" cy="5080000"/>
          </a:xfrm>
          <a:prstGeom prst="roundRect">
            <a:avLst>
              <a:gd name="adj" fmla="val 825"/>
            </a:avLst>
          </a:prstGeom>
          <a:ln w="12700">
            <a:solidFill>
              <a:srgbClr val="3BE38A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D3E4-9129-4BC9-42F4-31302462E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34" y="901700"/>
            <a:ext cx="4102100" cy="410210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1CF89EAD-B2E4-7DFE-6E2E-17F3ADD9258C}"/>
              </a:ext>
            </a:extLst>
          </p:cNvPr>
          <p:cNvSpPr/>
          <p:nvPr/>
        </p:nvSpPr>
        <p:spPr>
          <a:xfrm>
            <a:off x="621792" y="260604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kern="1200" spc="200" dirty="0">
                <a:solidFill>
                  <a:srgbClr val="9FB2C7"/>
                </a:solidFill>
                <a:latin typeface="Aptos"/>
              </a:rPr>
              <a:t>THE DAX SHEPHERD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800" b="1" kern="1200" dirty="0">
                <a:solidFill>
                  <a:srgbClr val="3BE38A"/>
                </a:solidFill>
                <a:latin typeface="Aptos"/>
              </a:rPr>
              <a:t>thedaxshepherd.com/presentations</a:t>
            </a:r>
          </a:p>
        </p:txBody>
      </p:sp>
    </p:spTree>
    <p:extLst>
      <p:ext uri="{BB962C8B-B14F-4D97-AF65-F5344CB8AC3E}">
        <p14:creationId xmlns:p14="http://schemas.microsoft.com/office/powerpoint/2010/main" val="3096138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77240"/>
            <a:ext cx="4160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Standing on the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Shoulders of Giants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2176272"/>
            <a:ext cx="3566160" cy="0"/>
          </a:xfrm>
          <a:prstGeom prst="line">
            <a:avLst/>
          </a:prstGeom>
          <a:noFill/>
          <a:ln w="25400">
            <a:solidFill>
              <a:srgbClr val="3BE3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4114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Grateful for the people who share their knowledge, encourage us, answer questions, and help the rest of us learn faster.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l="25" r="25"/>
          <a:stretch/>
        </p:blipFill>
        <p:spPr>
          <a:xfrm>
            <a:off x="5230368" y="594360"/>
            <a:ext cx="59893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97568" y="4718303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Photo credit: Unknown Author, CC BY-ND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Why these four, and why together</a:t>
            </a:r>
          </a:p>
        </p:txBody>
      </p:sp>
      <p:sp>
        <p:nvSpPr>
          <p:cNvPr id="40" name="Shape 38"/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52144" y="3163824"/>
            <a:ext cx="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Why these four, and why together</a:t>
            </a:r>
          </a:p>
        </p:txBody>
      </p:sp>
      <p:sp>
        <p:nvSpPr>
          <p:cNvPr id="65" name="Text 63"/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Obsidian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13232" y="5925312"/>
            <a:ext cx="17907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784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Obsidian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Capture notes, links, and ideas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52144" y="3163824"/>
            <a:ext cx="1993392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Obsidian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Capture notes, links, and ideas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Excalidraw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13232" y="5925312"/>
            <a:ext cx="35814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Excalidraw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Visualize systems and workflows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52144" y="3163824"/>
            <a:ext cx="3986784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Excalidraw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Visualize systems and workflows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VS Code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13232" y="5925312"/>
            <a:ext cx="53721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7238EB-79DA-EDBC-228E-1AD484EAD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07B9AD-D693-BAE4-C071-B7B3A27EA84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7B75AA-4E36-CCEE-2496-2E10605D055A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9A0175-2BC0-8631-7F0B-072162CF8AE8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0847BA7-8A0E-EB66-DC48-6FEC04BCEA0F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C7660AD-58A7-128F-95FB-8B8ACB2FD011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ECD4379-4F40-C454-2817-A4F527DAA4C9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7296B3C-58A9-00A1-EA36-5232FF563B4E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9EDAA02-BC11-9BC7-317E-3B57FBEDFC61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A9AA83A-1BD3-6C48-B075-33D1564D6F74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1EAFCD3-F211-F7EE-3028-1DDB3C21E82B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3E61304-EF8F-4A9E-5399-01CD07A9BBF2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ACDD724-C97D-5B54-C773-758FF74B2B14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E5F64D8-796C-1332-630E-46413F2DF35A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25EFCD8-DDE7-3855-B311-B60947F611B8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A3C93FC-6202-FC51-17BF-C19C67F09F5D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D451E5E-364A-127F-FAD6-AB95DAF9E9DF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78D902E-4112-5A59-D3B2-C6A76D0BF267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C0182D2-F60E-A7D7-97B4-9F42144C75CF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52F24AD-BF0E-6F20-4005-654EEEBE84AC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4828F21-C367-7173-B5C8-AC7D36861256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AE24A79-BAD2-D047-CC9D-A85257C2A8E9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419554E-7BA1-BC60-7FC4-5AF2B8682407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7685A85-793B-8DD1-C414-C5AC1E2E7432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AF3314C-9330-B1D5-7E71-DF9FB6AA6FCB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7568486-1BAB-1AE7-3A19-F4C3092267F3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840305F-1C69-F25C-6E25-9D4089A30437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662631C-F2CC-666D-DC5A-EF45A07FCC87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E7F3353-411E-EF07-11B1-3C826254DDC4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9271141-0EE7-B57A-A3B6-9DC7096C7AD0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84DC49A-C5FB-499F-700B-38B96CB73E35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D83FEB8-B084-1BA2-8EBB-07F342A88B33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098981E-AC51-C00C-16F6-420DF676D9E2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4D9580D-5B78-D993-8CA0-BC95B0DCC4E1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596FE22-7D81-17D6-A859-757592824A3C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FDC5F3A-C5F0-C333-2174-E85107991661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80726ED-E0BE-A0DA-3FB9-1272B36CF883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VS Code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5DF8F3E-0338-D202-0B41-F31172CD45A8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One editor for code, data, and diagrams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659DD9D-C1ED-6313-2176-24E10CD28754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F355F46-4219-5068-2BF5-F1D16B548282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F01E049-F6F5-4B98-A3C0-3AF559113077}"/>
              </a:ext>
            </a:extLst>
          </p:cNvPr>
          <p:cNvSpPr/>
          <p:nvPr/>
        </p:nvSpPr>
        <p:spPr>
          <a:xfrm>
            <a:off x="1152144" y="3163824"/>
            <a:ext cx="5980176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04287341-8292-ECD0-823F-2A95AA768BC2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1A55C26-B41D-2010-2028-05DBBC31C52F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D20C2FF-8CEB-7A5D-CDDC-766D95722425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C1E999A9-96BB-1E99-6308-CCD22349C786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A8C73FD-9FAE-8022-B5C5-1D948511CB75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1C6833E6-D3BB-E564-ED96-1F956334B9AB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EE334E1-17CD-3CF5-B645-00B6960F0276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64A1B5B-038A-BF9A-520D-18C2C31AA674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33670E3-55B9-5E41-73E2-4884B3A08FE7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4B6F743-A2EB-134F-B2EA-893E3D8F79B8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B76F8408-1E02-6DC5-A235-8085D99F5A3A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816EEA07-ADD6-3CFA-70A5-DEA40A5CF4B5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1A1E1D2-EB65-DF96-E155-20F9160CD3B6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3E63D06-68F4-35B4-ECDF-D15186CFF847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4A72471D-0E2E-85CF-AE7A-64718DF0158E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654AEFA6-6022-51D6-65CF-03A830CB31A3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3B8B712A-0A4C-53F4-26F1-ADF302F4821C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51A7477-884F-05B1-689F-8FCD872B9683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A6878CB0-EF05-DE48-0709-5F44F0268E44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66B8BD9-B5DD-9C5B-0665-C2B03BF11EB4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2F24D9CC-A867-0CCB-7876-30F1A842D40C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VS Code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7AA86FA8-1AAB-C737-3740-F5F1D30C87A4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50" dirty="0">
                <a:solidFill>
                  <a:srgbClr val="94A3B8"/>
                </a:solidFill>
                <a:latin typeface="Aptos" pitchFamily="34" charset="0"/>
              </a:rPr>
              <a:t>One editor for code, data, and diagrams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688C991A-6D00-1439-4E66-A8C56F9D1C82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PowerToys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3F98BC71-EAFA-11B5-FA7D-7E77144EEFCD}"/>
              </a:ext>
            </a:extLst>
          </p:cNvPr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8AC31601-9D08-2865-4343-0FA040010F42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18482107-8164-F51A-1B14-6878065E67C8}"/>
              </a:ext>
            </a:extLst>
          </p:cNvPr>
          <p:cNvSpPr/>
          <p:nvPr/>
        </p:nvSpPr>
        <p:spPr>
          <a:xfrm>
            <a:off x="713232" y="5925312"/>
            <a:ext cx="71628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239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PowerToys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Optimize everyday Windows workflows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52144" y="3163824"/>
            <a:ext cx="7973568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PowerToys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Optimize everyday Windows workflows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Wrap-Up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13232" y="5925312"/>
            <a:ext cx="89535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Wrap-Up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Bring the toolkit together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Wrap-Up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Bring the toolkit together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13232" y="6199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The Data Professional's Power Toolkit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A2630-EFFC-D798-AB36-CA77CEC6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AF35AC-6E8B-40A8-87D4-56AB97B6DAD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5EF006-1291-3263-321F-1E4F8C60AAA9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2F92D5-3D97-5A52-2A86-763009DD8B16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26F2EB7-B046-255A-981E-AC6E3A5005F1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3516779-D126-3F62-5F71-4D8609823FE9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C990895-BA88-29E9-02C6-315E1548271E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EC302B1-D38C-51EA-1A9D-3DD3CD06BE9E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5AAFDCD-CBCE-9117-C340-235B145E3B9B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D7AE7C3-CF5B-9803-F5AA-7526472EB067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25BA30C-0D08-B3A8-662A-34AF28416764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4C15E86-6AB3-2F3D-9E54-E58971C88DF9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9247C01-2A7A-D6AA-C468-ECAA103756F4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9BC6B97-5FE8-4041-07A4-AAC7A18C08EC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F711DD6-7706-326C-4771-31824B3E5D53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34E1FA8-F192-4A8D-73E8-E7D1B6BA2B7C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E1DD631-A381-4999-67D6-3157B4B97956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6BA48B8-8252-F3C0-0094-1F47C8644E37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067FDD0-0799-198A-690F-8B11A52256E6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9EBB920-DF4E-1411-78D5-494842F88C75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31E7DDE-EE12-B733-DEC9-14B999489F23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71A936D-C05F-5C89-EDF5-02F99ECF7C74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680247B-DE68-593B-26CD-7FF15196D190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08CFCF5-0C3C-3E7B-DF23-9ACEC30E33C9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138EE8D-6F78-B96D-3FC8-993A1FC7501D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63CE902-36FF-6817-5B4A-D38A74D46EF2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034F1CB-CC83-1DE3-E45D-A8CF1EA60247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AC3EA03-3E9B-AB61-9BDA-7D0AACE165AE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45DCC2C-0B98-F8BB-067A-06C01AB9F354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9C42D4E-2891-A8C0-C5C0-70D97E28AEAD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4EDBAA7-5978-C8AB-C181-301D08413B99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8AD80D8-F4A5-E33F-16B4-87728404888D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94539FD-3A00-7960-AC9D-9D46594F2FD5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A58F19A-B8B4-336B-4900-B7F3218D3A18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057C2A8-B76D-661F-320C-1B47B491C25D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BF646CE-10C2-D6A9-6712-935733A9AD99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59A3F2C-342E-ACFF-BBAF-BEDDEE59593B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881596C-E0C8-5E34-F058-CA819045FD5E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Why these four, and why together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7A6E01E-C1FC-82FC-0BD0-8A855959F0C3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9EA38D9-1985-8D8B-9668-35873BC591AC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D3EF7841-3136-7C3A-651D-DAE3F41D5609}"/>
              </a:ext>
            </a:extLst>
          </p:cNvPr>
          <p:cNvSpPr/>
          <p:nvPr/>
        </p:nvSpPr>
        <p:spPr>
          <a:xfrm>
            <a:off x="1152144" y="3163824"/>
            <a:ext cx="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763A615-8DA7-78B7-8259-CA5C61925AEE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D08CED1-B24A-FECA-DED4-26DA0B6CC826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C282AC7-BEA4-1FEE-BA2E-5BAC95BA49AF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06AF0B10-7AE0-8A17-5A0F-9B5A8FA7ED6C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C984FC2-768F-321B-B988-80E82CE17588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EA846DDC-3E06-556B-DCC1-A86E07AE953E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C07E6CC7-38E0-DC64-62AE-904A658F731C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059D5ED-BFD9-2667-03E5-9254298636FF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8055338-725B-0B57-3280-8296E8831A33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2E273AA-CF69-C65E-E6F6-12DEF9D9084B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B38C14E-547E-2759-1C60-C1EB4720E659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A871C1AB-AD3B-8C9D-8141-D0DDCEC51C7D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0BD66325-7C47-E7C3-A682-93BD379E8480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0A2215B-EE68-925C-DEB2-997B4D325945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9AB12F3-5505-1F97-D782-B5B8D5AEC91F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991F3850-CA12-B45F-9FD0-290AA5CE7523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DDD81B77-E0F3-59DC-0BCA-E95208A3C0DD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80E4FC6D-A1D0-1FA9-181A-291C0DA275FB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13191B87-2C57-F06C-9FCA-91186D42F64D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3573372A-1230-A844-62D8-79F984A1CE15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F05247D9-98DE-E60E-4EE8-79EBCBDE0AF3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969ED500-BAD3-A349-151E-AF917D351B67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Why these four, and why together</a:t>
            </a: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8A03B618-00FC-96BF-2351-0BD2ED2D8BA3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Obsidian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83C5FCE3-98FE-68FB-B2C2-73EC1D9B7460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73D759C6-FB4D-ECCD-FC2A-BD222CF69013}"/>
              </a:ext>
            </a:extLst>
          </p:cNvPr>
          <p:cNvSpPr/>
          <p:nvPr/>
        </p:nvSpPr>
        <p:spPr>
          <a:xfrm>
            <a:off x="713232" y="5925312"/>
            <a:ext cx="17907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5924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FF75D-60E8-CE5D-A531-EA710E2E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B845D7-0510-7E36-9648-8E8734149AF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83B80-D5EE-1CD8-8D75-EA73AC735897}"/>
              </a:ext>
            </a:extLst>
          </p:cNvPr>
          <p:cNvSpPr txBox="1"/>
          <p:nvPr/>
        </p:nvSpPr>
        <p:spPr>
          <a:xfrm>
            <a:off x="502920" y="621792"/>
            <a:ext cx="332514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 dirty="0">
                <a:solidFill>
                  <a:srgbClr val="FFFFFF"/>
                </a:solidFill>
                <a:latin typeface="Aptos Display"/>
              </a:rPr>
              <a:t>All Four Tools Are Free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3CB8AE2-03CF-3BA2-5D68-C005B809E7B2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oolCard_Obsidian">
            <a:extLst>
              <a:ext uri="{FF2B5EF4-FFF2-40B4-BE49-F238E27FC236}">
                <a16:creationId xmlns:a16="http://schemas.microsoft.com/office/drawing/2014/main" id="{787BAA70-85D5-49AA-855A-1297977459C9}"/>
              </a:ext>
            </a:extLst>
          </p:cNvPr>
          <p:cNvSpPr/>
          <p:nvPr/>
        </p:nvSpPr>
        <p:spPr>
          <a:xfrm>
            <a:off x="508000" y="1841500"/>
            <a:ext cx="5334000" cy="2095500"/>
          </a:xfrm>
          <a:prstGeom prst="roundRect">
            <a:avLst/>
          </a:prstGeom>
          <a:solidFill>
            <a:srgbClr val="0F1B2E"/>
          </a:solidFill>
          <a:ln w="15875" cap="flat" cmpd="sng" algn="ctr">
            <a:solidFill>
              <a:srgbClr val="3A6EA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0712C-5234-4B7A-9847-14AF2D36B9BA}"/>
              </a:ext>
            </a:extLst>
          </p:cNvPr>
          <p:cNvSpPr txBox="1"/>
          <p:nvPr/>
        </p:nvSpPr>
        <p:spPr>
          <a:xfrm>
            <a:off x="812800" y="2095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Obsidian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FE22D8-ABFC-4BE5-B260-5F34B840C03B}"/>
              </a:ext>
            </a:extLst>
          </p:cNvPr>
          <p:cNvSpPr/>
          <p:nvPr/>
        </p:nvSpPr>
        <p:spPr>
          <a:xfrm>
            <a:off x="4445000" y="2146300"/>
            <a:ext cx="1092200" cy="406400"/>
          </a:xfrm>
          <a:prstGeom prst="roundRect">
            <a:avLst/>
          </a:prstGeom>
          <a:solidFill>
            <a:srgbClr val="1F7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C70719-2C08-4848-B546-7D39EADBEC1C}"/>
              </a:ext>
            </a:extLst>
          </p:cNvPr>
          <p:cNvSpPr/>
          <p:nvPr/>
        </p:nvSpPr>
        <p:spPr>
          <a:xfrm>
            <a:off x="812800" y="2832100"/>
            <a:ext cx="4724400" cy="12700"/>
          </a:xfrm>
          <a:prstGeom prst="rect">
            <a:avLst/>
          </a:prstGeom>
          <a:solidFill>
            <a:srgbClr val="2A40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40B4C3-1CA7-450A-BCE9-FC3004C601A8}"/>
              </a:ext>
            </a:extLst>
          </p:cNvPr>
          <p:cNvSpPr txBox="1"/>
          <p:nvPr/>
        </p:nvSpPr>
        <p:spPr>
          <a:xfrm>
            <a:off x="812800" y="3009900"/>
            <a:ext cx="47244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i="1">
                <a:solidFill>
                  <a:srgbClr val="B8C7DB"/>
                </a:solidFill>
              </a:rPr>
              <a:t>Optional: Sync $4/mo, Publish $8/mo</a:t>
            </a:r>
          </a:p>
        </p:txBody>
      </p:sp>
      <p:sp>
        <p:nvSpPr>
          <p:cNvPr id="12" name="ToolCard_Excalidraw">
            <a:extLst>
              <a:ext uri="{FF2B5EF4-FFF2-40B4-BE49-F238E27FC236}">
                <a16:creationId xmlns:a16="http://schemas.microsoft.com/office/drawing/2014/main" id="{742F1329-2C34-4A62-A157-6DAF29A06345}"/>
              </a:ext>
            </a:extLst>
          </p:cNvPr>
          <p:cNvSpPr/>
          <p:nvPr/>
        </p:nvSpPr>
        <p:spPr>
          <a:xfrm>
            <a:off x="6350000" y="1841500"/>
            <a:ext cx="5334000" cy="2095500"/>
          </a:xfrm>
          <a:prstGeom prst="roundRect">
            <a:avLst/>
          </a:prstGeom>
          <a:solidFill>
            <a:srgbClr val="0F1B2E"/>
          </a:solidFill>
          <a:ln w="15875" cap="flat" cmpd="sng" algn="ctr">
            <a:solidFill>
              <a:srgbClr val="3A6EA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F989F-4250-4B81-A3A9-7EBACB1C9F15}"/>
              </a:ext>
            </a:extLst>
          </p:cNvPr>
          <p:cNvSpPr txBox="1"/>
          <p:nvPr/>
        </p:nvSpPr>
        <p:spPr>
          <a:xfrm>
            <a:off x="6654800" y="2095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Excalidraw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7E7CBD-FA56-462F-ADC5-6C5D28412B40}"/>
              </a:ext>
            </a:extLst>
          </p:cNvPr>
          <p:cNvSpPr/>
          <p:nvPr/>
        </p:nvSpPr>
        <p:spPr>
          <a:xfrm>
            <a:off x="10287000" y="2146300"/>
            <a:ext cx="1092200" cy="406400"/>
          </a:xfrm>
          <a:prstGeom prst="roundRect">
            <a:avLst/>
          </a:prstGeom>
          <a:solidFill>
            <a:srgbClr val="1F7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99608C-6FED-4753-A1A4-6EB01C2FC048}"/>
              </a:ext>
            </a:extLst>
          </p:cNvPr>
          <p:cNvSpPr/>
          <p:nvPr/>
        </p:nvSpPr>
        <p:spPr>
          <a:xfrm>
            <a:off x="6654800" y="2832100"/>
            <a:ext cx="4724400" cy="12700"/>
          </a:xfrm>
          <a:prstGeom prst="rect">
            <a:avLst/>
          </a:prstGeom>
          <a:solidFill>
            <a:srgbClr val="2A40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0D0A4-9883-4D12-AC80-5B3EFAE9D0FB}"/>
              </a:ext>
            </a:extLst>
          </p:cNvPr>
          <p:cNvSpPr txBox="1"/>
          <p:nvPr/>
        </p:nvSpPr>
        <p:spPr>
          <a:xfrm>
            <a:off x="6654800" y="3009900"/>
            <a:ext cx="47244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i="1">
                <a:solidFill>
                  <a:srgbClr val="B8C7DB"/>
                </a:solidFill>
              </a:rPr>
              <a:t>Optional: Excalidraw+ $7/mo for cloud &amp; collab</a:t>
            </a:r>
          </a:p>
        </p:txBody>
      </p:sp>
      <p:sp>
        <p:nvSpPr>
          <p:cNvPr id="17" name="ToolCard_VS Code">
            <a:extLst>
              <a:ext uri="{FF2B5EF4-FFF2-40B4-BE49-F238E27FC236}">
                <a16:creationId xmlns:a16="http://schemas.microsoft.com/office/drawing/2014/main" id="{26414278-C125-4173-A8BF-5653FB07252B}"/>
              </a:ext>
            </a:extLst>
          </p:cNvPr>
          <p:cNvSpPr/>
          <p:nvPr/>
        </p:nvSpPr>
        <p:spPr>
          <a:xfrm>
            <a:off x="508000" y="4254500"/>
            <a:ext cx="5334000" cy="2095500"/>
          </a:xfrm>
          <a:prstGeom prst="roundRect">
            <a:avLst/>
          </a:prstGeom>
          <a:solidFill>
            <a:srgbClr val="0F1B2E"/>
          </a:solidFill>
          <a:ln w="15875" cap="flat" cmpd="sng" algn="ctr">
            <a:solidFill>
              <a:srgbClr val="3A6EA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46567C-41B6-4B5C-9C56-905EA684A9F8}"/>
              </a:ext>
            </a:extLst>
          </p:cNvPr>
          <p:cNvSpPr txBox="1"/>
          <p:nvPr/>
        </p:nvSpPr>
        <p:spPr>
          <a:xfrm>
            <a:off x="812800" y="4508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VS Code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E188A5-F2B9-4E2F-A75B-3611BC47FB1E}"/>
              </a:ext>
            </a:extLst>
          </p:cNvPr>
          <p:cNvSpPr/>
          <p:nvPr/>
        </p:nvSpPr>
        <p:spPr>
          <a:xfrm>
            <a:off x="4445000" y="4559300"/>
            <a:ext cx="1092200" cy="406400"/>
          </a:xfrm>
          <a:prstGeom prst="roundRect">
            <a:avLst/>
          </a:prstGeom>
          <a:solidFill>
            <a:srgbClr val="1F7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0E4CA-50FC-4093-A348-442EB197D502}"/>
              </a:ext>
            </a:extLst>
          </p:cNvPr>
          <p:cNvSpPr/>
          <p:nvPr/>
        </p:nvSpPr>
        <p:spPr>
          <a:xfrm>
            <a:off x="812800" y="5245100"/>
            <a:ext cx="4724400" cy="12700"/>
          </a:xfrm>
          <a:prstGeom prst="rect">
            <a:avLst/>
          </a:prstGeom>
          <a:solidFill>
            <a:srgbClr val="2A40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69CCDC-4AB5-439D-9093-2C2809AB9FB5}"/>
              </a:ext>
            </a:extLst>
          </p:cNvPr>
          <p:cNvSpPr txBox="1"/>
          <p:nvPr/>
        </p:nvSpPr>
        <p:spPr>
          <a:xfrm>
            <a:off x="812800" y="5422900"/>
            <a:ext cx="47244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7A8FA8"/>
                </a:solidFill>
              </a:rPr>
              <a:t>No paid tier — fully free, forever.</a:t>
            </a:r>
          </a:p>
        </p:txBody>
      </p:sp>
      <p:sp>
        <p:nvSpPr>
          <p:cNvPr id="22" name="ToolCard_PowerToys">
            <a:extLst>
              <a:ext uri="{FF2B5EF4-FFF2-40B4-BE49-F238E27FC236}">
                <a16:creationId xmlns:a16="http://schemas.microsoft.com/office/drawing/2014/main" id="{B723651B-9692-4F81-9623-631C35062672}"/>
              </a:ext>
            </a:extLst>
          </p:cNvPr>
          <p:cNvSpPr/>
          <p:nvPr/>
        </p:nvSpPr>
        <p:spPr>
          <a:xfrm>
            <a:off x="6350000" y="4254500"/>
            <a:ext cx="5334000" cy="2095500"/>
          </a:xfrm>
          <a:prstGeom prst="roundRect">
            <a:avLst/>
          </a:prstGeom>
          <a:solidFill>
            <a:srgbClr val="0F1B2E"/>
          </a:solidFill>
          <a:ln w="15875" cap="flat" cmpd="sng" algn="ctr">
            <a:solidFill>
              <a:srgbClr val="3A6EA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D4BFBE-6B1E-4B49-8D21-A6F86C9AB6D7}"/>
              </a:ext>
            </a:extLst>
          </p:cNvPr>
          <p:cNvSpPr txBox="1"/>
          <p:nvPr/>
        </p:nvSpPr>
        <p:spPr>
          <a:xfrm>
            <a:off x="6654800" y="45085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PowerToys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BD6D20D-5975-48F1-9184-6C69328695CA}"/>
              </a:ext>
            </a:extLst>
          </p:cNvPr>
          <p:cNvSpPr/>
          <p:nvPr/>
        </p:nvSpPr>
        <p:spPr>
          <a:xfrm>
            <a:off x="10287000" y="4559300"/>
            <a:ext cx="1092200" cy="406400"/>
          </a:xfrm>
          <a:prstGeom prst="roundRect">
            <a:avLst/>
          </a:prstGeom>
          <a:solidFill>
            <a:srgbClr val="1F7A3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5DF5B1-2AAD-49EF-AFE6-CD6B6AA7B3AB}"/>
              </a:ext>
            </a:extLst>
          </p:cNvPr>
          <p:cNvSpPr/>
          <p:nvPr/>
        </p:nvSpPr>
        <p:spPr>
          <a:xfrm>
            <a:off x="6654800" y="5245100"/>
            <a:ext cx="4724400" cy="12700"/>
          </a:xfrm>
          <a:prstGeom prst="rect">
            <a:avLst/>
          </a:prstGeom>
          <a:solidFill>
            <a:srgbClr val="2A40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8A143E-BC92-4578-B465-F5B6310BCA97}"/>
              </a:ext>
            </a:extLst>
          </p:cNvPr>
          <p:cNvSpPr txBox="1"/>
          <p:nvPr/>
        </p:nvSpPr>
        <p:spPr>
          <a:xfrm>
            <a:off x="6654800" y="5422900"/>
            <a:ext cx="47244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7A8FA8"/>
                </a:solidFill>
              </a:rPr>
              <a:t>No paid tier — fully free, forever.</a:t>
            </a:r>
          </a:p>
        </p:txBody>
      </p:sp>
    </p:spTree>
    <p:extLst>
      <p:ext uri="{BB962C8B-B14F-4D97-AF65-F5344CB8AC3E}">
        <p14:creationId xmlns:p14="http://schemas.microsoft.com/office/powerpoint/2010/main" val="1243177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38EE7-F755-E120-BE48-96BD3DCC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8F98B-18D1-0B0E-4B79-3CF630218F7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4373D-A293-AA69-F4FB-78C5E89D01AE}"/>
              </a:ext>
            </a:extLst>
          </p:cNvPr>
          <p:cNvSpPr txBox="1"/>
          <p:nvPr/>
        </p:nvSpPr>
        <p:spPr>
          <a:xfrm>
            <a:off x="502920" y="254000"/>
            <a:ext cx="348672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Bring Your Own Installer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998C7C7-78D2-0824-9964-3CAD9C3412DF}"/>
              </a:ext>
            </a:extLst>
          </p:cNvPr>
          <p:cNvCxnSpPr/>
          <p:nvPr/>
        </p:nvCxnSpPr>
        <p:spPr>
          <a:xfrm>
            <a:off x="502920" y="83820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6FD453-DBDA-B22E-749B-7AEB4516B450}"/>
              </a:ext>
            </a:extLst>
          </p:cNvPr>
          <p:cNvSpPr/>
          <p:nvPr/>
        </p:nvSpPr>
        <p:spPr>
          <a:xfrm>
            <a:off x="640080" y="1041400"/>
            <a:ext cx="11018520" cy="474980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0972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26C75E-EB08-3040-DA0D-1189A888C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211140"/>
              </p:ext>
            </p:extLst>
          </p:nvPr>
        </p:nvGraphicFramePr>
        <p:xfrm>
          <a:off x="1003300" y="1231900"/>
          <a:ext cx="10304586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263">
                  <a:extLst>
                    <a:ext uri="{9D8B030D-6E8A-4147-A177-3AD203B41FA5}">
                      <a16:colId xmlns:a16="http://schemas.microsoft.com/office/drawing/2014/main" val="3545829930"/>
                    </a:ext>
                  </a:extLst>
                </a:gridCol>
                <a:gridCol w="2920409">
                  <a:extLst>
                    <a:ext uri="{9D8B030D-6E8A-4147-A177-3AD203B41FA5}">
                      <a16:colId xmlns:a16="http://schemas.microsoft.com/office/drawing/2014/main" val="1618389559"/>
                    </a:ext>
                  </a:extLst>
                </a:gridCol>
                <a:gridCol w="2713457">
                  <a:extLst>
                    <a:ext uri="{9D8B030D-6E8A-4147-A177-3AD203B41FA5}">
                      <a16:colId xmlns:a16="http://schemas.microsoft.com/office/drawing/2014/main" val="4159509407"/>
                    </a:ext>
                  </a:extLst>
                </a:gridCol>
                <a:gridCol w="2713457">
                  <a:extLst>
                    <a:ext uri="{9D8B030D-6E8A-4147-A177-3AD203B41FA5}">
                      <a16:colId xmlns:a16="http://schemas.microsoft.com/office/drawing/2014/main" val="4159509408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winget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choco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brew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977206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Obsidian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Obsidian.Obsidian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obsidian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obsidian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3804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Excalidraw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web app — no install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web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web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085470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Microsoft.VisualStudioCode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vscode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visual-studio-code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641189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PowerToys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Microsoft.PowerToys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powertoys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 dirty="0"/>
                        <a:t>Windows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30921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F90F3E-2CFA-AA02-8EDE-955B4118FE56}"/>
              </a:ext>
            </a:extLst>
          </p:cNvPr>
          <p:cNvSpPr txBox="1"/>
          <p:nvPr/>
        </p:nvSpPr>
        <p:spPr>
          <a:xfrm>
            <a:off x="1003300" y="5943600"/>
            <a:ext cx="837325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Already have a package manager? You’re one command away.</a:t>
            </a:r>
          </a:p>
        </p:txBody>
      </p:sp>
    </p:spTree>
    <p:extLst>
      <p:ext uri="{BB962C8B-B14F-4D97-AF65-F5344CB8AC3E}">
        <p14:creationId xmlns:p14="http://schemas.microsoft.com/office/powerpoint/2010/main" val="3501204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38EE7-F755-E120-BE48-96BD3DCC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8F98B-18D1-0B0E-4B79-3CF630218F7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4373D-A293-AA69-F4FB-78C5E89D01AE}"/>
              </a:ext>
            </a:extLst>
          </p:cNvPr>
          <p:cNvSpPr txBox="1"/>
          <p:nvPr/>
        </p:nvSpPr>
        <p:spPr>
          <a:xfrm>
            <a:off x="502920" y="254000"/>
            <a:ext cx="437703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Yes, We Need to Talk About AI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998C7C7-78D2-0824-9964-3CAD9C3412DF}"/>
              </a:ext>
            </a:extLst>
          </p:cNvPr>
          <p:cNvCxnSpPr/>
          <p:nvPr/>
        </p:nvCxnSpPr>
        <p:spPr>
          <a:xfrm>
            <a:off x="502920" y="83820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6FD453-DBDA-B22E-749B-7AEB4516B450}"/>
              </a:ext>
            </a:extLst>
          </p:cNvPr>
          <p:cNvSpPr/>
          <p:nvPr/>
        </p:nvSpPr>
        <p:spPr>
          <a:xfrm>
            <a:off x="640080" y="1041400"/>
            <a:ext cx="11018520" cy="485140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0972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26C75E-EB08-3040-DA0D-1189A888C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749457"/>
              </p:ext>
            </p:extLst>
          </p:nvPr>
        </p:nvGraphicFramePr>
        <p:xfrm>
          <a:off x="1003300" y="1231900"/>
          <a:ext cx="10304586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263">
                  <a:extLst>
                    <a:ext uri="{9D8B030D-6E8A-4147-A177-3AD203B41FA5}">
                      <a16:colId xmlns:a16="http://schemas.microsoft.com/office/drawing/2014/main" val="3545829930"/>
                    </a:ext>
                  </a:extLst>
                </a:gridCol>
                <a:gridCol w="2920409">
                  <a:extLst>
                    <a:ext uri="{9D8B030D-6E8A-4147-A177-3AD203B41FA5}">
                      <a16:colId xmlns:a16="http://schemas.microsoft.com/office/drawing/2014/main" val="1618389559"/>
                    </a:ext>
                  </a:extLst>
                </a:gridCol>
                <a:gridCol w="5426914">
                  <a:extLst>
                    <a:ext uri="{9D8B030D-6E8A-4147-A177-3AD203B41FA5}">
                      <a16:colId xmlns:a16="http://schemas.microsoft.com/office/drawing/2014/main" val="4159509407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AI Superpower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977206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Obsidian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Copilot plugin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Copilot plugin + local LLM support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3804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Excalidraw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AI diagram generation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Generate diagrams from text descriptions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085470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GitHub Copilot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Copilot + Copilot Chat built right 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641189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PowerToys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Advanced Paste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AI-powered clipboard transforms – local or cloud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30921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F90F3E-2CFA-AA02-8EDE-955B4118FE56}"/>
              </a:ext>
            </a:extLst>
          </p:cNvPr>
          <p:cNvSpPr txBox="1"/>
          <p:nvPr/>
        </p:nvSpPr>
        <p:spPr>
          <a:xfrm>
            <a:off x="1003300" y="6045200"/>
            <a:ext cx="69958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tools were great before AI. They’re better with it.</a:t>
            </a:r>
          </a:p>
        </p:txBody>
      </p:sp>
      <p:pic>
        <p:nvPicPr>
          <p:cNvPr id="9" name="Graphic 8" descr="Elephant with solid fill">
            <a:extLst>
              <a:ext uri="{FF2B5EF4-FFF2-40B4-BE49-F238E27FC236}">
                <a16:creationId xmlns:a16="http://schemas.microsoft.com/office/drawing/2014/main" id="{69EFAFC2-D0CF-A667-94A1-8F64305F3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78400" y="762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7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38EE7-F755-E120-BE48-96BD3DCC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8F98B-18D1-0B0E-4B79-3CF630218F7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4373D-A293-AA69-F4FB-78C5E89D01AE}"/>
              </a:ext>
            </a:extLst>
          </p:cNvPr>
          <p:cNvSpPr txBox="1"/>
          <p:nvPr/>
        </p:nvSpPr>
        <p:spPr>
          <a:xfrm>
            <a:off x="502920" y="254000"/>
            <a:ext cx="348672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Every Tool is Extensible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998C7C7-78D2-0824-9964-3CAD9C3412DF}"/>
              </a:ext>
            </a:extLst>
          </p:cNvPr>
          <p:cNvCxnSpPr/>
          <p:nvPr/>
        </p:nvCxnSpPr>
        <p:spPr>
          <a:xfrm>
            <a:off x="502920" y="83820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6FD453-DBDA-B22E-749B-7AEB4516B450}"/>
              </a:ext>
            </a:extLst>
          </p:cNvPr>
          <p:cNvSpPr/>
          <p:nvPr/>
        </p:nvSpPr>
        <p:spPr>
          <a:xfrm>
            <a:off x="640080" y="1041400"/>
            <a:ext cx="11018520" cy="485140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0972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FFFFFF"/>
              </a:solidFill>
              <a:latin typeface="Apto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26C75E-EB08-3040-DA0D-1189A888C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310533"/>
              </p:ext>
            </p:extLst>
          </p:nvPr>
        </p:nvGraphicFramePr>
        <p:xfrm>
          <a:off x="1003300" y="1231900"/>
          <a:ext cx="10304586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263">
                  <a:extLst>
                    <a:ext uri="{9D8B030D-6E8A-4147-A177-3AD203B41FA5}">
                      <a16:colId xmlns:a16="http://schemas.microsoft.com/office/drawing/2014/main" val="3545829930"/>
                    </a:ext>
                  </a:extLst>
                </a:gridCol>
                <a:gridCol w="2920409">
                  <a:extLst>
                    <a:ext uri="{9D8B030D-6E8A-4147-A177-3AD203B41FA5}">
                      <a16:colId xmlns:a16="http://schemas.microsoft.com/office/drawing/2014/main" val="1618389559"/>
                    </a:ext>
                  </a:extLst>
                </a:gridCol>
                <a:gridCol w="5426914">
                  <a:extLst>
                    <a:ext uri="{9D8B030D-6E8A-4147-A177-3AD203B41FA5}">
                      <a16:colId xmlns:a16="http://schemas.microsoft.com/office/drawing/2014/main" val="4159509407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Extension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977206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Obsidian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Plugins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Dataview</a:t>
                      </a:r>
                      <a:r>
                        <a:rPr lang="en-US" sz="1800" dirty="0"/>
                        <a:t>, Calendar, </a:t>
                      </a:r>
                      <a:r>
                        <a:rPr lang="en-US" sz="1800" dirty="0" err="1"/>
                        <a:t>Excalidraw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3804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Excalidraw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Libraries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Pre-built data &amp; architecture icon 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085470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Extensions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Rainbow CSV, Jupyter, Python, </a:t>
                      </a:r>
                      <a:r>
                        <a:rPr lang="en-US" sz="1800" dirty="0" err="1"/>
                        <a:t>Excalidraw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641189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PowerToys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Modules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Enable only what you need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30921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F90F3E-2CFA-AA02-8EDE-955B4118FE56}"/>
              </a:ext>
            </a:extLst>
          </p:cNvPr>
          <p:cNvSpPr txBox="1"/>
          <p:nvPr/>
        </p:nvSpPr>
        <p:spPr>
          <a:xfrm>
            <a:off x="1003300" y="6045200"/>
            <a:ext cx="8209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Start with the defaults. Extend to fit your workflow.</a:t>
            </a:r>
          </a:p>
        </p:txBody>
      </p:sp>
    </p:spTree>
    <p:extLst>
      <p:ext uri="{BB962C8B-B14F-4D97-AF65-F5344CB8AC3E}">
        <p14:creationId xmlns:p14="http://schemas.microsoft.com/office/powerpoint/2010/main" val="334184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FF0CE-947B-3277-88BC-D26579B6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B1D74-5B90-AE7C-FC72-55686AF474C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91060-326D-4A47-B871-0A65F38693A1}"/>
              </a:ext>
            </a:extLst>
          </p:cNvPr>
          <p:cNvSpPr txBox="1"/>
          <p:nvPr/>
        </p:nvSpPr>
        <p:spPr>
          <a:xfrm>
            <a:off x="508000" y="6223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ptos Display"/>
              </a:rPr>
              <a:t>The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7E586-505E-4A88-8ACB-095FC8CAC593}"/>
              </a:ext>
            </a:extLst>
          </p:cNvPr>
          <p:cNvSpPr/>
          <p:nvPr/>
        </p:nvSpPr>
        <p:spPr>
          <a:xfrm>
            <a:off x="508000" y="1422400"/>
            <a:ext cx="11150600" cy="12700"/>
          </a:xfrm>
          <a:prstGeom prst="rect">
            <a:avLst/>
          </a:prstGeom>
          <a:solidFill>
            <a:srgbClr val="3A455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4934080-AA3A-99C1-70C6-9AF470B59723}"/>
              </a:ext>
            </a:extLst>
          </p:cNvPr>
          <p:cNvGrpSpPr/>
          <p:nvPr/>
        </p:nvGrpSpPr>
        <p:grpSpPr>
          <a:xfrm>
            <a:off x="508000" y="1841500"/>
            <a:ext cx="2844800" cy="3048000"/>
            <a:chOff x="508000" y="1841500"/>
            <a:chExt cx="2844800" cy="3048000"/>
          </a:xfrm>
        </p:grpSpPr>
        <p:sp>
          <p:nvSpPr>
            <p:cNvPr id="6" name="WorkflowCard_Capture">
              <a:extLst>
                <a:ext uri="{FF2B5EF4-FFF2-40B4-BE49-F238E27FC236}">
                  <a16:creationId xmlns:a16="http://schemas.microsoft.com/office/drawing/2014/main" id="{B23CA04E-7167-4D8B-8C68-03FCB0D4ADDB}"/>
                </a:ext>
              </a:extLst>
            </p:cNvPr>
            <p:cNvSpPr/>
            <p:nvPr/>
          </p:nvSpPr>
          <p:spPr>
            <a:xfrm>
              <a:off x="508000" y="1841500"/>
              <a:ext cx="2603500" cy="3048000"/>
            </a:xfrm>
            <a:prstGeom prst="roundRect">
              <a:avLst/>
            </a:prstGeom>
            <a:solidFill>
              <a:srgbClr val="1A2233"/>
            </a:solidFill>
            <a:ln w="12700" cap="flat" cmpd="sng" algn="ctr">
              <a:solidFill>
                <a:srgbClr val="2A354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2BF8D82-E06C-4BAC-86CD-B24E43B81EB6}"/>
                </a:ext>
              </a:extLst>
            </p:cNvPr>
            <p:cNvSpPr/>
            <p:nvPr/>
          </p:nvSpPr>
          <p:spPr>
            <a:xfrm>
              <a:off x="508000" y="1841500"/>
              <a:ext cx="2603500" cy="76200"/>
            </a:xfrm>
            <a:prstGeom prst="rect">
              <a:avLst/>
            </a:prstGeom>
            <a:solidFill>
              <a:srgbClr val="8F6BE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F1664D4-7F8C-4421-8832-771654804A12}"/>
                </a:ext>
              </a:extLst>
            </p:cNvPr>
            <p:cNvSpPr txBox="1"/>
            <p:nvPr/>
          </p:nvSpPr>
          <p:spPr>
            <a:xfrm>
              <a:off x="736600" y="2197100"/>
              <a:ext cx="2146300" cy="48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2600" b="1">
                  <a:solidFill>
                    <a:srgbClr val="8F6BE8"/>
                  </a:solidFill>
                  <a:latin typeface="Aptos Display"/>
                </a:rPr>
                <a:t>Capture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061335C-EDC7-4C86-BA1E-E133FD3A41B8}"/>
                </a:ext>
              </a:extLst>
            </p:cNvPr>
            <p:cNvSpPr txBox="1"/>
            <p:nvPr/>
          </p:nvSpPr>
          <p:spPr>
            <a:xfrm>
              <a:off x="736600" y="2755900"/>
              <a:ext cx="21463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>
                  <a:solidFill>
                    <a:srgbClr val="FFFFFF"/>
                  </a:solidFill>
                  <a:latin typeface="Aptos"/>
                </a:rPr>
                <a:t>Obsidian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5551DB6-5D00-40A2-923A-A1698858638B}"/>
                </a:ext>
              </a:extLst>
            </p:cNvPr>
            <p:cNvSpPr/>
            <p:nvPr/>
          </p:nvSpPr>
          <p:spPr>
            <a:xfrm>
              <a:off x="736600" y="3263900"/>
              <a:ext cx="2146300" cy="12700"/>
            </a:xfrm>
            <a:prstGeom prst="rect">
              <a:avLst/>
            </a:prstGeom>
            <a:solidFill>
              <a:srgbClr val="2A354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60C44DD-CE61-4A79-88CD-42FB17F7F859}"/>
                </a:ext>
              </a:extLst>
            </p:cNvPr>
            <p:cNvSpPr txBox="1"/>
            <p:nvPr/>
          </p:nvSpPr>
          <p:spPr>
            <a:xfrm>
              <a:off x="736600" y="3467100"/>
              <a:ext cx="2146300" cy="1143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500" i="1">
                  <a:solidFill>
                    <a:srgbClr val="C8D2E0"/>
                  </a:solidFill>
                  <a:latin typeface="Aptos"/>
                </a:rPr>
                <a:t>Everything you know, searchable</a:t>
              </a:r>
            </a:p>
          </p:txBody>
        </p:sp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26B74A7B-FE26-4929-B4BC-FDD63E6CC748}"/>
                </a:ext>
              </a:extLst>
            </p:cNvPr>
            <p:cNvSpPr/>
            <p:nvPr/>
          </p:nvSpPr>
          <p:spPr>
            <a:xfrm>
              <a:off x="3124200" y="3213100"/>
              <a:ext cx="228600" cy="304800"/>
            </a:xfrm>
            <a:prstGeom prst="chevron">
              <a:avLst/>
            </a:prstGeom>
            <a:solidFill>
              <a:srgbClr val="4A566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EBF1D78-0FFA-DD83-66D9-FFD6B0DF859C}"/>
              </a:ext>
            </a:extLst>
          </p:cNvPr>
          <p:cNvGrpSpPr/>
          <p:nvPr/>
        </p:nvGrpSpPr>
        <p:grpSpPr>
          <a:xfrm>
            <a:off x="3365500" y="1841500"/>
            <a:ext cx="2844800" cy="3048000"/>
            <a:chOff x="3365500" y="1841500"/>
            <a:chExt cx="2844800" cy="3048000"/>
          </a:xfrm>
        </p:grpSpPr>
        <p:sp>
          <p:nvSpPr>
            <p:cNvPr id="32" name="WorkflowCard_Visualize">
              <a:extLst>
                <a:ext uri="{FF2B5EF4-FFF2-40B4-BE49-F238E27FC236}">
                  <a16:creationId xmlns:a16="http://schemas.microsoft.com/office/drawing/2014/main" id="{EA5DC150-3AA6-4F94-8772-D5694466AD85}"/>
                </a:ext>
              </a:extLst>
            </p:cNvPr>
            <p:cNvSpPr/>
            <p:nvPr/>
          </p:nvSpPr>
          <p:spPr>
            <a:xfrm>
              <a:off x="3365500" y="1841500"/>
              <a:ext cx="2603500" cy="3048000"/>
            </a:xfrm>
            <a:prstGeom prst="roundRect">
              <a:avLst/>
            </a:prstGeom>
            <a:solidFill>
              <a:srgbClr val="1A2233"/>
            </a:solidFill>
            <a:ln w="12700" cap="flat" cmpd="sng" algn="ctr">
              <a:solidFill>
                <a:srgbClr val="2A354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0268A79-C6F3-4244-9095-3B9357CDA282}"/>
                </a:ext>
              </a:extLst>
            </p:cNvPr>
            <p:cNvSpPr/>
            <p:nvPr/>
          </p:nvSpPr>
          <p:spPr>
            <a:xfrm>
              <a:off x="3365500" y="1841500"/>
              <a:ext cx="2603500" cy="76200"/>
            </a:xfrm>
            <a:prstGeom prst="rect">
              <a:avLst/>
            </a:prstGeom>
            <a:solidFill>
              <a:srgbClr val="4EC9B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CD209E1-52E0-48D4-93BF-AC860F8E1F81}"/>
                </a:ext>
              </a:extLst>
            </p:cNvPr>
            <p:cNvSpPr txBox="1"/>
            <p:nvPr/>
          </p:nvSpPr>
          <p:spPr>
            <a:xfrm>
              <a:off x="3594100" y="2197100"/>
              <a:ext cx="2146300" cy="48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2600" b="1">
                  <a:solidFill>
                    <a:srgbClr val="4EC9B0"/>
                  </a:solidFill>
                  <a:latin typeface="Aptos Display"/>
                </a:rPr>
                <a:t>Visualize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3ABDA34-E24C-4DEE-9FF5-DFED38DC71E8}"/>
                </a:ext>
              </a:extLst>
            </p:cNvPr>
            <p:cNvSpPr txBox="1"/>
            <p:nvPr/>
          </p:nvSpPr>
          <p:spPr>
            <a:xfrm>
              <a:off x="3594100" y="2755900"/>
              <a:ext cx="21463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dirty="0" err="1">
                  <a:solidFill>
                    <a:srgbClr val="FFFFFF"/>
                  </a:solidFill>
                  <a:latin typeface="Aptos"/>
                </a:rPr>
                <a:t>Excalidraw</a:t>
              </a:r>
              <a:endParaRPr lang="en-US" dirty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D842D8A-3C52-4289-B9D9-DEBE0710C9F4}"/>
                </a:ext>
              </a:extLst>
            </p:cNvPr>
            <p:cNvSpPr/>
            <p:nvPr/>
          </p:nvSpPr>
          <p:spPr>
            <a:xfrm>
              <a:off x="3594100" y="3263900"/>
              <a:ext cx="2146300" cy="12700"/>
            </a:xfrm>
            <a:prstGeom prst="rect">
              <a:avLst/>
            </a:prstGeom>
            <a:solidFill>
              <a:srgbClr val="2A354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13AB0FA-A2A8-457C-B9B0-25F81DC78608}"/>
                </a:ext>
              </a:extLst>
            </p:cNvPr>
            <p:cNvSpPr txBox="1"/>
            <p:nvPr/>
          </p:nvSpPr>
          <p:spPr>
            <a:xfrm>
              <a:off x="3594100" y="3467100"/>
              <a:ext cx="2146300" cy="1143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500" i="1">
                  <a:solidFill>
                    <a:srgbClr val="C8D2E0"/>
                  </a:solidFill>
                  <a:latin typeface="Aptos"/>
                </a:rPr>
                <a:t>Make ideas concrete</a:t>
              </a:r>
            </a:p>
          </p:txBody>
        </p:sp>
        <p:sp>
          <p:nvSpPr>
            <p:cNvPr id="38" name="Arrow: Chevron 37">
              <a:extLst>
                <a:ext uri="{FF2B5EF4-FFF2-40B4-BE49-F238E27FC236}">
                  <a16:creationId xmlns:a16="http://schemas.microsoft.com/office/drawing/2014/main" id="{54E14D01-A775-4A2B-AE23-FA3D9A6BB2CA}"/>
                </a:ext>
              </a:extLst>
            </p:cNvPr>
            <p:cNvSpPr/>
            <p:nvPr/>
          </p:nvSpPr>
          <p:spPr>
            <a:xfrm>
              <a:off x="5981700" y="3213100"/>
              <a:ext cx="228600" cy="304800"/>
            </a:xfrm>
            <a:prstGeom prst="chevron">
              <a:avLst/>
            </a:prstGeom>
            <a:solidFill>
              <a:srgbClr val="4A566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BF622AA-3A59-C6CC-4CFB-5DCE5E529929}"/>
              </a:ext>
            </a:extLst>
          </p:cNvPr>
          <p:cNvGrpSpPr/>
          <p:nvPr/>
        </p:nvGrpSpPr>
        <p:grpSpPr>
          <a:xfrm>
            <a:off x="6223000" y="1841500"/>
            <a:ext cx="2844800" cy="3048000"/>
            <a:chOff x="6223000" y="1841500"/>
            <a:chExt cx="2844800" cy="3048000"/>
          </a:xfrm>
        </p:grpSpPr>
        <p:sp>
          <p:nvSpPr>
            <p:cNvPr id="39" name="WorkflowCard_Execute">
              <a:extLst>
                <a:ext uri="{FF2B5EF4-FFF2-40B4-BE49-F238E27FC236}">
                  <a16:creationId xmlns:a16="http://schemas.microsoft.com/office/drawing/2014/main" id="{910F10A5-264A-403D-A495-B4BE04900561}"/>
                </a:ext>
              </a:extLst>
            </p:cNvPr>
            <p:cNvSpPr/>
            <p:nvPr/>
          </p:nvSpPr>
          <p:spPr>
            <a:xfrm>
              <a:off x="6223000" y="1841500"/>
              <a:ext cx="2603500" cy="3048000"/>
            </a:xfrm>
            <a:prstGeom prst="roundRect">
              <a:avLst/>
            </a:prstGeom>
            <a:solidFill>
              <a:srgbClr val="1A2233"/>
            </a:solidFill>
            <a:ln w="12700" cap="flat" cmpd="sng" algn="ctr">
              <a:solidFill>
                <a:srgbClr val="2A354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A4A561B-9AE2-4613-B002-B5361A148112}"/>
                </a:ext>
              </a:extLst>
            </p:cNvPr>
            <p:cNvSpPr/>
            <p:nvPr/>
          </p:nvSpPr>
          <p:spPr>
            <a:xfrm>
              <a:off x="6223000" y="1841500"/>
              <a:ext cx="2603500" cy="76200"/>
            </a:xfrm>
            <a:prstGeom prst="rect">
              <a:avLst/>
            </a:prstGeom>
            <a:solidFill>
              <a:srgbClr val="007ACC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4C67474-EB86-4B33-8351-42ED3AA1CACB}"/>
                </a:ext>
              </a:extLst>
            </p:cNvPr>
            <p:cNvSpPr txBox="1"/>
            <p:nvPr/>
          </p:nvSpPr>
          <p:spPr>
            <a:xfrm>
              <a:off x="6451600" y="2197100"/>
              <a:ext cx="2146300" cy="48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2600" b="1">
                  <a:solidFill>
                    <a:srgbClr val="007ACC"/>
                  </a:solidFill>
                  <a:latin typeface="Aptos Display"/>
                </a:rPr>
                <a:t>Execute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70B45F1-322C-4C12-8798-FD33D588AABF}"/>
                </a:ext>
              </a:extLst>
            </p:cNvPr>
            <p:cNvSpPr txBox="1"/>
            <p:nvPr/>
          </p:nvSpPr>
          <p:spPr>
            <a:xfrm>
              <a:off x="6451600" y="2755900"/>
              <a:ext cx="21463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>
                  <a:solidFill>
                    <a:srgbClr val="FFFFFF"/>
                  </a:solidFill>
                  <a:latin typeface="Aptos"/>
                </a:rPr>
                <a:t>VS Code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90D8893-767C-48F5-8F1D-A00EBA033D6E}"/>
                </a:ext>
              </a:extLst>
            </p:cNvPr>
            <p:cNvSpPr/>
            <p:nvPr/>
          </p:nvSpPr>
          <p:spPr>
            <a:xfrm>
              <a:off x="6451600" y="3263900"/>
              <a:ext cx="2146300" cy="12700"/>
            </a:xfrm>
            <a:prstGeom prst="rect">
              <a:avLst/>
            </a:prstGeom>
            <a:solidFill>
              <a:srgbClr val="2A354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BD6BB2-35F6-49D1-B5A3-B60B61FD48D7}"/>
                </a:ext>
              </a:extLst>
            </p:cNvPr>
            <p:cNvSpPr txBox="1"/>
            <p:nvPr/>
          </p:nvSpPr>
          <p:spPr>
            <a:xfrm>
              <a:off x="6451600" y="3467100"/>
              <a:ext cx="2146300" cy="1143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500" i="1" dirty="0">
                  <a:solidFill>
                    <a:srgbClr val="C8D2E0"/>
                  </a:solidFill>
                  <a:latin typeface="Aptos"/>
                </a:rPr>
                <a:t>Where the work happens</a:t>
              </a:r>
            </a:p>
          </p:txBody>
        </p:sp>
        <p:sp>
          <p:nvSpPr>
            <p:cNvPr id="45" name="Arrow: Chevron 44">
              <a:extLst>
                <a:ext uri="{FF2B5EF4-FFF2-40B4-BE49-F238E27FC236}">
                  <a16:creationId xmlns:a16="http://schemas.microsoft.com/office/drawing/2014/main" id="{37A2DF61-E3CF-4BC5-9E62-370801D39903}"/>
                </a:ext>
              </a:extLst>
            </p:cNvPr>
            <p:cNvSpPr/>
            <p:nvPr/>
          </p:nvSpPr>
          <p:spPr>
            <a:xfrm>
              <a:off x="8839200" y="3213100"/>
              <a:ext cx="228600" cy="304800"/>
            </a:xfrm>
            <a:prstGeom prst="chevron">
              <a:avLst/>
            </a:prstGeom>
            <a:solidFill>
              <a:srgbClr val="4A566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FBF905F-66FA-157A-67A7-FB6E22A30904}"/>
              </a:ext>
            </a:extLst>
          </p:cNvPr>
          <p:cNvGrpSpPr/>
          <p:nvPr/>
        </p:nvGrpSpPr>
        <p:grpSpPr>
          <a:xfrm>
            <a:off x="9080500" y="1841500"/>
            <a:ext cx="2603500" cy="3048000"/>
            <a:chOff x="9080500" y="1841500"/>
            <a:chExt cx="2603500" cy="3048000"/>
          </a:xfrm>
        </p:grpSpPr>
        <p:sp>
          <p:nvSpPr>
            <p:cNvPr id="46" name="WorkflowCard_Optimize">
              <a:extLst>
                <a:ext uri="{FF2B5EF4-FFF2-40B4-BE49-F238E27FC236}">
                  <a16:creationId xmlns:a16="http://schemas.microsoft.com/office/drawing/2014/main" id="{C8EA8223-4C37-452B-A547-DEBC7612D6D1}"/>
                </a:ext>
              </a:extLst>
            </p:cNvPr>
            <p:cNvSpPr/>
            <p:nvPr/>
          </p:nvSpPr>
          <p:spPr>
            <a:xfrm>
              <a:off x="9080500" y="1841500"/>
              <a:ext cx="2603500" cy="3048000"/>
            </a:xfrm>
            <a:prstGeom prst="roundRect">
              <a:avLst/>
            </a:prstGeom>
            <a:solidFill>
              <a:srgbClr val="1A2233"/>
            </a:solidFill>
            <a:ln w="12700" cap="flat" cmpd="sng" algn="ctr">
              <a:solidFill>
                <a:srgbClr val="2A354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5F5BB83-B5B9-43F0-8BE1-E922AC5617CA}"/>
                </a:ext>
              </a:extLst>
            </p:cNvPr>
            <p:cNvSpPr/>
            <p:nvPr/>
          </p:nvSpPr>
          <p:spPr>
            <a:xfrm>
              <a:off x="9080500" y="1841500"/>
              <a:ext cx="2603500" cy="76200"/>
            </a:xfrm>
            <a:prstGeom prst="rect">
              <a:avLst/>
            </a:prstGeom>
            <a:solidFill>
              <a:srgbClr val="F48771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5BA2EBE-B7B2-4EB9-BA42-840DF27124E3}"/>
                </a:ext>
              </a:extLst>
            </p:cNvPr>
            <p:cNvSpPr txBox="1"/>
            <p:nvPr/>
          </p:nvSpPr>
          <p:spPr>
            <a:xfrm>
              <a:off x="9309100" y="2197100"/>
              <a:ext cx="2146300" cy="48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2600" b="1">
                  <a:solidFill>
                    <a:srgbClr val="F48771"/>
                  </a:solidFill>
                  <a:latin typeface="Aptos Display"/>
                </a:rPr>
                <a:t>Optimize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4C1B2B2-735C-4713-998E-713335B5186F}"/>
                </a:ext>
              </a:extLst>
            </p:cNvPr>
            <p:cNvSpPr txBox="1"/>
            <p:nvPr/>
          </p:nvSpPr>
          <p:spPr>
            <a:xfrm>
              <a:off x="9309100" y="2755900"/>
              <a:ext cx="21463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>
                  <a:solidFill>
                    <a:srgbClr val="FFFFFF"/>
                  </a:solidFill>
                  <a:latin typeface="Aptos"/>
                </a:rPr>
                <a:t>PowerToys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012D91D-14AF-4482-99C8-4150E2BE07DD}"/>
                </a:ext>
              </a:extLst>
            </p:cNvPr>
            <p:cNvSpPr/>
            <p:nvPr/>
          </p:nvSpPr>
          <p:spPr>
            <a:xfrm>
              <a:off x="9309100" y="3263900"/>
              <a:ext cx="2146300" cy="12700"/>
            </a:xfrm>
            <a:prstGeom prst="rect">
              <a:avLst/>
            </a:prstGeom>
            <a:solidFill>
              <a:srgbClr val="2A354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0A01972-1EF9-464B-9EE4-D19781614B53}"/>
                </a:ext>
              </a:extLst>
            </p:cNvPr>
            <p:cNvSpPr txBox="1"/>
            <p:nvPr/>
          </p:nvSpPr>
          <p:spPr>
            <a:xfrm>
              <a:off x="9309100" y="3467100"/>
              <a:ext cx="2146300" cy="1143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sz="1500" i="1" dirty="0">
                  <a:solidFill>
                    <a:srgbClr val="C8D2E0"/>
                  </a:solidFill>
                  <a:latin typeface="Aptos"/>
                </a:rPr>
                <a:t>Sharpen the system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10F7BF83-2DE4-44DA-9B8E-6F4F4731CCD2}"/>
              </a:ext>
            </a:extLst>
          </p:cNvPr>
          <p:cNvSpPr txBox="1"/>
          <p:nvPr/>
        </p:nvSpPr>
        <p:spPr>
          <a:xfrm>
            <a:off x="508000" y="5842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i="1" dirty="0">
                <a:solidFill>
                  <a:srgbClr val="F2F2F2"/>
                </a:solidFill>
                <a:latin typeface="Aptos"/>
              </a:rPr>
              <a:t>Four tools, one loop — capture ideas, sketch them, build them, refine the workflow.</a:t>
            </a:r>
          </a:p>
        </p:txBody>
      </p:sp>
    </p:spTree>
    <p:extLst>
      <p:ext uri="{BB962C8B-B14F-4D97-AF65-F5344CB8AC3E}">
        <p14:creationId xmlns:p14="http://schemas.microsoft.com/office/powerpoint/2010/main" val="229330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FF0CE-947B-3277-88BC-D26579B6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B1D74-5B90-AE7C-FC72-55686AF474C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B4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91060-326D-4A47-B871-0A65F38693A1}"/>
              </a:ext>
            </a:extLst>
          </p:cNvPr>
          <p:cNvSpPr txBox="1"/>
          <p:nvPr/>
        </p:nvSpPr>
        <p:spPr>
          <a:xfrm>
            <a:off x="508000" y="6223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ptos Display"/>
              </a:rPr>
              <a:t>One keystroke to rule them all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7E586-505E-4A88-8ACB-095FC8CAC593}"/>
              </a:ext>
            </a:extLst>
          </p:cNvPr>
          <p:cNvSpPr/>
          <p:nvPr/>
        </p:nvSpPr>
        <p:spPr>
          <a:xfrm>
            <a:off x="508000" y="1422400"/>
            <a:ext cx="11150600" cy="12700"/>
          </a:xfrm>
          <a:prstGeom prst="rect">
            <a:avLst/>
          </a:prstGeom>
          <a:solidFill>
            <a:srgbClr val="3A455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7BF324-1669-417B-9B13-DDD4ED53A5DD}"/>
              </a:ext>
            </a:extLst>
          </p:cNvPr>
          <p:cNvSpPr/>
          <p:nvPr/>
        </p:nvSpPr>
        <p:spPr>
          <a:xfrm>
            <a:off x="508000" y="2095500"/>
            <a:ext cx="2603500" cy="2921000"/>
          </a:xfrm>
          <a:prstGeom prst="roundRect">
            <a:avLst/>
          </a:prstGeom>
          <a:solidFill>
            <a:srgbClr val="1A1A1E"/>
          </a:solidFill>
          <a:ln w="19050" cap="flat" cmpd="sng" algn="ctr">
            <a:solidFill>
              <a:srgbClr val="8F6B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241A9-6AB6-4EF0-9EB6-6D82A032118F}"/>
              </a:ext>
            </a:extLst>
          </p:cNvPr>
          <p:cNvSpPr txBox="1"/>
          <p:nvPr/>
        </p:nvSpPr>
        <p:spPr>
          <a:xfrm>
            <a:off x="660400" y="2374900"/>
            <a:ext cx="22987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ptos Display"/>
              </a:rPr>
              <a:t>Obsidian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51CEA2-5807-4C65-BCC2-047803F8BCA5}"/>
              </a:ext>
            </a:extLst>
          </p:cNvPr>
          <p:cNvSpPr/>
          <p:nvPr/>
        </p:nvSpPr>
        <p:spPr>
          <a:xfrm>
            <a:off x="1143000" y="2908300"/>
            <a:ext cx="1333500" cy="12700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92808A-53D5-4FEE-B927-525DFAAE0942}"/>
              </a:ext>
            </a:extLst>
          </p:cNvPr>
          <p:cNvSpPr txBox="1"/>
          <p:nvPr/>
        </p:nvSpPr>
        <p:spPr>
          <a:xfrm>
            <a:off x="609600" y="3492500"/>
            <a:ext cx="24003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8F6BE8"/>
                </a:solidFill>
                <a:latin typeface="Aptos"/>
              </a:rPr>
              <a:t>Ctrl / Cmd + 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857632-8F6C-4E86-B174-0084AD6AADA3}"/>
              </a:ext>
            </a:extLst>
          </p:cNvPr>
          <p:cNvSpPr txBox="1"/>
          <p:nvPr/>
        </p:nvSpPr>
        <p:spPr>
          <a:xfrm>
            <a:off x="660400" y="4254500"/>
            <a:ext cx="22987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CCCCCC"/>
                </a:solidFill>
                <a:latin typeface="Aptos"/>
              </a:rPr>
              <a:t>Open command palette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C322FD-BA25-4A77-BB00-6F554798A34E}"/>
              </a:ext>
            </a:extLst>
          </p:cNvPr>
          <p:cNvSpPr/>
          <p:nvPr/>
        </p:nvSpPr>
        <p:spPr>
          <a:xfrm>
            <a:off x="3365500" y="2095500"/>
            <a:ext cx="2603500" cy="2921000"/>
          </a:xfrm>
          <a:prstGeom prst="roundRect">
            <a:avLst/>
          </a:prstGeom>
          <a:solidFill>
            <a:srgbClr val="1A1A1E"/>
          </a:solidFill>
          <a:ln w="19050" cap="flat" cmpd="sng" algn="ctr">
            <a:solidFill>
              <a:srgbClr val="4EC9B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4831C9-1B08-4F67-B853-185A25169BE0}"/>
              </a:ext>
            </a:extLst>
          </p:cNvPr>
          <p:cNvSpPr txBox="1"/>
          <p:nvPr/>
        </p:nvSpPr>
        <p:spPr>
          <a:xfrm>
            <a:off x="3517900" y="2374900"/>
            <a:ext cx="22987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ptos Display"/>
              </a:rPr>
              <a:t>Excalidraw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815687-5570-49AD-AC7B-2A6AE019A7B2}"/>
              </a:ext>
            </a:extLst>
          </p:cNvPr>
          <p:cNvSpPr/>
          <p:nvPr/>
        </p:nvSpPr>
        <p:spPr>
          <a:xfrm>
            <a:off x="4000500" y="2908300"/>
            <a:ext cx="1333500" cy="1270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13B2D-11CD-484C-9937-84C64A89A7AE}"/>
              </a:ext>
            </a:extLst>
          </p:cNvPr>
          <p:cNvSpPr txBox="1"/>
          <p:nvPr/>
        </p:nvSpPr>
        <p:spPr>
          <a:xfrm>
            <a:off x="3467100" y="3492500"/>
            <a:ext cx="24003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EC9B0"/>
                </a:solidFill>
                <a:latin typeface="Aptos"/>
              </a:rPr>
              <a:t>Ctrl / Cmd + 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321C2F-E01B-4D54-A9A2-70638342A2B3}"/>
              </a:ext>
            </a:extLst>
          </p:cNvPr>
          <p:cNvSpPr txBox="1"/>
          <p:nvPr/>
        </p:nvSpPr>
        <p:spPr>
          <a:xfrm>
            <a:off x="3517900" y="4254500"/>
            <a:ext cx="22987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CCCCCC"/>
                </a:solidFill>
                <a:latin typeface="Aptos"/>
              </a:rPr>
              <a:t>Open command palette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455D02-B68F-40BF-87AF-2013822E8E5F}"/>
              </a:ext>
            </a:extLst>
          </p:cNvPr>
          <p:cNvSpPr/>
          <p:nvPr/>
        </p:nvSpPr>
        <p:spPr>
          <a:xfrm>
            <a:off x="6223000" y="2095500"/>
            <a:ext cx="2603500" cy="2921000"/>
          </a:xfrm>
          <a:prstGeom prst="roundRect">
            <a:avLst/>
          </a:prstGeom>
          <a:solidFill>
            <a:srgbClr val="1A1A1E"/>
          </a:solidFill>
          <a:ln w="19050" cap="flat" cmpd="sng" algn="ctr">
            <a:solidFill>
              <a:srgbClr val="007AC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FB03A8-9F49-4A8B-804A-FFF5AA8C6775}"/>
              </a:ext>
            </a:extLst>
          </p:cNvPr>
          <p:cNvSpPr txBox="1"/>
          <p:nvPr/>
        </p:nvSpPr>
        <p:spPr>
          <a:xfrm>
            <a:off x="6375400" y="2374900"/>
            <a:ext cx="22987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ptos Display"/>
              </a:rPr>
              <a:t>VS Code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68049C-8B70-42B1-98F0-35F444C54D7A}"/>
              </a:ext>
            </a:extLst>
          </p:cNvPr>
          <p:cNvSpPr/>
          <p:nvPr/>
        </p:nvSpPr>
        <p:spPr>
          <a:xfrm>
            <a:off x="6858000" y="2908300"/>
            <a:ext cx="1333500" cy="12700"/>
          </a:xfrm>
          <a:prstGeom prst="rect">
            <a:avLst/>
          </a:prstGeom>
          <a:solidFill>
            <a:srgbClr val="007AC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8304D2-590F-4348-B1F3-AC3F87C6F3A9}"/>
              </a:ext>
            </a:extLst>
          </p:cNvPr>
          <p:cNvSpPr txBox="1"/>
          <p:nvPr/>
        </p:nvSpPr>
        <p:spPr>
          <a:xfrm>
            <a:off x="6324600" y="3492500"/>
            <a:ext cx="24003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7ACC"/>
                </a:solidFill>
                <a:latin typeface="Aptos"/>
              </a:rPr>
              <a:t>Ctrl / Cmd + Shift + 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A960B4-725D-4D13-B8E9-9740C24AD71B}"/>
              </a:ext>
            </a:extLst>
          </p:cNvPr>
          <p:cNvSpPr txBox="1"/>
          <p:nvPr/>
        </p:nvSpPr>
        <p:spPr>
          <a:xfrm>
            <a:off x="6375400" y="4254500"/>
            <a:ext cx="22987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CCCCCC"/>
                </a:solidFill>
                <a:latin typeface="Aptos"/>
              </a:rPr>
              <a:t>Open command palette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E965331-2C56-4DDE-8EDF-B6EDEDDB3426}"/>
              </a:ext>
            </a:extLst>
          </p:cNvPr>
          <p:cNvSpPr/>
          <p:nvPr/>
        </p:nvSpPr>
        <p:spPr>
          <a:xfrm>
            <a:off x="9080500" y="2095500"/>
            <a:ext cx="2603500" cy="2921000"/>
          </a:xfrm>
          <a:prstGeom prst="roundRect">
            <a:avLst/>
          </a:prstGeom>
          <a:solidFill>
            <a:srgbClr val="1A1A1E"/>
          </a:solidFill>
          <a:ln w="19050" cap="flat" cmpd="sng" algn="ctr">
            <a:solidFill>
              <a:srgbClr val="F4877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6F801A-6969-4B1F-A426-68F0FC45D2E3}"/>
              </a:ext>
            </a:extLst>
          </p:cNvPr>
          <p:cNvSpPr txBox="1"/>
          <p:nvPr/>
        </p:nvSpPr>
        <p:spPr>
          <a:xfrm>
            <a:off x="9232900" y="2374900"/>
            <a:ext cx="22987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ptos Display"/>
              </a:rPr>
              <a:t>PowerToys Run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38BCF1-DF86-49A0-9C1C-43A793132AC1}"/>
              </a:ext>
            </a:extLst>
          </p:cNvPr>
          <p:cNvSpPr/>
          <p:nvPr/>
        </p:nvSpPr>
        <p:spPr>
          <a:xfrm>
            <a:off x="9715500" y="2908300"/>
            <a:ext cx="1333500" cy="12700"/>
          </a:xfrm>
          <a:prstGeom prst="rect">
            <a:avLst/>
          </a:prstGeom>
          <a:solidFill>
            <a:srgbClr val="F4877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182245-84F8-41F8-B79A-8785F4D16A7F}"/>
              </a:ext>
            </a:extLst>
          </p:cNvPr>
          <p:cNvSpPr txBox="1"/>
          <p:nvPr/>
        </p:nvSpPr>
        <p:spPr>
          <a:xfrm>
            <a:off x="9182100" y="3492500"/>
            <a:ext cx="24003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48771"/>
                </a:solidFill>
                <a:latin typeface="Aptos"/>
              </a:rPr>
              <a:t>Alt + Space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7E6FF-0FCB-440B-A695-6CCC11FB832A}"/>
              </a:ext>
            </a:extLst>
          </p:cNvPr>
          <p:cNvSpPr txBox="1"/>
          <p:nvPr/>
        </p:nvSpPr>
        <p:spPr>
          <a:xfrm>
            <a:off x="9232900" y="4254500"/>
            <a:ext cx="22987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CCCCCC"/>
                </a:solidFill>
                <a:latin typeface="Aptos"/>
              </a:rPr>
              <a:t>Search anything, anywhere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FEF3AE-1599-4774-9BD8-3340E6765D04}"/>
              </a:ext>
            </a:extLst>
          </p:cNvPr>
          <p:cNvSpPr txBox="1"/>
          <p:nvPr/>
        </p:nvSpPr>
        <p:spPr>
          <a:xfrm>
            <a:off x="508000" y="5842000"/>
            <a:ext cx="111760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F2F2F2"/>
                </a:solidFill>
                <a:latin typeface="Aptos"/>
              </a:rPr>
              <a:t>One muscle — one keystroke, search anything, jump anywhere.</a:t>
            </a:r>
          </a:p>
        </p:txBody>
      </p:sp>
    </p:spTree>
    <p:extLst>
      <p:ext uri="{BB962C8B-B14F-4D97-AF65-F5344CB8AC3E}">
        <p14:creationId xmlns:p14="http://schemas.microsoft.com/office/powerpoint/2010/main" val="3540354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AEF65-1025-0A08-D4A5-42BA38BD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7E1FC1-901A-845F-77DC-E724DD8DD34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55F3F1-D992-50E6-F1BE-0828C2EAE9CB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547DB5-C906-0035-2E0E-6E8837D09CE4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DC9E149-947D-150E-1A03-7B5CEFC6E068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3E07C17-4386-E1FE-B35E-D67DBDAD564D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A17F56E-2242-7999-3AA1-C4E6DC498BD6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D73FF83-AD45-FF36-2372-01F3FFD8B28B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587BBE-229E-7A8B-CF49-F3776C52E7F5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4F8054B-91F5-FDE3-6C69-2A31C3EF67F1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E1D7AE0-7E29-DF96-6797-44697512B9F2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5B249BA-5454-1091-EE57-FE3FB2C94714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4B2FCDE-95F1-D052-E63F-FA44CA033A72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3B0E85E-2C00-3580-DED4-2757260F28DE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D621BAA-F93C-50FD-3BD5-42455B31A32A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54F7F8E-2E92-2D2E-ABF3-CEDD4642BF6F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394D630-73FC-348D-9415-5FD6490DEC78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EA4017F-5079-E485-6821-0EDEB3854CF9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1EA992B-CEFA-3357-F23C-513AC3D6B423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CCC5BA9-4A7B-D8C0-C4F5-7500439EB243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B584D47-8EEB-5C37-66D8-97B187478FF1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B198F30-8723-5C01-B8E7-8638CE866642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8EA2C17-4445-A0EA-2609-25E96D877930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70F479C-BD87-28E1-B06D-E80F0CC41C93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4428233-77DB-629C-2E9A-6CFD6A1033BF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7486653-69C9-F144-0079-D31A7760968D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EA43032-AC40-4424-E58D-4A17256686D1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50C9309-C064-1565-D874-9234EED25FFA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0C42AD6-2048-03C9-EC8D-C5097A38E729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C48D5A9-E994-2E73-F06E-E4A066D70DDD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86A1D55-6EEC-2381-0517-E3DD64A7FC87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7ACCF76-D7C2-DEAC-5B34-9B16E3F7CFAB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8363551-B467-2443-1223-F9C4046E6392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24C2C6E-C65D-4541-2668-1FD12DCE5DF1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E5BA968-3B07-C494-01B8-CA7EEC561C05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2641B44-7E83-0C3E-A311-ED76812286B5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F9DF4DB-0A3E-9B7C-25F7-DA092E504808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Obsidian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FF284F4-6B40-16E2-1E60-D7DC837EAF83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Capture notes, links, and ideas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4249F54-B091-B0E8-A557-20CC2F566086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86D23F2-5684-4016-7E4C-ED0EAF514701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7F5327C-20EA-1C7D-4ED5-719D8B5A142C}"/>
              </a:ext>
            </a:extLst>
          </p:cNvPr>
          <p:cNvSpPr/>
          <p:nvPr/>
        </p:nvSpPr>
        <p:spPr>
          <a:xfrm>
            <a:off x="1152144" y="3163824"/>
            <a:ext cx="1993392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610E83B-4A64-7E36-BBC9-76C411A42186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B6CE1CC-85EA-3024-8241-439017ADA2A9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AA3F858-CF68-F407-CF2A-2C6B314E58CB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4B1E86A-FFF7-0C01-F630-BA028FEE0856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5351B543-4063-6A0D-E1B7-11F4A6EE13AF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A02E0A9-53BD-B25C-49CA-8126050CF388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02BFED2-EE56-DCAA-A69B-DE71F1CD20E5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FB5DA4D2-45E8-F509-122E-7CCE6EEC5C7B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B065C73-F2AA-556D-4A3B-F9DB01EDC3F5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CD258C7-9AD4-9892-AB24-8A67793F4D53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36DC97D-4592-60D9-C1A6-1BBD350F4B04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1446E9C1-8E85-8610-21FC-983C4E204267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CBCF3BE-7BBC-25C5-5C4A-D09C8A66CD11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E2B98C5-66D5-9408-0188-5FE33433A3EF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D9D24780-C44F-EC39-111B-40019F484507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3C23FF25-1B31-8B59-2F82-98A3A5B93C28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9DAB9764-6A4A-2D35-B392-8919D3248296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F2C62996-D54C-B53D-F5C8-0C914E436A84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BB8B5EFA-1540-D414-472D-4919CF064743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62A7C25-8B7F-7E0B-2906-153298F81B92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A7732625-0BBE-2DE1-19DB-9A93CA00E25E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Obsidian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6A9BBCE0-775D-F979-3E74-86E9575CEA2C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Capture notes, links, and ideas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1EA8DFE3-737F-1E4A-5F9C-95C96F661380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Excalidraw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8A13991D-0D6F-B61A-A352-5B9714DAD685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97ABAACD-F369-85CB-BAA8-6D230A0FC7B5}"/>
              </a:ext>
            </a:extLst>
          </p:cNvPr>
          <p:cNvSpPr/>
          <p:nvPr/>
        </p:nvSpPr>
        <p:spPr>
          <a:xfrm>
            <a:off x="713232" y="5925312"/>
            <a:ext cx="35814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66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595628"/>
            <a:ext cx="2880360" cy="2880360"/>
          </a:xfrm>
          <a:prstGeom prst="roundRect">
            <a:avLst/>
          </a:prstGeom>
          <a:solidFill>
            <a:srgbClr val="252526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obsidia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9352" y="1357346"/>
            <a:ext cx="5967864" cy="3356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5968" y="24003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 Display"/>
              </a:rPr>
              <a:t>OBSIDIAN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836087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800" b="0" dirty="0">
                <a:solidFill>
                  <a:srgbClr val="F2F2F2"/>
                </a:solidFill>
                <a:latin typeface="Aptos"/>
              </a:rPr>
              <a:t>Capture notes, links, and ideas in one flexible knowledge 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014322"/>
            <a:ext cx="53035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https://obsidian.md/</a:t>
            </a:r>
            <a:endParaRPr sz="2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9842DB8-27DD-470A-BA50-4473033BEB14}"/>
              </a:ext>
            </a:extLst>
          </p:cNvPr>
          <p:cNvSpPr txBox="1"/>
          <p:nvPr/>
        </p:nvSpPr>
        <p:spPr>
          <a:xfrm>
            <a:off x="4318000" y="2057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8F6BE8"/>
                </a:solidFill>
                <a:latin typeface="Aptos"/>
              </a:rPr>
              <a:t>01  ·  CAPTURE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0C1D4-1300-4B55-976E-68038BA85ADF}"/>
              </a:ext>
            </a:extLst>
          </p:cNvPr>
          <p:cNvSpPr txBox="1"/>
          <p:nvPr/>
        </p:nvSpPr>
        <p:spPr>
          <a:xfrm>
            <a:off x="4318000" y="5080000"/>
            <a:ext cx="5308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8F6BE8"/>
                </a:solidFill>
                <a:latin typeface="Aptos"/>
              </a:rPr>
              <a:t>WHAT YOU'LL SEE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4F89E0-E6A2-407A-9C42-2BE0D852EB73}"/>
              </a:ext>
            </a:extLst>
          </p:cNvPr>
          <p:cNvSpPr txBox="1"/>
          <p:nvPr/>
        </p:nvSpPr>
        <p:spPr>
          <a:xfrm>
            <a:off x="4318000" y="5410200"/>
            <a:ext cx="736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2F2F2"/>
                </a:solidFill>
                <a:latin typeface="Aptos"/>
              </a:rPr>
              <a:t>Fallout-themed vault  ·  </a:t>
            </a:r>
            <a:r>
              <a:rPr lang="en-US" sz="1600" dirty="0" err="1">
                <a:solidFill>
                  <a:srgbClr val="F2F2F2"/>
                </a:solidFill>
                <a:latin typeface="Aptos"/>
              </a:rPr>
              <a:t>Dataview</a:t>
            </a:r>
            <a:r>
              <a:rPr lang="en-US" sz="1600" dirty="0">
                <a:solidFill>
                  <a:srgbClr val="F2F2F2"/>
                </a:solidFill>
                <a:latin typeface="Aptos"/>
              </a:rPr>
              <a:t>  ·  Canvas  ·  Templates &amp; plugins</a:t>
            </a:r>
          </a:p>
        </p:txBody>
      </p:sp>
    </p:spTree>
    <p:extLst>
      <p:ext uri="{BB962C8B-B14F-4D97-AF65-F5344CB8AC3E}">
        <p14:creationId xmlns:p14="http://schemas.microsoft.com/office/powerpoint/2010/main" val="162400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47368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2800" dirty="0">
                <a:solidFill>
                  <a:schemeClr val="bg1"/>
                </a:solidFill>
              </a:rPr>
              <a:t>Don’t pick a tool — pick a habit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5000" y="1783080"/>
            <a:ext cx="10922000" cy="4297680"/>
          </a:xfrm>
          <a:prstGeom prst="roundRect">
            <a:avLst/>
          </a:prstGeom>
          <a:solidFill>
            <a:srgbClr val="242424"/>
          </a:solidFill>
          <a:ln w="22860" cap="flat" cmpd="sng" algn="ctr">
            <a:solidFill>
              <a:srgbClr val="8F6B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09728" rtlCol="0" anchor="t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3200" dirty="0"/>
              <a:t>Beware the trap: spending more time </a:t>
            </a:r>
            <a:r>
              <a:rPr lang="en-US" sz="3200" b="1" dirty="0"/>
              <a:t>choosing</a:t>
            </a:r>
            <a:r>
              <a:rPr lang="en-US" sz="3200" dirty="0"/>
              <a:t> than </a:t>
            </a:r>
            <a:r>
              <a:rPr lang="en-US" sz="3200" b="1" dirty="0"/>
              <a:t>using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3200" dirty="0"/>
              <a:t>Your notes should serve </a:t>
            </a:r>
            <a:r>
              <a:rPr lang="en-US" sz="3200" i="1" dirty="0"/>
              <a:t>your work</a:t>
            </a:r>
            <a:r>
              <a:rPr lang="en-US" sz="3200" dirty="0"/>
              <a:t>, not become the work</a:t>
            </a:r>
          </a:p>
          <a:p>
            <a:pPr>
              <a:buNone/>
              <a:defRPr/>
            </a:pPr>
            <a:endParaRPr lang="en-US" sz="2000" dirty="0"/>
          </a:p>
          <a:p>
            <a:pPr algn="ctr">
              <a:buNone/>
              <a:defRPr/>
            </a:pPr>
            <a:endParaRPr lang="en-US" sz="2400" dirty="0">
              <a:solidFill>
                <a:srgbClr val="8F6BE8"/>
              </a:solidFill>
            </a:endParaRPr>
          </a:p>
          <a:p>
            <a:pPr algn="ctr">
              <a:buNone/>
              <a:defRPr/>
            </a:pPr>
            <a:r>
              <a:rPr lang="en-US" sz="4000" dirty="0">
                <a:solidFill>
                  <a:srgbClr val="8F6BE8"/>
                </a:solidFill>
              </a:rPr>
              <a:t>If you have a system that works — </a:t>
            </a:r>
            <a:r>
              <a:rPr lang="en-US" sz="4000" b="1" dirty="0">
                <a:solidFill>
                  <a:srgbClr val="8F6BE8"/>
                </a:solidFill>
              </a:rPr>
              <a:t>keep using it.</a:t>
            </a:r>
          </a:p>
        </p:txBody>
      </p:sp>
    </p:spTree>
    <p:extLst>
      <p:ext uri="{BB962C8B-B14F-4D97-AF65-F5344CB8AC3E}">
        <p14:creationId xmlns:p14="http://schemas.microsoft.com/office/powerpoint/2010/main" val="2039669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93990"/>
            <a:ext cx="437305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Why Obsidian?</a:t>
            </a:r>
          </a:p>
          <a:p>
            <a:pPr lvl="0">
              <a:buNone/>
              <a:defRPr/>
            </a:pPr>
            <a:r>
              <a:rPr lang="en-US" sz="1800" dirty="0">
                <a:solidFill>
                  <a:srgbClr val="F2F2F2"/>
                </a:solidFill>
                <a:latin typeface="Aptos"/>
              </a:rPr>
              <a:t>Your second brain for technical knowledge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0924391" cy="4023360"/>
          </a:xfrm>
          <a:prstGeom prst="roundRect">
            <a:avLst/>
          </a:prstGeom>
          <a:solidFill>
            <a:srgbClr val="242424"/>
          </a:solidFill>
          <a:ln w="22860" cap="flat" cmpd="sng" algn="ctr">
            <a:solidFill>
              <a:srgbClr val="8F6B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Plain-text files you actually own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— no vendor lock-in, open with any editor forever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Bidirectional links build a knowledge graph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— see how ideas connect across your whole vault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Dataview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turns your notes into a queryable database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— filter and aggregate frontmatter like a spreadsheet</a:t>
            </a:r>
          </a:p>
        </p:txBody>
      </p:sp>
    </p:spTree>
    <p:extLst>
      <p:ext uri="{BB962C8B-B14F-4D97-AF65-F5344CB8AC3E}">
        <p14:creationId xmlns:p14="http://schemas.microsoft.com/office/powerpoint/2010/main" val="427683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77724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Conference Tracker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3632" y="597915"/>
            <a:ext cx="10378440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762000"/>
            <a:ext cx="10607040" cy="5334000"/>
          </a:xfrm>
          <a:prstGeom prst="roundRect">
            <a:avLst/>
          </a:prstGeom>
          <a:solidFill>
            <a:srgbClr val="282828"/>
          </a:solidFill>
          <a:ln w="19050" cap="flat" cmpd="sng" algn="ctr">
            <a:solidFill>
              <a:srgbClr val="8F6B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96842-B701-43FD-BA94-B63A7EC73B3C}"/>
              </a:ext>
            </a:extLst>
          </p:cNvPr>
          <p:cNvSpPr txBox="1"/>
          <p:nvPr/>
        </p:nvSpPr>
        <p:spPr>
          <a:xfrm>
            <a:off x="762000" y="6223000"/>
            <a:ext cx="1061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F2F2F2"/>
                </a:solidFill>
              </a:rPr>
              <a:t>A live Dataview query against my conference YAML frontmatter — no spreadsheet required.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07B542-457B-83F5-ECA6-0BA3BC84D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02099" y="829888"/>
            <a:ext cx="6521505" cy="51982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F6B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58800"/>
            <a:ext cx="274145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Obsidian —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4300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8000" y="1447800"/>
            <a:ext cx="11150600" cy="4902200"/>
          </a:xfrm>
          <a:prstGeom prst="roundRect">
            <a:avLst/>
          </a:prstGeom>
          <a:solidFill>
            <a:srgbClr val="242424"/>
          </a:solidFill>
          <a:ln w="22860" cap="flat" cmpd="sng" algn="ctr">
            <a:solidFill>
              <a:srgbClr val="8F6B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3048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Let’s walk the vault.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CE46282-40D8-443C-970E-B793B24C42A9}"/>
              </a:ext>
            </a:extLst>
          </p:cNvPr>
          <p:cNvSpPr txBox="1"/>
          <p:nvPr/>
        </p:nvSpPr>
        <p:spPr>
          <a:xfrm>
            <a:off x="508000" y="254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8F6BE8"/>
                </a:solidFill>
                <a:latin typeface="Aptos"/>
              </a:rPr>
              <a:t>01  ·  CAPTURE  ·  DEMO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0F4A8-1D1F-DD6C-1006-C493CB69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9D94AF-88FD-BF75-B568-CD5CC1CDC7C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B79842-C6CA-39EF-62DD-72B8A5C76A60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4535869-8CDF-156B-6E37-D4EAC823728C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287DAF-49AC-9D98-E934-FA6451AD9234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AA50909-1856-C19A-C74A-B2CC44948849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EBF0A88-6444-0B14-2B24-00AA1D5E7FD4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09B492F-5E4A-9A34-287F-9BF672ABFF4C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505FDC9-62BC-59A7-C366-B6A3AF479A77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7BECC03-5600-D410-A91D-A32208F9E553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6164388-39B4-0661-E3A4-A02B7C8CF35E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9990E1F-411A-99AA-2685-E03E5A0ABC9D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4DFC286-637E-3A44-76D8-240F1DB6C439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F2A08A2-9D5D-8E85-601F-2922B9607F08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AF06A1A-97A7-8575-8A68-BD18BBBA783B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72A7D0A-A8E4-E376-3257-E59004DAC88D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DD1D330-0A93-23CA-0DEC-E512666DC772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08B9DFE-6D17-26D4-EE37-84424D98A0B6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866D387-A65F-2572-9721-31493FC35233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219ECA0-ED0F-438F-338D-7B7C9C5F0495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19B1842-8FDE-AB36-9878-9965144DCFE9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AEBAEB1-7408-0330-EC4A-01E782B63FD7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6453289-2520-BF5C-55CC-D067623C26F9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6643150-91D4-08A2-525D-AAD23BE5DFA6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59CEEDB-F599-D6BD-7CA9-7D2F8D261093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7344902-CA82-2A38-C48B-F5CD5392AA6B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C52E475-FC9B-C75F-D046-2A26EBABDDEE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206C3B7-EB51-28BF-8C73-8A61D2D2BF31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29ED0BD-17BA-EED9-6135-959C3964D9B5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084ECFE-921E-470B-0EDC-992B5DB988ED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D0D8A07-0ADE-E9D6-14F3-269D3518FB2C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C7D37D9-0E0F-A32A-169A-C4A77200CE76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12AF7CE-F695-FABB-6E9D-CE8D1DE50965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F009908-A2DC-1854-4DA9-BDD8873ACD82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F4E6949-F321-557D-73F6-8399FD47CDA8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B742016-EB5E-144B-82E9-B5DB6D4E78D0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F3FD284-E080-BBCA-9B84-B4111254C2DE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Excalidraw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4403242-FA29-E2DB-D3AE-636D0685B76C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Visualize systems and workflows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8C3A3B3-081D-EFFC-535C-8C4821B8E694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8326C64D-A287-946F-B36D-5DF9601C30D1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22894D9-49A5-1041-4F6F-47FAC969DF3F}"/>
              </a:ext>
            </a:extLst>
          </p:cNvPr>
          <p:cNvSpPr/>
          <p:nvPr/>
        </p:nvSpPr>
        <p:spPr>
          <a:xfrm>
            <a:off x="1152144" y="3163824"/>
            <a:ext cx="3986784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8D90DDC-C6DA-FB65-191A-88949EEACA30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375228F-C2CD-8869-5204-0988C80E0181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9D1F18A-0CAB-B4D8-2A5D-868A2770D222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B42CB976-7BD2-9176-5094-29ADE4C8C523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461DD1CB-DA99-E0A5-ED52-53CD6798F7F5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0E00ABA5-C8CF-C8E8-B548-C545C11AAC77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A99D7FDE-422F-6CFD-3E92-94E48536F357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D891322-A957-216D-1501-29F3F53242D4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CBC6CEDE-2269-DC0C-E05B-5A684F26C90A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567CA0B-7D11-E3AD-B2CA-826617D107F0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237D69F-5ECF-43FF-29F9-FB73C472F950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B560AF4-DAD7-CB58-F401-F0D11C5408F6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6B9AE865-DD9A-2557-F960-A1D119494CA3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D3E94636-8E19-B84A-9BF8-E976743F779E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496ABFA-42CC-187A-9DA2-8C6D340E8F5E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DE4F5A04-A257-9B00-2DEA-F6F64A8B49D0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385B6834-C266-E840-213B-2D3959E29B35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0DD270ED-68E9-D4E6-E474-2B1883DAF251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79EA5169-063A-0309-1D38-22AAA5C636BF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710608E3-846D-CB99-1B12-F10E1CB98197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20378717-CD2D-7B2C-2315-AB12F4FD5D31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Excalidraw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53A336E6-D6A7-B592-4826-DDC9EADC067F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Visualize systems and workflows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13C3718-AF6C-4E62-26F6-5BC3212D3E22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VS Code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3AF52F6B-6770-833E-61EA-F766C99C62C5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640D7C14-ABD1-74B6-9124-46F9241C311D}"/>
              </a:ext>
            </a:extLst>
          </p:cNvPr>
          <p:cNvSpPr/>
          <p:nvPr/>
        </p:nvSpPr>
        <p:spPr>
          <a:xfrm>
            <a:off x="713232" y="5925312"/>
            <a:ext cx="53721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681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595628"/>
            <a:ext cx="2880360" cy="2880360"/>
          </a:xfrm>
          <a:prstGeom prst="roundRect">
            <a:avLst/>
          </a:prstGeom>
          <a:solidFill>
            <a:srgbClr val="252526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15968" y="24003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EXCALIDRAW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836087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800" b="0" dirty="0">
                <a:solidFill>
                  <a:srgbClr val="F2F2F2"/>
                </a:solidFill>
                <a:latin typeface="Aptos"/>
              </a:rPr>
              <a:t>Visualize systems and workflows quickly without presentation friction.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000500"/>
            <a:ext cx="53035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https://excalidraw.com/</a:t>
            </a:r>
            <a:endParaRPr sz="2400" b="0" dirty="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1906524"/>
            <a:ext cx="2267712" cy="2267712"/>
          </a:xfrm>
          <a:prstGeom prst="rect">
            <a:avLst/>
          </a:prstGeom>
        </p:spPr>
      </p:pic>
      <p:sp>
        <p:nvSpPr>
          <p:cNvPr id="3" name="Eyebrow">
            <a:extLst>
              <a:ext uri="{FF2B5EF4-FFF2-40B4-BE49-F238E27FC236}">
                <a16:creationId xmlns:a16="http://schemas.microsoft.com/office/drawing/2014/main" id="{3F650E6A-6E91-4E90-B948-1DA808D4F519}"/>
              </a:ext>
            </a:extLst>
          </p:cNvPr>
          <p:cNvSpPr txBox="1"/>
          <p:nvPr/>
        </p:nvSpPr>
        <p:spPr>
          <a:xfrm>
            <a:off x="4318000" y="2057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4EC9B0"/>
                </a:solidFill>
                <a:latin typeface="Aptos"/>
              </a:rPr>
              <a:t>02  ·  VISUALIZE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B9883-B555-422D-B945-CA144F117A69}"/>
              </a:ext>
            </a:extLst>
          </p:cNvPr>
          <p:cNvSpPr txBox="1"/>
          <p:nvPr/>
        </p:nvSpPr>
        <p:spPr>
          <a:xfrm>
            <a:off x="4318000" y="5080000"/>
            <a:ext cx="5308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EC9B0"/>
                </a:solidFill>
                <a:latin typeface="Aptos"/>
              </a:rPr>
              <a:t>WHAT YOU'LL SEE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1B41E-7532-4397-B6B0-C9298576FE9C}"/>
              </a:ext>
            </a:extLst>
          </p:cNvPr>
          <p:cNvSpPr txBox="1"/>
          <p:nvPr/>
        </p:nvSpPr>
        <p:spPr>
          <a:xfrm>
            <a:off x="4318000" y="54102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F2F2F2"/>
                </a:solidFill>
                <a:latin typeface="Aptos"/>
              </a:rPr>
              <a:t>AWS architecture  ·  Microsoft Fabric diagram  ·  a fun Fallout sketch</a:t>
            </a:r>
          </a:p>
        </p:txBody>
      </p:sp>
    </p:spTree>
    <p:extLst>
      <p:ext uri="{BB962C8B-B14F-4D97-AF65-F5344CB8AC3E}">
        <p14:creationId xmlns:p14="http://schemas.microsoft.com/office/powerpoint/2010/main" val="3376903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500000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Why Excalidraw?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1018520" cy="4498848"/>
          </a:xfrm>
          <a:prstGeom prst="roundRect">
            <a:avLst/>
          </a:prstGeom>
          <a:solidFill>
            <a:srgbClr val="242424"/>
          </a:solidFill>
          <a:ln w="22860" cap="flat" cmpd="sng" algn="ctr">
            <a:solidFill>
              <a:srgbClr val="4EC9B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Diagrams at the speed of thought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	— no UI friction, just sketch and ship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One-click icon libraries for any stack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AAAAAA"/>
                </a:solidFill>
                <a:latin typeface="Aptos"/>
              </a:rPr>
              <a:t>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— AWS, Azure, flowcharts, and more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Embeds directly inside Obsidian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AAAAAA"/>
                </a:solidFill>
                <a:latin typeface="Aptos"/>
              </a:rPr>
              <a:t>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— diagrams live right beside your notes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2F8692-C2B1-7AD7-A266-2544EF04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D22360-C97D-F40F-094F-8ED9AC7A9C1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4DA47-0866-3A81-136B-3CF1A5236BA7}"/>
              </a:ext>
            </a:extLst>
          </p:cNvPr>
          <p:cNvSpPr txBox="1"/>
          <p:nvPr/>
        </p:nvSpPr>
        <p:spPr>
          <a:xfrm>
            <a:off x="685800" y="566928"/>
            <a:ext cx="77724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Hand Drawn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7D595C-4928-7216-DB1D-C724EAB1A194}"/>
              </a:ext>
            </a:extLst>
          </p:cNvPr>
          <p:cNvSpPr/>
          <p:nvPr/>
        </p:nvSpPr>
        <p:spPr>
          <a:xfrm>
            <a:off x="685800" y="1033271"/>
            <a:ext cx="10378440" cy="18288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3FCF11-FD71-A6FB-4A01-1EB8E16153BB}"/>
              </a:ext>
            </a:extLst>
          </p:cNvPr>
          <p:cNvSpPr/>
          <p:nvPr/>
        </p:nvSpPr>
        <p:spPr>
          <a:xfrm>
            <a:off x="777240" y="1508760"/>
            <a:ext cx="10607040" cy="5046280"/>
          </a:xfrm>
          <a:prstGeom prst="roundRect">
            <a:avLst/>
          </a:prstGeom>
          <a:solidFill>
            <a:srgbClr val="282828"/>
          </a:solidFill>
          <a:ln w="19050" cap="flat" cmpd="sng" algn="ctr">
            <a:solidFill>
              <a:srgbClr val="4EC9B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F26D26-86BA-B260-F07D-98A79BD8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734" y="1608090"/>
            <a:ext cx="3714286" cy="441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40C4E-A72E-8B38-E9B0-E5F8B322C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608090"/>
            <a:ext cx="3628571" cy="4419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C55A1C-9546-4E79-BD0E-A5137DBAFDC7}"/>
              </a:ext>
            </a:extLst>
          </p:cNvPr>
          <p:cNvSpPr txBox="1"/>
          <p:nvPr/>
        </p:nvSpPr>
        <p:spPr>
          <a:xfrm>
            <a:off x="2159000" y="6121400"/>
            <a:ext cx="3708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F2F2F2"/>
                </a:solidFill>
              </a:rPr>
              <a:t>Excalidraw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6129A-63F9-4E36-A1CF-2DC4D301CE27}"/>
              </a:ext>
            </a:extLst>
          </p:cNvPr>
          <p:cNvSpPr txBox="1"/>
          <p:nvPr/>
        </p:nvSpPr>
        <p:spPr>
          <a:xfrm>
            <a:off x="5880100" y="6121400"/>
            <a:ext cx="3632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F2F2F2"/>
                </a:solidFill>
              </a:rPr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366841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07110-31E1-F55C-C585-517780C8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B0F389-2B24-61C7-C6AA-40B8F54A3DD2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A7FC2D-524A-896F-0458-4E97133B9194}"/>
              </a:ext>
            </a:extLst>
          </p:cNvPr>
          <p:cNvSpPr txBox="1"/>
          <p:nvPr/>
        </p:nvSpPr>
        <p:spPr>
          <a:xfrm>
            <a:off x="685800" y="566928"/>
            <a:ext cx="77724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Shape Properties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26C1F5-6856-AAF9-D08A-AEB4D9AFA15F}"/>
              </a:ext>
            </a:extLst>
          </p:cNvPr>
          <p:cNvSpPr/>
          <p:nvPr/>
        </p:nvSpPr>
        <p:spPr>
          <a:xfrm>
            <a:off x="685800" y="1033271"/>
            <a:ext cx="10378440" cy="18288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263C37-DCD1-8C5A-B3AB-D10D0218B3C0}"/>
              </a:ext>
            </a:extLst>
          </p:cNvPr>
          <p:cNvSpPr/>
          <p:nvPr/>
        </p:nvSpPr>
        <p:spPr>
          <a:xfrm>
            <a:off x="777240" y="1122067"/>
            <a:ext cx="10607040" cy="4287372"/>
          </a:xfrm>
          <a:prstGeom prst="roundRect">
            <a:avLst/>
          </a:prstGeom>
          <a:solidFill>
            <a:srgbClr val="282828"/>
          </a:solidFill>
          <a:ln w="19050" cap="flat" cmpd="sng" algn="ctr">
            <a:solidFill>
              <a:srgbClr val="4EC9B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36C07735-8D23-2D5C-06B6-392586EF6730}"/>
              </a:ext>
            </a:extLst>
          </p:cNvPr>
          <p:cNvSpPr/>
          <p:nvPr/>
        </p:nvSpPr>
        <p:spPr>
          <a:xfrm>
            <a:off x="1577339" y="5554355"/>
            <a:ext cx="8595359" cy="903999"/>
          </a:xfrm>
          <a:prstGeom prst="roundRect">
            <a:avLst/>
          </a:prstGeom>
          <a:solidFill>
            <a:srgbClr val="222222"/>
          </a:solidFill>
          <a:ln w="25400"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Quirk: Can’t set sloppiness as a default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Workaround: Draw shapes, then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Ctrl+A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→ adjust all at once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6ED0BD-EE94-C3EA-8E00-34C9E4AF0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295" y="1224230"/>
            <a:ext cx="3515445" cy="408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6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58800"/>
            <a:ext cx="412164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Excalidraw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—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70000"/>
            <a:ext cx="11155680" cy="0"/>
          </a:xfrm>
          <a:prstGeom prst="line">
            <a:avLst/>
          </a:prstGeom>
          <a:ln w="15240" cap="flat" cmpd="sng" algn="ctr">
            <a:solidFill>
              <a:srgbClr val="4EC9B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8000" y="1574800"/>
            <a:ext cx="11150600" cy="4775200"/>
          </a:xfrm>
          <a:prstGeom prst="roundRect">
            <a:avLst/>
          </a:prstGeom>
          <a:solidFill>
            <a:srgbClr val="242424"/>
          </a:solidFill>
          <a:ln w="22860" cap="flat" cmpd="sng" algn="ctr">
            <a:solidFill>
              <a:srgbClr val="4EC9B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3048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Let’s sketch something out.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CF165-7F7C-4582-BB3F-04ECFC5CA7D8}"/>
              </a:ext>
            </a:extLst>
          </p:cNvPr>
          <p:cNvSpPr txBox="1"/>
          <p:nvPr/>
        </p:nvSpPr>
        <p:spPr>
          <a:xfrm>
            <a:off x="508000" y="228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4EC9B0"/>
                </a:solidFill>
                <a:latin typeface="Aptos"/>
              </a:rPr>
              <a:t>02 · VISUALIZE · DEMO</a:t>
            </a:r>
          </a:p>
        </p:txBody>
      </p:sp>
    </p:spTree>
    <p:extLst>
      <p:ext uri="{BB962C8B-B14F-4D97-AF65-F5344CB8AC3E}">
        <p14:creationId xmlns:p14="http://schemas.microsoft.com/office/powerpoint/2010/main" val="2940099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D3355-0896-19A7-2CED-A6A3022E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03EBD1-1BA9-3496-0CEA-EFAB4A61C37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AEE08B-6477-C8B3-5511-A4481594BC9D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39926C-1ACF-2841-E886-D4CD8E797407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8DE152-9EDC-A70F-705B-941426457931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A4F512-09B7-9E46-E333-973D10C8B63D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BF4E322-98B8-F166-583E-4D36AF6067EC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5518C83-57CA-E040-FB58-2CBD5D884E88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71700F4-BC16-5BE0-DDA7-3668F7BA7760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826AA70-CC0B-C01B-FDEC-B012519B0492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D5F0A24-DB11-7934-7C39-D309BD08D309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8B6517F-FA8E-7995-E32A-486ED47CCBA8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4EEF4F7-AB55-6EB1-FAA0-CAEBD94134B7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86BCEDF-3558-C9FB-6C20-6AA7E7369C8C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AC8A1DC-DD39-1529-DE3B-A0B029497F8F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6E7EAA4-EA5C-9252-D6C6-2ED121C3D49B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F19E13C-114A-D770-ADCD-C665E04BED15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ACB63FD-E0A4-B295-3D92-8C580D5DF1AD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F15E727-E4AB-5523-9AE2-0270B4D1AAE0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F8B0169-2033-99E6-B0D4-F70778E2719A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8C05D5E-04AF-2445-42F5-2FB1C1719688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AB0FDA8-CBB8-1453-639F-0162791CFC64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7E7F4B6-131A-05B1-06A0-4DC2A6D0E8C2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B423F5B-312A-B755-D3B6-3D4B10FB3875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774B1ED-47F4-3301-05B6-3D8B64E8DA06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D6DD328-D953-8398-8B26-160C0E9C8DFF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5F06D24-4037-337F-046A-9F5C200BF88E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6B7EAB1-A8D0-EC2B-4FE2-CFA0F4F87126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D54B379-9132-5092-36A4-73C7CFA52401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512138D-DA2F-4310-D036-B822FC438134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B0500F4-C147-70AC-DFAB-570DCEAB82CB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325DC4A-49EC-3033-F112-E9F926A88E4E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A244663-58CD-7BA9-0CE4-E293D3BE5846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7DC305E-7D1E-65C4-E5A2-7B3F05D1B3CA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32A7712-E1F6-DDE8-76F2-49E6E9F0D84D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1D52D3D-4FA1-83EF-7101-47F382A1606D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62E523E-1F15-F014-E34F-E989B1557FB0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VS Code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EBC72BD-6A16-6A16-8A28-5548DED59C4D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One editor for code, data, and diagrams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F38084F-56F4-1033-5ED4-4F2E7DC1A028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915C589-53FA-8E47-E720-AA3F380806EF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38E900E-E976-EC75-7809-642086451D70}"/>
              </a:ext>
            </a:extLst>
          </p:cNvPr>
          <p:cNvSpPr/>
          <p:nvPr/>
        </p:nvSpPr>
        <p:spPr>
          <a:xfrm>
            <a:off x="1152144" y="3163824"/>
            <a:ext cx="5980176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5409EB1-0B75-9F6B-D0D1-07378D1586C5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CD625845-098C-F5BD-0262-88732C945EF5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29E786B-75C3-6C25-5126-209EB950CF32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6DCD4809-4F78-D870-9D75-571B2B7753C1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F461277-1586-5616-3444-18553212ACB2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34B2025-8D2E-C9A2-BB49-3BD88A062FA1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29A83E52-0DB7-3CF7-D1DE-4F3F2B94C389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B3E1EBE-9C3F-2883-B0E4-8FDB11C24A4C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E68E94D-50F1-B24D-8A06-63BBD6B24D65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F9AF3DE-D45D-9A3A-7352-C98EE6A29EE1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7A91689-28FF-EA14-3937-43E5FDFC7A68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5B7CB6C-B738-79DE-CCE9-75CCE605AAB8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0F1FB03-9ABB-A564-EC7F-5E83FCBFDA8E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AE1E452C-B289-2CD8-5A26-2F3A812AB7E1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9BF15830-3682-99A8-1C4F-85ACAFE98D94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A6A10173-F5A7-7F89-7BAF-CC1DB2B67C40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56B7799-96AF-DD1F-6E64-C799B2C0E486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A3F7996C-C2A8-7911-29ED-B674AE942EC4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3A740142-6123-0CF1-9195-0E026BFBA61C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A30159CA-6061-3324-8614-F11728D414FF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90453BC-A598-505D-1E2C-8F8B45A48D28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VS Code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5455E47-7D45-1BF5-5F6F-D1E543748FCC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One editor for code, data, and diagrams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8945C4A8-27C8-8D4A-C359-20229DA01147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PowerToys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BC7D6678-3A8C-314B-303A-C1B9198EFCA2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E2995B8A-066F-8531-6C72-11F223BFF5E2}"/>
              </a:ext>
            </a:extLst>
          </p:cNvPr>
          <p:cNvSpPr/>
          <p:nvPr/>
        </p:nvSpPr>
        <p:spPr>
          <a:xfrm>
            <a:off x="713232" y="5925312"/>
            <a:ext cx="71628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139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595628"/>
            <a:ext cx="2880360" cy="2880360"/>
          </a:xfrm>
          <a:prstGeom prst="roundRect">
            <a:avLst/>
          </a:prstGeom>
          <a:solidFill>
            <a:srgbClr val="252526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vscode_icon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1906524"/>
            <a:ext cx="2267712" cy="2267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5968" y="2382678"/>
            <a:ext cx="45720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 Display"/>
              </a:rPr>
              <a:t>VS CODE</a:t>
            </a:r>
            <a:r>
              <a:rPr lang="en-US" sz="2600" b="1" dirty="0">
                <a:solidFill>
                  <a:srgbClr val="FFFFFF"/>
                </a:solidFill>
                <a:latin typeface="Aptos Display"/>
              </a:rPr>
              <a:t> (Visual Studio Code)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836086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800" b="0" dirty="0">
                <a:solidFill>
                  <a:srgbClr val="F2F2F2"/>
                </a:solidFill>
                <a:latin typeface="Aptos"/>
              </a:rPr>
              <a:t>The editor many data pros already use — for code, data, and diagrams.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019187"/>
            <a:ext cx="53035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https://code.visualstudio.com/</a:t>
            </a:r>
            <a:endParaRPr sz="2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73D1748-B282-468E-B818-6CA8820726BD}"/>
              </a:ext>
            </a:extLst>
          </p:cNvPr>
          <p:cNvSpPr txBox="1"/>
          <p:nvPr/>
        </p:nvSpPr>
        <p:spPr>
          <a:xfrm>
            <a:off x="4318000" y="2057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007ACC"/>
                </a:solidFill>
                <a:latin typeface="Aptos"/>
              </a:rPr>
              <a:t>04  ·  VS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8C81E-6E80-498B-B200-763AD3409444}"/>
              </a:ext>
            </a:extLst>
          </p:cNvPr>
          <p:cNvSpPr txBox="1"/>
          <p:nvPr/>
        </p:nvSpPr>
        <p:spPr>
          <a:xfrm>
            <a:off x="4318000" y="5080000"/>
            <a:ext cx="5308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07ACC"/>
                </a:solidFill>
                <a:latin typeface="Aptos"/>
              </a:rPr>
              <a:t>WHAT YOU'LL SEE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D180A0-EA6E-4125-A45F-B06CAB3A1CEE}"/>
              </a:ext>
            </a:extLst>
          </p:cNvPr>
          <p:cNvSpPr txBox="1"/>
          <p:nvPr/>
        </p:nvSpPr>
        <p:spPr>
          <a:xfrm>
            <a:off x="4318000" y="54102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F2F2F2"/>
                </a:solidFill>
                <a:latin typeface="Aptos"/>
              </a:rPr>
              <a:t>SQL on a Docker database  ·  Jupyter notebook  ·  Excalidraw diagrams</a:t>
            </a:r>
          </a:p>
        </p:txBody>
      </p:sp>
    </p:spTree>
    <p:extLst>
      <p:ext uri="{BB962C8B-B14F-4D97-AF65-F5344CB8AC3E}">
        <p14:creationId xmlns:p14="http://schemas.microsoft.com/office/powerpoint/2010/main" val="2982531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500000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Why VS Code?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Free, cross-platform, 50,000+ extensions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2200" dirty="0">
                <a:solidFill>
                  <a:srgbClr val="AAAAAA"/>
                </a:solidFill>
                <a:latin typeface="Aptos"/>
              </a:rPr>
              <a:t>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— runs on Windows, Mac, and Linux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Built for data work out of the box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2200" dirty="0">
                <a:solidFill>
                  <a:srgbClr val="AAAAAA"/>
                </a:solidFill>
                <a:latin typeface="Aptos"/>
              </a:rPr>
              <a:t>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— Jupyter notebooks, Rainbow CSV, Python, and SQL all-in-one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GitHub Copilot as your AI pair programmer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dirty="0">
                <a:solidFill>
                  <a:srgbClr val="AAAAAA"/>
                </a:solidFill>
                <a:latin typeface="Aptos"/>
              </a:rPr>
              <a:t>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— context-aware completions for code and 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254000"/>
            <a:ext cx="267708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VS Code —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3820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8000" y="1143000"/>
            <a:ext cx="11150600" cy="520700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3048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Let’s pop open the editor.</a:t>
            </a:r>
          </a:p>
        </p:txBody>
      </p:sp>
    </p:spTree>
    <p:extLst>
      <p:ext uri="{BB962C8B-B14F-4D97-AF65-F5344CB8AC3E}">
        <p14:creationId xmlns:p14="http://schemas.microsoft.com/office/powerpoint/2010/main" val="1626937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4DFDD-7CF1-60C5-3F7E-8550EFC91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5B8424-9586-220E-E01F-2F6BDE164AC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08EA63-509A-A92E-4DE8-90FDD43FA373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D10B25D-E83E-9BE9-C2C9-5C8B89D6B1CA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A253BE6-13C8-E5B0-C3AA-3C58B4B2F145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62CD4E3-D442-DD75-07B8-78C63EA65030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6A40F24-D672-4556-FC0E-8E5DBB9B7FEE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D1D94D7-F1B9-A625-DEE9-702FB9853AD6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77EFA1D-5732-77CF-1C1D-49D72B3148D9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F9FEAA7-B055-C0DA-C178-D27D17AC9D22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B31321A-B297-8284-F5F7-31F373224117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5DCCBDF-48C0-11EC-367B-C85B84560357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B18B5F4-589F-D041-AD14-2F802DA59DA5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9C66277-C010-5922-EA8C-94D30DDA6733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5DC1D75-3D27-15D6-4490-A952B968C1A5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5D28E04-3289-13D0-9472-1B976628EA6E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56E1A6E-A8F5-29E9-E0A6-C79D4BA9C9F6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30056BD-BE63-987E-F836-812E18BEBF3D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B0C4776-6E6A-E4F1-83D8-7CEA7593A43F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CF49824-41FE-A206-F9D9-2D09500C0105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D7BD43A-9474-53B8-4E08-A4D7C76285EF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4B33F8D-BEE2-7157-4C85-73FC844AA06D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8E17AB6-0948-88C7-E8EE-93390AF0C840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00851F3-F935-9F75-1C19-0A01A776F3D2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0F6CB9B-831D-2389-930B-9A3368DF07FF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3D53903-2DC7-D29D-AFBA-3E467D389EBD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55C6695-D24D-3E12-F818-BD0B6F69570F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3393326-64C9-87F0-EE40-F60489D87C7D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FCD3DB0-87DF-2DBE-6FE7-05066CDF557E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82962A0-23E1-7E7A-A9C2-33106548EAA4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BA472A2-A191-3C3F-E73E-35F7C937E931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F33BFBF-010D-807D-B68C-035E8DBE7AD2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B2C727B-992F-CF83-9ECC-41D3E09D327E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B6EE983-67C4-7109-CF10-5324041C9B15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F5CAF5A-6930-2045-9157-0215DAB383C4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C517CC1-422A-05A4-9228-8965D207D45B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8B579FC-4617-D850-8C82-B9F548EE397D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PowerToys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05CFE38-0FC8-5BCC-715C-AAC56A90D614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Optimize everyday Windows workflows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B08FB70-DADC-D061-E220-E4D224C23FAA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CBDA95C-97CC-F849-892E-2EDAC8915F76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83839E1-7C99-AEFF-8AEE-FD67267C282B}"/>
              </a:ext>
            </a:extLst>
          </p:cNvPr>
          <p:cNvSpPr/>
          <p:nvPr/>
        </p:nvSpPr>
        <p:spPr>
          <a:xfrm>
            <a:off x="1152144" y="3163824"/>
            <a:ext cx="7973568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6D46767-A756-4ABC-B2DD-3596D0A34F5F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9DBB0F4-C8FB-D4EC-B951-1279925FAE2A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0A4CE3C-EF8E-23BE-77E4-8DC6353E328C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CF3B285B-4D5F-4AD2-42DA-153B24CF8561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668BC04-67DD-E7F8-ABC3-E457489840BC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55E985D-B6AC-996C-7553-8E1AC976804B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98126D7B-BA44-5062-6E4A-45031E1D6CBF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75007E6-28FD-7AE7-999B-602D8407979C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060CD1F-55CB-7A36-A5E4-FB09EDBBE532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968E71B-B6B2-AF63-1D15-8658CA9AD6A2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C76CE78-2D08-E6CE-0895-D71C19DEC6C6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4D893272-82F5-DE96-5D91-2E357568EA53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4F54DED-3032-44E8-9388-0803077C9D60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485F57E8-040F-F3D9-68D0-E5DD4A389C18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76FC7A6D-CFF8-2DB6-B887-0F0D68097443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CAB5AAE9-B828-E5AE-7E79-A632E97E49C2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792A39D2-3F16-B7FF-B4B9-46970B473362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7FA0856B-7491-5711-9CF2-4C7F91B6FF41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4A7E79C3-04C6-BBD7-A495-FBA40C5A9F7D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924C25F9-AC08-C654-635F-70F6EBE603B8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AA6CC90-008C-0D77-FC79-B2D8CF7FB16C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PowerToys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4750F581-4E9C-8FC3-3A72-551263274EFC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Optimize everyday Windows workflows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CAB6263-344C-7848-D118-B0D2E1593C45}"/>
              </a:ext>
            </a:extLst>
          </p:cNvPr>
          <p:cNvSpPr/>
          <p:nvPr/>
        </p:nvSpPr>
        <p:spPr>
          <a:xfrm>
            <a:off x="7955280" y="4809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Next: Wrap-Up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E6A8D564-B8DF-43EC-04E3-EAA411AB1205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400B32F2-3F12-6E00-EFF9-520249DD02F3}"/>
              </a:ext>
            </a:extLst>
          </p:cNvPr>
          <p:cNvSpPr/>
          <p:nvPr/>
        </p:nvSpPr>
        <p:spPr>
          <a:xfrm>
            <a:off x="713232" y="5925312"/>
            <a:ext cx="89535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8141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877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595628"/>
            <a:ext cx="2880360" cy="2880360"/>
          </a:xfrm>
          <a:prstGeom prst="roundRect">
            <a:avLst/>
          </a:prstGeom>
          <a:solidFill>
            <a:srgbClr val="252526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owerto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34" y="1042953"/>
            <a:ext cx="3629092" cy="36290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5968" y="24003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 Display"/>
              </a:rPr>
              <a:t>POWERTOYS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836087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800" b="0" dirty="0">
                <a:solidFill>
                  <a:srgbClr val="F2F2F2"/>
                </a:solidFill>
                <a:latin typeface="Aptos"/>
              </a:rPr>
              <a:t>Optimize everyday Windows workflows with fast keyboard-driven utilities.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7" y="3988746"/>
            <a:ext cx="638789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learn.microsoft.com/windows/powertoys/</a:t>
            </a:r>
            <a:endParaRPr sz="2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2EBBE2D-7269-4D0E-B455-675048432C53}"/>
              </a:ext>
            </a:extLst>
          </p:cNvPr>
          <p:cNvSpPr txBox="1"/>
          <p:nvPr/>
        </p:nvSpPr>
        <p:spPr>
          <a:xfrm>
            <a:off x="4318000" y="2057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48771"/>
                </a:solidFill>
                <a:latin typeface="Aptos"/>
              </a:rPr>
              <a:t>05  ·  POWERTOYS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835CC-2C17-4208-80BA-24BC3FC7E283}"/>
              </a:ext>
            </a:extLst>
          </p:cNvPr>
          <p:cNvSpPr txBox="1"/>
          <p:nvPr/>
        </p:nvSpPr>
        <p:spPr>
          <a:xfrm>
            <a:off x="4318000" y="5080000"/>
            <a:ext cx="5308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F48771"/>
                </a:solidFill>
                <a:latin typeface="Aptos"/>
              </a:rPr>
              <a:t>WHAT YOU'LL SEE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50CCAE-0B3E-498D-8AD7-4EC366D604BE}"/>
              </a:ext>
            </a:extLst>
          </p:cNvPr>
          <p:cNvSpPr txBox="1"/>
          <p:nvPr/>
        </p:nvSpPr>
        <p:spPr>
          <a:xfrm>
            <a:off x="4318000" y="5410200"/>
            <a:ext cx="736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600" dirty="0" err="1">
                <a:solidFill>
                  <a:srgbClr val="F2F2F2"/>
                </a:solidFill>
                <a:latin typeface="Aptos"/>
              </a:rPr>
              <a:t>FancyZones</a:t>
            </a:r>
            <a:r>
              <a:rPr lang="en-US" sz="1600" dirty="0">
                <a:solidFill>
                  <a:srgbClr val="F2F2F2"/>
                </a:solidFill>
                <a:latin typeface="Aptos"/>
              </a:rPr>
              <a:t>  · Command Palette ·  Color Picker  ·  Advanced Paste ·  </a:t>
            </a:r>
            <a:r>
              <a:rPr lang="en-US" sz="1600" dirty="0" err="1">
                <a:solidFill>
                  <a:srgbClr val="F2F2F2"/>
                </a:solidFill>
                <a:latin typeface="Aptos"/>
              </a:rPr>
              <a:t>ZoomIt</a:t>
            </a:r>
            <a:endParaRPr lang="en-US" sz="1600" dirty="0">
              <a:solidFill>
                <a:srgbClr val="F2F2F2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84969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6B140-1EB6-4EE2-0907-AC323880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11B2E8-3D97-785D-CE79-93CCAA26DCF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2B387-6774-9A19-4061-BDD13EC00264}"/>
              </a:ext>
            </a:extLst>
          </p:cNvPr>
          <p:cNvSpPr txBox="1"/>
          <p:nvPr/>
        </p:nvSpPr>
        <p:spPr>
          <a:xfrm>
            <a:off x="502920" y="621792"/>
            <a:ext cx="500000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Why PowerToys?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966937A-22BC-5FCC-1221-478ECE37241E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658676-F398-1494-1A3E-48CDC292A77C}"/>
              </a:ext>
            </a:extLst>
          </p:cNvPr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Free &amp; official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Microsoft-maintained, open source on GitHub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Modular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turn on only what you need; each utility runs independently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Keyboard-first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every utility has a hotkey, fits muscle memory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Power-user features Windows doesn't ship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window tiling, clipboard transforms, bulk rename, color picker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Constantly evolving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new utilities added regularly; community-driven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dirty="0">
                <a:solidFill>
                  <a:schemeClr val="bg1"/>
                </a:solidFill>
                <a:latin typeface="Aptos"/>
              </a:rPr>
              <a:t>Note: </a:t>
            </a:r>
            <a:r>
              <a:rPr lang="en-US" sz="1400" i="1" dirty="0">
                <a:solidFill>
                  <a:schemeClr val="bg1"/>
                </a:solidFill>
                <a:latin typeface="Aptos"/>
              </a:rPr>
              <a:t>some toys have been renamed or absorbed into Windows — e.g., Text Extractor now lives in Snipping Tool.</a:t>
            </a:r>
          </a:p>
        </p:txBody>
      </p:sp>
    </p:spTree>
    <p:extLst>
      <p:ext uri="{BB962C8B-B14F-4D97-AF65-F5344CB8AC3E}">
        <p14:creationId xmlns:p14="http://schemas.microsoft.com/office/powerpoint/2010/main" val="165497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208711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Try One Thing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lvl="0">
              <a:lnSpc>
                <a:spcPct val="120000"/>
              </a:lnSpc>
              <a:spcAft>
                <a:spcPts val="1200"/>
              </a:spcAft>
            </a:pPr>
            <a:endParaRPr lang="en-US" sz="2800" dirty="0"/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2800" dirty="0">
                <a:solidFill>
                  <a:srgbClr val="AAAAAA"/>
                </a:solidFill>
                <a:latin typeface="Aptos Display"/>
              </a:rPr>
              <a:t>You don’t need to use all 20+ utilities.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/>
              </a:rPr>
              <a:t>Find the one that solves your most annoying daily problem.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66CCFF"/>
                </a:solidFill>
                <a:latin typeface="Aptos"/>
              </a:rPr>
              <a:t>Open </a:t>
            </a:r>
            <a:r>
              <a:rPr lang="en-US" sz="2400" dirty="0" err="1">
                <a:solidFill>
                  <a:srgbClr val="66CCFF"/>
                </a:solidFill>
                <a:latin typeface="Aptos"/>
              </a:rPr>
              <a:t>PowerToys</a:t>
            </a:r>
            <a:r>
              <a:rPr lang="en-US" sz="2400" dirty="0">
                <a:solidFill>
                  <a:srgbClr val="66CCFF"/>
                </a:solidFill>
                <a:latin typeface="Aptos"/>
              </a:rPr>
              <a:t> → pick it from the left menu → enable it.</a:t>
            </a:r>
          </a:p>
          <a:p>
            <a:pPr lvl="0">
              <a:lnSpc>
                <a:spcPct val="120000"/>
              </a:lnSpc>
              <a:spcAft>
                <a:spcPts val="1200"/>
              </a:spcAft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sz="2800" dirty="0"/>
              <a:t>				</a:t>
            </a:r>
            <a:r>
              <a:rPr lang="en-US" sz="2800" i="1" dirty="0">
                <a:solidFill>
                  <a:srgbClr val="AAAAAA"/>
                </a:solidFill>
                <a:latin typeface="Aptos Display"/>
              </a:rPr>
              <a:t>For many of us it started with </a:t>
            </a:r>
            <a:r>
              <a:rPr lang="en-US" sz="2800" i="1" dirty="0" err="1">
                <a:solidFill>
                  <a:srgbClr val="AAAAAA"/>
                </a:solidFill>
                <a:latin typeface="Aptos Display"/>
              </a:rPr>
              <a:t>ZoomIt</a:t>
            </a:r>
            <a:endParaRPr lang="en-US" sz="2800" i="1" dirty="0">
              <a:solidFill>
                <a:srgbClr val="AAAAAA"/>
              </a:solidFill>
              <a:latin typeface="Aptos Display"/>
            </a:endParaRPr>
          </a:p>
          <a:p>
            <a:pPr lvl="0">
              <a:lnSpc>
                <a:spcPct val="120000"/>
              </a:lnSpc>
              <a:spcAft>
                <a:spcPts val="1200"/>
              </a:spcAft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lvl="0">
              <a:lnSpc>
                <a:spcPct val="120000"/>
              </a:lnSpc>
              <a:spcAft>
                <a:spcPts val="1200"/>
              </a:spcAft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00BE2C-0E94-D0EA-BF9C-F420EBFC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3491BF-D324-D796-97C6-D7CE9D1F49F0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D2885-C974-94AF-7345-69210C3ED743}"/>
              </a:ext>
            </a:extLst>
          </p:cNvPr>
          <p:cNvSpPr txBox="1"/>
          <p:nvPr/>
        </p:nvSpPr>
        <p:spPr>
          <a:xfrm>
            <a:off x="685800" y="117539"/>
            <a:ext cx="77724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 dirty="0">
                <a:solidFill>
                  <a:srgbClr val="FFFFFF"/>
                </a:solidFill>
                <a:latin typeface="Aptos"/>
              </a:rPr>
              <a:t>Live Demo – What could go wrong?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D8D3AC-9FE2-AA72-D872-A3A612AE7AF8}"/>
              </a:ext>
            </a:extLst>
          </p:cNvPr>
          <p:cNvSpPr/>
          <p:nvPr/>
        </p:nvSpPr>
        <p:spPr>
          <a:xfrm>
            <a:off x="685800" y="654707"/>
            <a:ext cx="10378440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15C3E8-5E60-0E26-FC0B-18692C3E2EAE}"/>
              </a:ext>
            </a:extLst>
          </p:cNvPr>
          <p:cNvSpPr/>
          <p:nvPr/>
        </p:nvSpPr>
        <p:spPr>
          <a:xfrm>
            <a:off x="777240" y="872067"/>
            <a:ext cx="10607040" cy="5682973"/>
          </a:xfrm>
          <a:prstGeom prst="roundRect">
            <a:avLst/>
          </a:prstGeom>
          <a:solidFill>
            <a:srgbClr val="282828"/>
          </a:solidFill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A2C993-13C1-8FAC-E5C5-2286754FA7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09839" y="1058333"/>
            <a:ext cx="9372322" cy="52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893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POWERTOYS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040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All PowerToys utilities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10896"/>
            <a:ext cx="868680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1353312"/>
            <a:ext cx="10835640" cy="22860"/>
          </a:xfrm>
          <a:prstGeom prst="rect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4700" y="1701800"/>
            <a:ext cx="5168900" cy="2921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1627632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4700" y="1691640"/>
            <a:ext cx="51689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Launchers &amp; quick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213969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F4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68" y="210312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Advanced Paste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Paste clipboard into other formats — AI transforms available.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265176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58952" y="274320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6968" y="270662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Command Not Found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Suggest WinGet packages for failed commands.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" y="3255264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58952" y="3346704"/>
            <a:ext cx="73152" cy="411480"/>
          </a:xfrm>
          <a:prstGeom prst="roundRect">
            <a:avLst>
              <a:gd name="adj" fmla="val 35000"/>
            </a:avLst>
          </a:prstGeom>
          <a:solidFill>
            <a:srgbClr val="F4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6968" y="3310128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Command Palette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Launch commands, apps, and tools quickly.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" y="3858768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58952" y="3950208"/>
            <a:ext cx="73152" cy="411480"/>
          </a:xfrm>
          <a:prstGeom prst="roundRect">
            <a:avLst>
              <a:gd name="adj" fmla="val 35000"/>
            </a:avLst>
          </a:prstGeom>
          <a:solidFill>
            <a:srgbClr val="55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6968" y="3913632"/>
            <a:ext cx="4846320" cy="4644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/>
              </a:rPr>
              <a:t>PowerToys Run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Fast launcher for apps, files, and plugins.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" y="4462272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58952" y="4553712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6968" y="4517136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Quick Accent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Type accented characters without changing layout.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" y="5065776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58952" y="515721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6968" y="512064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Screen Ruler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Measure pixels on screen with edge detection.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" y="566928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8952" y="576072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55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6968" y="5724144"/>
            <a:ext cx="4846320" cy="4644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/>
              </a:rPr>
              <a:t>Text Extractor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OCR text from anywhere on screen.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1100" y="1701800"/>
            <a:ext cx="5168900" cy="2921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172200" y="1627632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61100" y="1691640"/>
            <a:ext cx="51689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Windows &amp; layout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213969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73368" y="210312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Always On Top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Pin a window above the rest of the desktop.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36792" y="265176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45352" y="274320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73368" y="270662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Crop And Lock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Create a live cropped or thumbnail window.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36792" y="3255264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245352" y="3346704"/>
            <a:ext cx="73152" cy="411480"/>
          </a:xfrm>
          <a:prstGeom prst="roundRect">
            <a:avLst>
              <a:gd name="adj" fmla="val 35000"/>
            </a:avLst>
          </a:prstGeom>
          <a:solidFill>
            <a:srgbClr val="F4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73368" y="3310128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FancyZones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Snap windows into custom layouts fast.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36792" y="3858768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245352" y="3950208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373368" y="3913632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Peek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Preview file content without opening apps.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36792" y="4462272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245352" y="4553712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73368" y="4517136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Shortcut Guide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Show available Windows shortcuts in context.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36792" y="5065776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245352" y="515721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373368" y="512064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Workspaces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Launch saved app sets into arranged positions.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566928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245352" y="576072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73368" y="572414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Light Switch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Auto-switch between light and dark themes.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85232" y="3470148"/>
            <a:ext cx="621792" cy="210312"/>
          </a:xfrm>
          <a:prstGeom prst="roundRect">
            <a:avLst>
              <a:gd name="adj" fmla="val 30000"/>
            </a:avLst>
          </a:prstGeom>
          <a:solidFill>
            <a:srgbClr val="C9462E"/>
          </a:solidFill>
          <a:ln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652760" y="3488436"/>
            <a:ext cx="621792" cy="210312"/>
          </a:xfrm>
          <a:prstGeom prst="roundRect">
            <a:avLst>
              <a:gd name="adj" fmla="val 30000"/>
            </a:avLst>
          </a:prstGeom>
          <a:solidFill>
            <a:srgbClr val="C9462E"/>
          </a:solidFill>
          <a:ln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</a:t>
            </a:r>
          </a:p>
        </p:txBody>
      </p:sp>
      <p:sp>
        <p:nvSpPr>
          <p:cNvPr id="5" name="Rounded Rectangle 59">
            <a:extLst>
              <a:ext uri="{FF2B5EF4-FFF2-40B4-BE49-F238E27FC236}">
                <a16:creationId xmlns:a16="http://schemas.microsoft.com/office/drawing/2014/main" id="{BD5D3C21-A17D-5E39-0A56-B9EE6ECCBF25}"/>
              </a:ext>
            </a:extLst>
          </p:cNvPr>
          <p:cNvSpPr/>
          <p:nvPr/>
        </p:nvSpPr>
        <p:spPr>
          <a:xfrm>
            <a:off x="5285232" y="2281453"/>
            <a:ext cx="621792" cy="210312"/>
          </a:xfrm>
          <a:prstGeom prst="roundRect">
            <a:avLst>
              <a:gd name="adj" fmla="val 30000"/>
            </a:avLst>
          </a:prstGeom>
          <a:solidFill>
            <a:srgbClr val="C9462E"/>
          </a:solidFill>
          <a:ln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</a:t>
            </a:r>
          </a:p>
        </p:txBody>
      </p:sp>
      <p:sp>
        <p:nvSpPr>
          <p:cNvPr id="70" name="Rounded Rectangle 70"/>
          <p:cNvSpPr/>
          <p:nvPr/>
        </p:nvSpPr>
        <p:spPr>
          <a:xfrm>
            <a:off x="4724400" y="4013200"/>
            <a:ext cx="1016000" cy="215900"/>
          </a:xfrm>
          <a:prstGeom prst="roundRect">
            <a:avLst>
              <a:gd name="adj" fmla="val 50000"/>
            </a:avLst>
          </a:prstGeom>
          <a:solidFill>
            <a:srgbClr val="555560"/>
          </a:solidFill>
          <a:ln>
            <a:noFill/>
          </a:ln>
        </p:spPr>
        <p:txBody>
          <a:bodyPr wrap="none" lIns="36000" tIns="0" rIns="3600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/>
              </a:rPr>
              <a:t>DEPRECATED</a:t>
            </a:r>
          </a:p>
        </p:txBody>
      </p:sp>
      <p:sp>
        <p:nvSpPr>
          <p:cNvPr id="71" name="Rounded Rectangle 71"/>
          <p:cNvSpPr/>
          <p:nvPr/>
        </p:nvSpPr>
        <p:spPr>
          <a:xfrm>
            <a:off x="4724400" y="5867400"/>
            <a:ext cx="1016000" cy="215900"/>
          </a:xfrm>
          <a:prstGeom prst="roundRect">
            <a:avLst>
              <a:gd name="adj" fmla="val 50000"/>
            </a:avLst>
          </a:prstGeom>
          <a:solidFill>
            <a:srgbClr val="555560"/>
          </a:solidFill>
          <a:ln>
            <a:noFill/>
          </a:ln>
        </p:spPr>
        <p:txBody>
          <a:bodyPr wrap="none" lIns="36000" tIns="0" rIns="3600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/>
              </a:rPr>
              <a:t>DEPRECATED</a:t>
            </a:r>
          </a:p>
        </p:txBody>
      </p:sp>
      <p:sp>
        <p:nvSpPr>
          <p:cNvPr id="8" name="HeaderUnderline">
            <a:extLst>
              <a:ext uri="{FF2B5EF4-FFF2-40B4-BE49-F238E27FC236}">
                <a16:creationId xmlns:a16="http://schemas.microsoft.com/office/drawing/2014/main" id="{7C79BE21-14EE-4729-B017-706A702F8CA8}"/>
              </a:ext>
            </a:extLst>
          </p:cNvPr>
          <p:cNvSpPr/>
          <p:nvPr/>
        </p:nvSpPr>
        <p:spPr>
          <a:xfrm>
            <a:off x="2089150" y="1981200"/>
            <a:ext cx="2540000" cy="1905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HeaderUnderline">
            <a:extLst>
              <a:ext uri="{FF2B5EF4-FFF2-40B4-BE49-F238E27FC236}">
                <a16:creationId xmlns:a16="http://schemas.microsoft.com/office/drawing/2014/main" id="{E60489D5-F432-4A61-B7F8-947DBC15360B}"/>
              </a:ext>
            </a:extLst>
          </p:cNvPr>
          <p:cNvSpPr/>
          <p:nvPr/>
        </p:nvSpPr>
        <p:spPr>
          <a:xfrm>
            <a:off x="7575550" y="1981200"/>
            <a:ext cx="2540000" cy="1905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092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POWERTOYS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040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All PowerToys utilities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10896"/>
            <a:ext cx="868680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1353312"/>
            <a:ext cx="10835640" cy="22860"/>
          </a:xfrm>
          <a:prstGeom prst="rect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4700" y="1701800"/>
            <a:ext cx="5168900" cy="2921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1627632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57003" y="1691640"/>
            <a:ext cx="14042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Files &amp;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213969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F4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68" y="210312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Color Picker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Grab color values from any pixel.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265176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58952" y="274320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6968" y="270662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File Explorer add-ons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Preview more file types inside Explorer.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" y="3255264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58952" y="3346704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6968" y="3310128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File Locksmith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See which process is locking a 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" y="3858768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58952" y="3950208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6968" y="3913632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Hosts File Editor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Edit hosts entries with a safer UI.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" y="4462272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58952" y="4553712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6968" y="4517136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Image Resizer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Resize images from the Explorer menu.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" y="5065776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58952" y="515721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6968" y="512064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New+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Create files and folders from templates.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" y="566928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8952" y="576072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6968" y="572414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PowerRename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Bulk rename with search, replace, and regex.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1100" y="1701800"/>
            <a:ext cx="5168900" cy="2921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172200" y="1627632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138145" y="1691640"/>
            <a:ext cx="14148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System &amp; input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213969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73368" y="210312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Awake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Keep the PC awake without changing settings.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36792" y="265176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45352" y="274320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73368" y="270662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Environment Variables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Manage environment variable profiles.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36792" y="3255264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245352" y="3346704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73368" y="3310128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Keyboard Manager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Remap keys and create custom shortcuts.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36792" y="3858768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245352" y="3950208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373368" y="3913632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Mouse utilities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Find, highlight, or crosshair your cursor.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36792" y="4462272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245352" y="4553712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73368" y="4517136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Mouse Without Borders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Use one keyboard and mouse across PCs.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36792" y="5065776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245352" y="5157216"/>
            <a:ext cx="73152" cy="41148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373368" y="5120640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Registry Preview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Preview and edit .reg files visually.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5669280"/>
            <a:ext cx="5020056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245352" y="5760720"/>
            <a:ext cx="73152" cy="411480"/>
          </a:xfrm>
          <a:prstGeom prst="roundRect">
            <a:avLst>
              <a:gd name="adj" fmla="val 35000"/>
            </a:avLst>
          </a:prstGeom>
          <a:solidFill>
            <a:srgbClr val="F4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73368" y="5724144"/>
            <a:ext cx="48463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ZoomIt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Zoom, annotate, and record during demos.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30368" y="2157984"/>
            <a:ext cx="621792" cy="210312"/>
          </a:xfrm>
          <a:prstGeom prst="roundRect">
            <a:avLst>
              <a:gd name="adj" fmla="val 30000"/>
            </a:avLst>
          </a:prstGeom>
          <a:solidFill>
            <a:srgbClr val="C9462E"/>
          </a:solidFill>
          <a:ln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16768" y="5779008"/>
            <a:ext cx="621792" cy="210312"/>
          </a:xfrm>
          <a:prstGeom prst="roundRect">
            <a:avLst>
              <a:gd name="adj" fmla="val 30000"/>
            </a:avLst>
          </a:prstGeom>
          <a:solidFill>
            <a:srgbClr val="C9462E"/>
          </a:solidFill>
          <a:ln>
            <a:solidFill>
              <a:srgbClr val="F48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DEMO</a:t>
            </a:r>
          </a:p>
        </p:txBody>
      </p:sp>
      <p:sp>
        <p:nvSpPr>
          <p:cNvPr id="5" name="HeaderUnderline">
            <a:extLst>
              <a:ext uri="{FF2B5EF4-FFF2-40B4-BE49-F238E27FC236}">
                <a16:creationId xmlns:a16="http://schemas.microsoft.com/office/drawing/2014/main" id="{B616132F-7BFF-4FE2-A1A6-9CB98163E6BD}"/>
              </a:ext>
            </a:extLst>
          </p:cNvPr>
          <p:cNvSpPr/>
          <p:nvPr/>
        </p:nvSpPr>
        <p:spPr>
          <a:xfrm>
            <a:off x="2089150" y="1981200"/>
            <a:ext cx="2540000" cy="1905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HeaderUnderline">
            <a:extLst>
              <a:ext uri="{FF2B5EF4-FFF2-40B4-BE49-F238E27FC236}">
                <a16:creationId xmlns:a16="http://schemas.microsoft.com/office/drawing/2014/main" id="{46E5F5A1-9A49-452A-88A1-91D38AB284B4}"/>
              </a:ext>
            </a:extLst>
          </p:cNvPr>
          <p:cNvSpPr/>
          <p:nvPr/>
        </p:nvSpPr>
        <p:spPr>
          <a:xfrm>
            <a:off x="7575550" y="1981200"/>
            <a:ext cx="2540000" cy="1905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709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POWERTOYS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282885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lang="en-US" sz="2600" b="1" dirty="0">
                <a:solidFill>
                  <a:srgbClr val="FFFFFF"/>
                </a:solidFill>
                <a:latin typeface="Aptos"/>
              </a:rPr>
              <a:t>Newest additions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10896"/>
            <a:ext cx="868680" cy="868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1353312"/>
            <a:ext cx="10835640" cy="22860"/>
          </a:xfrm>
          <a:prstGeom prst="rect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86000" y="1841500"/>
            <a:ext cx="7620000" cy="279400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62200" y="1917700"/>
            <a:ext cx="7467600" cy="29210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64576" y="1905000"/>
            <a:ext cx="12628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/>
              </a:rPr>
              <a:t>New in v0.100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59660" y="2374900"/>
            <a:ext cx="73152" cy="63500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86660" y="2311400"/>
            <a:ext cx="7112000" cy="4644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/>
              </a:rPr>
              <a:t>Shortcut Guide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ptos"/>
              </a:rPr>
              <a:t>Rebuilt from scratch — a side pane that detects the active app and shows its shortcuts.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1100" y="2997200"/>
            <a:ext cx="7289800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59660" y="3136900"/>
            <a:ext cx="73152" cy="63500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86660" y="3073400"/>
            <a:ext cx="7112000" cy="4644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/>
              </a:rPr>
              <a:t>Command Palette: Extension Gallery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ptos"/>
              </a:rPr>
              <a:t>Browse, install, update, and remove extensions without leaving Command Palette.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0E10F-2A94-4DA0-973B-3D7CDCA2FE44}"/>
              </a:ext>
            </a:extLst>
          </p:cNvPr>
          <p:cNvSpPr txBox="1"/>
          <p:nvPr/>
        </p:nvSpPr>
        <p:spPr>
          <a:xfrm>
            <a:off x="2286000" y="5207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888888"/>
                </a:solidFill>
                <a:latin typeface="Aptos"/>
              </a:rPr>
              <a:t>PowerToys ships new utilities every month — v0.100 landed June 10, 2026; current release is v0.100.2.</a:t>
            </a:r>
          </a:p>
        </p:txBody>
      </p:sp>
      <p:sp>
        <p:nvSpPr>
          <p:cNvPr id="8" name="HeaderUnderline">
            <a:extLst>
              <a:ext uri="{FF2B5EF4-FFF2-40B4-BE49-F238E27FC236}">
                <a16:creationId xmlns:a16="http://schemas.microsoft.com/office/drawing/2014/main" id="{B1A7D653-292A-4BE6-A92B-2A849B0A5326}"/>
              </a:ext>
            </a:extLst>
          </p:cNvPr>
          <p:cNvSpPr/>
          <p:nvPr/>
        </p:nvSpPr>
        <p:spPr>
          <a:xfrm>
            <a:off x="4826000" y="2197100"/>
            <a:ext cx="2540000" cy="19050"/>
          </a:xfrm>
          <a:prstGeom prst="rect">
            <a:avLst/>
          </a:prstGeom>
          <a:solidFill>
            <a:srgbClr val="4EC9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451100" y="3759200"/>
            <a:ext cx="7289800" cy="9144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359660" y="3898900"/>
            <a:ext cx="73152" cy="635000"/>
          </a:xfrm>
          <a:prstGeom prst="roundRect">
            <a:avLst>
              <a:gd name="adj" fmla="val 35000"/>
            </a:avLst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86660" y="3835400"/>
            <a:ext cx="7112000" cy="4644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/>
              </a:rPr>
              <a:t>Command Palette: multi-monitor Dock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ptos"/>
              </a:rPr>
              <a:t>Each display gets its own Dock config, plus pinnable CPU, GPU, and battery metrics.</a:t>
            </a:r>
          </a:p>
        </p:txBody>
      </p:sp>
    </p:spTree>
    <p:extLst>
      <p:ext uri="{BB962C8B-B14F-4D97-AF65-F5344CB8AC3E}">
        <p14:creationId xmlns:p14="http://schemas.microsoft.com/office/powerpoint/2010/main" val="15555547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B47D0-7134-BF08-7BC1-3349DF8C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3F6DAF-0D57-8E1E-6458-7419A243EC5D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06CA1-D82C-E6C8-3003-ACD585C1D7FC}"/>
              </a:ext>
            </a:extLst>
          </p:cNvPr>
          <p:cNvSpPr txBox="1"/>
          <p:nvPr/>
        </p:nvSpPr>
        <p:spPr>
          <a:xfrm>
            <a:off x="685800" y="566928"/>
            <a:ext cx="77724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Options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B12DAB-E913-021B-9F93-54D488C7770B}"/>
              </a:ext>
            </a:extLst>
          </p:cNvPr>
          <p:cNvSpPr/>
          <p:nvPr/>
        </p:nvSpPr>
        <p:spPr>
          <a:xfrm>
            <a:off x="685800" y="1033271"/>
            <a:ext cx="10378440" cy="182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899C73-73C2-A821-5431-861E2D905D02}"/>
              </a:ext>
            </a:extLst>
          </p:cNvPr>
          <p:cNvSpPr/>
          <p:nvPr/>
        </p:nvSpPr>
        <p:spPr>
          <a:xfrm>
            <a:off x="777240" y="1508760"/>
            <a:ext cx="10607040" cy="5046280"/>
          </a:xfrm>
          <a:prstGeom prst="roundRect">
            <a:avLst/>
          </a:prstGeom>
          <a:solidFill>
            <a:srgbClr val="282828"/>
          </a:solidFill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FC9589-8D76-5571-D9C6-BB342F5A9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55392" y="1553147"/>
            <a:ext cx="8039255" cy="495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97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6B140-1EB6-4EE2-0907-AC323880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11B2E8-3D97-785D-CE79-93CCAA26DCF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2B387-6774-9A19-4061-BDD13EC00264}"/>
              </a:ext>
            </a:extLst>
          </p:cNvPr>
          <p:cNvSpPr txBox="1"/>
          <p:nvPr/>
        </p:nvSpPr>
        <p:spPr>
          <a:xfrm>
            <a:off x="502920" y="621792"/>
            <a:ext cx="466281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/>
              </a:rPr>
              <a:t>Why these picks — daily drivers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966937A-22BC-5FCC-1221-478ECE37241E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658676-F398-1494-1A3E-48CDC292A77C}"/>
              </a:ext>
            </a:extLst>
          </p:cNvPr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Command Palette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universal entry point. One hotkey replaces hunting through Start menus and folders.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FancyZones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fills the biggest gap in Windows itself. Snap Layouts can't touch multi-monitor or custom grids.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Advanced Paste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shows the modern PowerToys: AI-assisted, format-aware, replaces ad-hoc scripts.</a:t>
            </a:r>
          </a:p>
        </p:txBody>
      </p:sp>
    </p:spTree>
    <p:extLst>
      <p:ext uri="{BB962C8B-B14F-4D97-AF65-F5344CB8AC3E}">
        <p14:creationId xmlns:p14="http://schemas.microsoft.com/office/powerpoint/2010/main" val="41314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6B140-1EB6-4EE2-0907-AC323880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11B2E8-3D97-785D-CE79-93CCAA26DCF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2B387-6774-9A19-4061-BDD13EC00264}"/>
              </a:ext>
            </a:extLst>
          </p:cNvPr>
          <p:cNvSpPr txBox="1"/>
          <p:nvPr/>
        </p:nvSpPr>
        <p:spPr>
          <a:xfrm>
            <a:off x="502920" y="621792"/>
            <a:ext cx="509940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/>
              </a:rPr>
              <a:t>Why these picks — specialist tools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966937A-22BC-5FCC-1221-478ECE37241E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658676-F398-1494-1A3E-48CDC292A77C}"/>
              </a:ext>
            </a:extLst>
          </p:cNvPr>
          <p:cNvSpPr/>
          <p:nvPr/>
        </p:nvSpPr>
        <p:spPr>
          <a:xfrm>
            <a:off x="640080" y="1737360"/>
            <a:ext cx="11018520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Color Picker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saves designers, devs, and slide-builders from screenshot-then-eyedropper workflows.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/>
              </a:rPr>
              <a:t>ZoomIt</a:t>
            </a:r>
            <a:r>
              <a:rPr lang="en-US" sz="2200" dirty="0">
                <a:solidFill>
                  <a:srgbClr val="AAAAAA"/>
                </a:solidFill>
                <a:latin typeface="Aptos"/>
              </a:rPr>
              <a:t> — purpose-built for presenting and teaching. Zoom, annotate, and record without third-party software.</a:t>
            </a:r>
          </a:p>
        </p:txBody>
      </p:sp>
    </p:spTree>
    <p:extLst>
      <p:ext uri="{BB962C8B-B14F-4D97-AF65-F5344CB8AC3E}">
        <p14:creationId xmlns:p14="http://schemas.microsoft.com/office/powerpoint/2010/main" val="165060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254000"/>
            <a:ext cx="299267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PowerToys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—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83820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8000" y="1143000"/>
            <a:ext cx="11150600" cy="520700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3048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Let’s supercharge Windows.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3355C-26DC-70D8-9A84-33C74F79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B59E86-DF73-7B36-99E1-C74D9C9DD21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510D5D-96B4-9480-47D8-92E05E90B2EC}"/>
              </a:ext>
            </a:extLst>
          </p:cNvPr>
          <p:cNvSpPr/>
          <p:nvPr/>
        </p:nvSpPr>
        <p:spPr>
          <a:xfrm>
            <a:off x="5486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CBA04D-864C-9E5A-19EA-F30A26C0F9DD}"/>
              </a:ext>
            </a:extLst>
          </p:cNvPr>
          <p:cNvSpPr/>
          <p:nvPr/>
        </p:nvSpPr>
        <p:spPr>
          <a:xfrm>
            <a:off x="11430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8FAF12-B91F-464F-C14E-83F57007D6A4}"/>
              </a:ext>
            </a:extLst>
          </p:cNvPr>
          <p:cNvSpPr/>
          <p:nvPr/>
        </p:nvSpPr>
        <p:spPr>
          <a:xfrm>
            <a:off x="17373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29F7B02-3D36-966E-5D39-C9F0002670BB}"/>
              </a:ext>
            </a:extLst>
          </p:cNvPr>
          <p:cNvSpPr/>
          <p:nvPr/>
        </p:nvSpPr>
        <p:spPr>
          <a:xfrm>
            <a:off x="23317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CEC8F71-C443-3273-2B52-6113C0EE80CF}"/>
              </a:ext>
            </a:extLst>
          </p:cNvPr>
          <p:cNvSpPr/>
          <p:nvPr/>
        </p:nvSpPr>
        <p:spPr>
          <a:xfrm>
            <a:off x="29260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6FDA4F5-773D-BE36-9E82-B972E9940CEC}"/>
              </a:ext>
            </a:extLst>
          </p:cNvPr>
          <p:cNvSpPr/>
          <p:nvPr/>
        </p:nvSpPr>
        <p:spPr>
          <a:xfrm>
            <a:off x="35204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573AFD1-5438-0BDB-9319-A6A77A239D1B}"/>
              </a:ext>
            </a:extLst>
          </p:cNvPr>
          <p:cNvSpPr/>
          <p:nvPr/>
        </p:nvSpPr>
        <p:spPr>
          <a:xfrm>
            <a:off x="41148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69C2A5B-D47D-2A71-63EA-B5A0365DB1B1}"/>
              </a:ext>
            </a:extLst>
          </p:cNvPr>
          <p:cNvSpPr/>
          <p:nvPr/>
        </p:nvSpPr>
        <p:spPr>
          <a:xfrm>
            <a:off x="47091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ED33610-0309-6555-D485-1A584E664D81}"/>
              </a:ext>
            </a:extLst>
          </p:cNvPr>
          <p:cNvSpPr/>
          <p:nvPr/>
        </p:nvSpPr>
        <p:spPr>
          <a:xfrm>
            <a:off x="53035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A1A4119-6E93-E171-BE0A-483EBB95BADB}"/>
              </a:ext>
            </a:extLst>
          </p:cNvPr>
          <p:cNvSpPr/>
          <p:nvPr/>
        </p:nvSpPr>
        <p:spPr>
          <a:xfrm>
            <a:off x="58978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8EBB868-80A1-18D7-C857-A17330CA775B}"/>
              </a:ext>
            </a:extLst>
          </p:cNvPr>
          <p:cNvSpPr/>
          <p:nvPr/>
        </p:nvSpPr>
        <p:spPr>
          <a:xfrm>
            <a:off x="64922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0C751B6-31D7-DA8B-B76D-0728AF284A42}"/>
              </a:ext>
            </a:extLst>
          </p:cNvPr>
          <p:cNvSpPr/>
          <p:nvPr/>
        </p:nvSpPr>
        <p:spPr>
          <a:xfrm>
            <a:off x="70866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0C11E56-2B08-33C4-75B5-DE3FB80B18A5}"/>
              </a:ext>
            </a:extLst>
          </p:cNvPr>
          <p:cNvSpPr/>
          <p:nvPr/>
        </p:nvSpPr>
        <p:spPr>
          <a:xfrm>
            <a:off x="76809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6C5E5BE-E30A-AD3F-758E-52451561D0DD}"/>
              </a:ext>
            </a:extLst>
          </p:cNvPr>
          <p:cNvSpPr/>
          <p:nvPr/>
        </p:nvSpPr>
        <p:spPr>
          <a:xfrm>
            <a:off x="82753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B830A3C-9FA3-DBC7-E429-7D2F46DF2177}"/>
              </a:ext>
            </a:extLst>
          </p:cNvPr>
          <p:cNvSpPr/>
          <p:nvPr/>
        </p:nvSpPr>
        <p:spPr>
          <a:xfrm>
            <a:off x="88696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0230DD5-F4ED-3E6E-0A04-889B94F4B0E4}"/>
              </a:ext>
            </a:extLst>
          </p:cNvPr>
          <p:cNvSpPr/>
          <p:nvPr/>
        </p:nvSpPr>
        <p:spPr>
          <a:xfrm>
            <a:off x="946404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75F4CDF-8CAE-CC5A-6FEE-B4941F5437D7}"/>
              </a:ext>
            </a:extLst>
          </p:cNvPr>
          <p:cNvSpPr/>
          <p:nvPr/>
        </p:nvSpPr>
        <p:spPr>
          <a:xfrm>
            <a:off x="1005840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BB11A52-D9F8-D36D-5C1D-451D0719DB5C}"/>
              </a:ext>
            </a:extLst>
          </p:cNvPr>
          <p:cNvSpPr/>
          <p:nvPr/>
        </p:nvSpPr>
        <p:spPr>
          <a:xfrm>
            <a:off x="1065276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00938FD-312F-E858-6F72-C87F2FF7C8EA}"/>
              </a:ext>
            </a:extLst>
          </p:cNvPr>
          <p:cNvSpPr/>
          <p:nvPr/>
        </p:nvSpPr>
        <p:spPr>
          <a:xfrm>
            <a:off x="1124712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9F4ED75-986B-47C0-CE2C-B526606A6503}"/>
              </a:ext>
            </a:extLst>
          </p:cNvPr>
          <p:cNvSpPr/>
          <p:nvPr/>
        </p:nvSpPr>
        <p:spPr>
          <a:xfrm>
            <a:off x="11841480" y="228600"/>
            <a:ext cx="0" cy="6400800"/>
          </a:xfrm>
          <a:prstGeom prst="line">
            <a:avLst/>
          </a:prstGeom>
          <a:noFill/>
          <a:ln w="12700">
            <a:solidFill>
              <a:srgbClr val="1E293B">
                <a:alpha val="2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EF43E77-6E1F-78AB-CB3D-9C4CB4EED5BA}"/>
              </a:ext>
            </a:extLst>
          </p:cNvPr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22C2EE0-20AD-E25A-88D5-0ACA2039E7E3}"/>
              </a:ext>
            </a:extLst>
          </p:cNvPr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A2C91BF-D33F-964E-41F1-73C155C616FC}"/>
              </a:ext>
            </a:extLst>
          </p:cNvPr>
          <p:cNvSpPr/>
          <p:nvPr/>
        </p:nvSpPr>
        <p:spPr>
          <a:xfrm>
            <a:off x="274320" y="16916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0270EB3-8516-59EC-EA00-D864A60123B8}"/>
              </a:ext>
            </a:extLst>
          </p:cNvPr>
          <p:cNvSpPr/>
          <p:nvPr/>
        </p:nvSpPr>
        <p:spPr>
          <a:xfrm>
            <a:off x="274320" y="22860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B457A4E-B338-AD5B-173F-750F1B4E05F8}"/>
              </a:ext>
            </a:extLst>
          </p:cNvPr>
          <p:cNvSpPr/>
          <p:nvPr/>
        </p:nvSpPr>
        <p:spPr>
          <a:xfrm>
            <a:off x="274320" y="28803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E419C44-9C7F-B496-FC5C-1EE686F6A6DD}"/>
              </a:ext>
            </a:extLst>
          </p:cNvPr>
          <p:cNvSpPr/>
          <p:nvPr/>
        </p:nvSpPr>
        <p:spPr>
          <a:xfrm>
            <a:off x="274320" y="34747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81ACE84-A668-6C0E-C77B-4148D5ACAE5C}"/>
              </a:ext>
            </a:extLst>
          </p:cNvPr>
          <p:cNvSpPr/>
          <p:nvPr/>
        </p:nvSpPr>
        <p:spPr>
          <a:xfrm>
            <a:off x="274320" y="406908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6BF834D-4244-9877-5100-4B79F1399FC3}"/>
              </a:ext>
            </a:extLst>
          </p:cNvPr>
          <p:cNvSpPr/>
          <p:nvPr/>
        </p:nvSpPr>
        <p:spPr>
          <a:xfrm>
            <a:off x="274320" y="466344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4BFCDB1-25FF-1730-99C7-033BEE793A16}"/>
              </a:ext>
            </a:extLst>
          </p:cNvPr>
          <p:cNvSpPr/>
          <p:nvPr/>
        </p:nvSpPr>
        <p:spPr>
          <a:xfrm>
            <a:off x="274320" y="525780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1DB98B8-DA9F-03D9-4BBD-49844A30F5EE}"/>
              </a:ext>
            </a:extLst>
          </p:cNvPr>
          <p:cNvSpPr/>
          <p:nvPr/>
        </p:nvSpPr>
        <p:spPr>
          <a:xfrm>
            <a:off x="274320" y="585216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A87E352-3653-76A9-68E0-92E0D5E27918}"/>
              </a:ext>
            </a:extLst>
          </p:cNvPr>
          <p:cNvSpPr/>
          <p:nvPr/>
        </p:nvSpPr>
        <p:spPr>
          <a:xfrm>
            <a:off x="274320" y="6446520"/>
            <a:ext cx="11612880" cy="0"/>
          </a:xfrm>
          <a:prstGeom prst="line">
            <a:avLst/>
          </a:prstGeom>
          <a:noFill/>
          <a:ln w="12700">
            <a:solidFill>
              <a:srgbClr val="1E293B">
                <a:alpha val="26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B9831A1-47AC-7071-B73E-02A91271BAAD}"/>
              </a:ext>
            </a:extLst>
          </p:cNvPr>
          <p:cNvSpPr/>
          <p:nvPr/>
        </p:nvSpPr>
        <p:spPr>
          <a:xfrm>
            <a:off x="-1097280" y="-1554480"/>
            <a:ext cx="4297680" cy="429768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0C4A6E">
                <a:alpha val="6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EF86E20-128C-4DF3-ECCF-7EAD67F23B0A}"/>
              </a:ext>
            </a:extLst>
          </p:cNvPr>
          <p:cNvSpPr/>
          <p:nvPr/>
        </p:nvSpPr>
        <p:spPr>
          <a:xfrm>
            <a:off x="9235440" y="4206240"/>
            <a:ext cx="4023360" cy="4023360"/>
          </a:xfrm>
          <a:prstGeom prst="arc">
            <a:avLst/>
          </a:prstGeom>
          <a:solidFill>
            <a:srgbClr val="070B16">
              <a:alpha val="0"/>
            </a:srgbClr>
          </a:solidFill>
          <a:ln w="12700">
            <a:solidFill>
              <a:srgbClr val="14532D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289D3D5-D817-5264-1277-2D8DDDF6F03F}"/>
              </a:ext>
            </a:extLst>
          </p:cNvPr>
          <p:cNvSpPr/>
          <p:nvPr/>
        </p:nvSpPr>
        <p:spPr>
          <a:xfrm>
            <a:off x="685800" y="438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SESSION ROADMAP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6A41A91-A161-A6DD-543A-778F494497D1}"/>
              </a:ext>
            </a:extLst>
          </p:cNvPr>
          <p:cNvSpPr/>
          <p:nvPr/>
        </p:nvSpPr>
        <p:spPr>
          <a:xfrm>
            <a:off x="658368" y="80467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Wrap-Up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1EB4BA7-443C-B02F-A40A-FB9DA9FF2510}"/>
              </a:ext>
            </a:extLst>
          </p:cNvPr>
          <p:cNvSpPr/>
          <p:nvPr/>
        </p:nvSpPr>
        <p:spPr>
          <a:xfrm>
            <a:off x="713232" y="1591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Bring the toolkit together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1E1C457-0003-4BB6-476B-07B1C811AD3A}"/>
              </a:ext>
            </a:extLst>
          </p:cNvPr>
          <p:cNvSpPr/>
          <p:nvPr/>
        </p:nvSpPr>
        <p:spPr>
          <a:xfrm>
            <a:off x="713232" y="2029968"/>
            <a:ext cx="10789920" cy="0"/>
          </a:xfrm>
          <a:prstGeom prst="line">
            <a:avLst/>
          </a:prstGeom>
          <a:noFill/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A1256F9-8934-869C-B5C9-59B283B9261C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713FE2E-C13F-1C5D-F530-F5526361CA1D}"/>
              </a:ext>
            </a:extLst>
          </p:cNvPr>
          <p:cNvSpPr/>
          <p:nvPr/>
        </p:nvSpPr>
        <p:spPr>
          <a:xfrm>
            <a:off x="1152144" y="3163824"/>
            <a:ext cx="9966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A4895190-4661-2479-93AE-88EE160C05C9}"/>
              </a:ext>
            </a:extLst>
          </p:cNvPr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DE2800B-B750-5887-28D8-1AF1F76862B9}"/>
              </a:ext>
            </a:extLst>
          </p:cNvPr>
          <p:cNvSpPr/>
          <p:nvPr/>
        </p:nvSpPr>
        <p:spPr>
          <a:xfrm>
            <a:off x="86868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285504F-5517-A994-974D-B842A718184A}"/>
              </a:ext>
            </a:extLst>
          </p:cNvPr>
          <p:cNvSpPr/>
          <p:nvPr/>
        </p:nvSpPr>
        <p:spPr>
          <a:xfrm>
            <a:off x="36576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Intro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AF673F9B-C1AF-06B2-432F-75D514CB5B28}"/>
              </a:ext>
            </a:extLst>
          </p:cNvPr>
          <p:cNvSpPr/>
          <p:nvPr/>
        </p:nvSpPr>
        <p:spPr>
          <a:xfrm>
            <a:off x="2862072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FC9EEEE-2FFC-ED5A-DADB-AA898C7A4B9B}"/>
              </a:ext>
            </a:extLst>
          </p:cNvPr>
          <p:cNvSpPr/>
          <p:nvPr/>
        </p:nvSpPr>
        <p:spPr>
          <a:xfrm>
            <a:off x="2862072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95AD2415-55B3-3B4D-B290-599A657EEAF7}"/>
              </a:ext>
            </a:extLst>
          </p:cNvPr>
          <p:cNvSpPr/>
          <p:nvPr/>
        </p:nvSpPr>
        <p:spPr>
          <a:xfrm>
            <a:off x="2359152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Obsidian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C4ECAC2-7EFF-1FEE-A971-16E83E9A15F5}"/>
              </a:ext>
            </a:extLst>
          </p:cNvPr>
          <p:cNvSpPr/>
          <p:nvPr/>
        </p:nvSpPr>
        <p:spPr>
          <a:xfrm>
            <a:off x="4855464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7C40AE6-8491-3BF6-4E81-EEB589816DFB}"/>
              </a:ext>
            </a:extLst>
          </p:cNvPr>
          <p:cNvSpPr/>
          <p:nvPr/>
        </p:nvSpPr>
        <p:spPr>
          <a:xfrm>
            <a:off x="4855464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8A3354A-DE33-2FDC-FB41-ABEAB6464D4A}"/>
              </a:ext>
            </a:extLst>
          </p:cNvPr>
          <p:cNvSpPr/>
          <p:nvPr/>
        </p:nvSpPr>
        <p:spPr>
          <a:xfrm>
            <a:off x="4352544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Excalidraw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785675B-B7CA-0EB6-CD88-9E78EF58FDAF}"/>
              </a:ext>
            </a:extLst>
          </p:cNvPr>
          <p:cNvSpPr/>
          <p:nvPr/>
        </p:nvSpPr>
        <p:spPr>
          <a:xfrm>
            <a:off x="6848856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4ED523F-514B-6B82-4498-7C266C949BB3}"/>
              </a:ext>
            </a:extLst>
          </p:cNvPr>
          <p:cNvSpPr/>
          <p:nvPr/>
        </p:nvSpPr>
        <p:spPr>
          <a:xfrm>
            <a:off x="6848856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B6E1E7EB-9AA5-C099-67C5-D2193F305BF8}"/>
              </a:ext>
            </a:extLst>
          </p:cNvPr>
          <p:cNvSpPr/>
          <p:nvPr/>
        </p:nvSpPr>
        <p:spPr>
          <a:xfrm>
            <a:off x="6345936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0B57022A-D93E-8191-F9BE-6B6788FF4BD3}"/>
              </a:ext>
            </a:extLst>
          </p:cNvPr>
          <p:cNvSpPr/>
          <p:nvPr/>
        </p:nvSpPr>
        <p:spPr>
          <a:xfrm>
            <a:off x="8842248" y="2880360"/>
            <a:ext cx="566928" cy="566928"/>
          </a:xfrm>
          <a:prstGeom prst="ellipse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E61753D-2467-2BD0-A740-E2ABB24AA938}"/>
              </a:ext>
            </a:extLst>
          </p:cNvPr>
          <p:cNvSpPr/>
          <p:nvPr/>
        </p:nvSpPr>
        <p:spPr>
          <a:xfrm>
            <a:off x="8842248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E029C46-BC36-F981-CF49-555F2EB0F5BF}"/>
              </a:ext>
            </a:extLst>
          </p:cNvPr>
          <p:cNvSpPr/>
          <p:nvPr/>
        </p:nvSpPr>
        <p:spPr>
          <a:xfrm>
            <a:off x="8339328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PowerToys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148EF612-9B4A-A974-759A-07F4DC592802}"/>
              </a:ext>
            </a:extLst>
          </p:cNvPr>
          <p:cNvSpPr/>
          <p:nvPr/>
        </p:nvSpPr>
        <p:spPr>
          <a:xfrm>
            <a:off x="10835640" y="288036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12C51812-FD22-4C60-0462-A5733019EE52}"/>
              </a:ext>
            </a:extLst>
          </p:cNvPr>
          <p:cNvSpPr/>
          <p:nvPr/>
        </p:nvSpPr>
        <p:spPr>
          <a:xfrm>
            <a:off x="10835640" y="29855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120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33BA3C75-3808-148C-5D4B-09D3FCB9BD0F}"/>
              </a:ext>
            </a:extLst>
          </p:cNvPr>
          <p:cNvSpPr/>
          <p:nvPr/>
        </p:nvSpPr>
        <p:spPr>
          <a:xfrm>
            <a:off x="10332720" y="3630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A56F9249-8F5C-2333-EB0F-4E59CDCF8047}"/>
              </a:ext>
            </a:extLst>
          </p:cNvPr>
          <p:cNvSpPr/>
          <p:nvPr/>
        </p:nvSpPr>
        <p:spPr>
          <a:xfrm>
            <a:off x="960120" y="4370832"/>
            <a:ext cx="10287000" cy="1234440"/>
          </a:xfrm>
          <a:prstGeom prst="roundRect">
            <a:avLst>
              <a:gd name="adj" fmla="val 1037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8BDF8">
                <a:alpha val="9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D3A5BE5-FC08-8B86-388D-B5DB9C75DE18}"/>
              </a:ext>
            </a:extLst>
          </p:cNvPr>
          <p:cNvSpPr/>
          <p:nvPr/>
        </p:nvSpPr>
        <p:spPr>
          <a:xfrm>
            <a:off x="1234440" y="46542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914ECE8C-8C8B-2DAC-E954-56FFFD4D33B5}"/>
              </a:ext>
            </a:extLst>
          </p:cNvPr>
          <p:cNvSpPr/>
          <p:nvPr/>
        </p:nvSpPr>
        <p:spPr>
          <a:xfrm>
            <a:off x="2176272" y="45171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Wrap-Up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17589DCF-12F5-BC99-9F7B-55CBE73345B8}"/>
              </a:ext>
            </a:extLst>
          </p:cNvPr>
          <p:cNvSpPr/>
          <p:nvPr/>
        </p:nvSpPr>
        <p:spPr>
          <a:xfrm>
            <a:off x="2194560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Bring the toolkit together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9BEFBB12-7EFE-30E9-50F2-252952369FBD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912B2F9F-F102-9EED-F093-334F1B90C8F8}"/>
              </a:ext>
            </a:extLst>
          </p:cNvPr>
          <p:cNvSpPr/>
          <p:nvPr/>
        </p:nvSpPr>
        <p:spPr>
          <a:xfrm>
            <a:off x="713232" y="5925312"/>
            <a:ext cx="10744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2940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3C61D2-3050-93E7-9BCA-18D9508D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95E01-D7E0-39F8-F787-617BC70BD613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55637-1B8D-CCF6-66BA-34F4A47F5A23}"/>
              </a:ext>
            </a:extLst>
          </p:cNvPr>
          <p:cNvSpPr txBox="1"/>
          <p:nvPr/>
        </p:nvSpPr>
        <p:spPr>
          <a:xfrm>
            <a:off x="502920" y="978139"/>
            <a:ext cx="32482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2800" dirty="0">
                <a:solidFill>
                  <a:schemeClr val="bg1"/>
                </a:solidFill>
              </a:rPr>
              <a:t>Pick one. Start today.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5337566C-9870-E1A4-255F-45A2883DCA16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69A1B5-542E-380C-20B8-6529636B7EFE}"/>
              </a:ext>
            </a:extLst>
          </p:cNvPr>
          <p:cNvSpPr/>
          <p:nvPr/>
        </p:nvSpPr>
        <p:spPr>
          <a:xfrm>
            <a:off x="640079" y="1737360"/>
            <a:ext cx="11206779" cy="402336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04800" rIns="457200" bIns="304800" rtlCol="0" anchor="ctr"/>
          <a:lstStyle/>
          <a:p>
            <a:pPr marL="457200" lvl="0" indent="-457200">
              <a:lnSpc>
                <a:spcPct val="120000"/>
              </a:lnSpc>
              <a:spcAft>
                <a:spcPts val="1500"/>
              </a:spcAft>
              <a:buFont typeface="Arial"/>
              <a:buChar char="•"/>
            </a:pPr>
            <a:r>
              <a:rPr lang="en-US" sz="3200" dirty="0"/>
              <a:t>Pick one tool today.</a:t>
            </a:r>
          </a:p>
          <a:p>
            <a:pPr marL="457200" lvl="0" indent="-457200">
              <a:lnSpc>
                <a:spcPct val="120000"/>
              </a:lnSpc>
              <a:spcAft>
                <a:spcPts val="1500"/>
              </a:spcAft>
              <a:buFont typeface="Arial"/>
              <a:buChar char="•"/>
            </a:pPr>
            <a:r>
              <a:rPr lang="en-US" sz="3200" dirty="0"/>
              <a:t>Build a habit this week.</a:t>
            </a:r>
          </a:p>
          <a:p>
            <a:pPr marL="457200" lvl="0" indent="-457200">
              <a:lnSpc>
                <a:spcPct val="120000"/>
              </a:lnSpc>
              <a:spcAft>
                <a:spcPts val="2400"/>
              </a:spcAft>
              <a:buFont typeface="Arial"/>
              <a:buChar char="•"/>
            </a:pPr>
            <a:r>
              <a:rPr lang="en-US" sz="3200" dirty="0"/>
              <a:t>Share it with your </a:t>
            </a:r>
            <a:r>
              <a:rPr lang="en-US" sz="3200"/>
              <a:t>team.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2501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38EE7-F755-E120-BE48-96BD3DCC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8F98B-18D1-0B0E-4B79-3CF630218F7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4373D-A293-AA69-F4FB-78C5E89D01AE}"/>
              </a:ext>
            </a:extLst>
          </p:cNvPr>
          <p:cNvSpPr txBox="1"/>
          <p:nvPr/>
        </p:nvSpPr>
        <p:spPr>
          <a:xfrm>
            <a:off x="502920" y="621792"/>
            <a:ext cx="348672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Go Deeper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998C7C7-78D2-0824-9964-3CAD9C3412DF}"/>
              </a:ext>
            </a:extLst>
          </p:cNvPr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5240">
            <a:solidFill>
              <a:srgbClr val="66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6FD453-DBDA-B22E-749B-7AEB4516B450}"/>
              </a:ext>
            </a:extLst>
          </p:cNvPr>
          <p:cNvSpPr/>
          <p:nvPr/>
        </p:nvSpPr>
        <p:spPr>
          <a:xfrm>
            <a:off x="640080" y="1737360"/>
            <a:ext cx="11018520" cy="4254500"/>
          </a:xfrm>
          <a:prstGeom prst="roundRect">
            <a:avLst/>
          </a:prstGeom>
          <a:solidFill>
            <a:srgbClr val="242424"/>
          </a:solidFill>
          <a:ln w="2286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201168" bIns="10972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26C75E-EB08-3040-DA0D-1189A888C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002277"/>
              </p:ext>
            </p:extLst>
          </p:nvPr>
        </p:nvGraphicFramePr>
        <p:xfrm>
          <a:off x="1026942" y="1871003"/>
          <a:ext cx="10299700" cy="400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35458299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18389559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4159509407"/>
                    </a:ext>
                  </a:extLst>
                </a:gridCol>
              </a:tblGrid>
              <a:tr h="500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/>
                        </a:rPr>
                        <a:t>Tool</a:t>
                      </a:r>
                    </a:p>
                  </a:txBody>
                  <a:tcPr anchor="ctr">
                    <a:solidFill>
                      <a:srgbClr val="1B35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/>
                        </a:rPr>
                        <a:t>Documentation</a:t>
                      </a:r>
                    </a:p>
                  </a:txBody>
                  <a:tcPr anchor="ctr">
                    <a:solidFill>
                      <a:srgbClr val="1B35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Learn More</a:t>
                      </a:r>
                    </a:p>
                  </a:txBody>
                  <a:tcPr anchor="ctr">
                    <a:solidFill>
                      <a:srgbClr val="1B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977206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Obsidian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help.obsidian.md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“Linking Your Thinking” — Nick Milo on YouTube</a:t>
                      </a:r>
                    </a:p>
                    <a:p>
                      <a:pPr algn="l">
                        <a:buNone/>
                      </a:pPr>
                      <a:r>
                        <a:rPr lang="en-US" sz="1400" b="0" i="1" dirty="0">
                          <a:solidFill>
                            <a:srgbClr val="E0E0E0"/>
                          </a:solidFill>
                          <a:latin typeface="Aptos"/>
                        </a:rPr>
                        <a:t>How to Take Smart Notes in Obsidian</a:t>
                      </a: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 — Josh Duffney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13804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Excalidraw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docs.excalidraw.com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Zsolt Viczián's YouTube channel</a:t>
                      </a:r>
                    </a:p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Excalidraw+ blog (plus.excalidraw.com/blog)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08547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VS Code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code.visualstudio.com/docs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Official VS Code YouTube channel</a:t>
                      </a: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VS Code Tips &amp; Tricks (in official docs)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641189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PowerToys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solidFill>
                            <a:srgbClr val="E0E0E0"/>
                          </a:solidFill>
                          <a:latin typeface="Aptos"/>
                        </a:rPr>
                        <a:t>learn.microsoft.com/windows/powertoys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github.com/microsoft/PowerToys</a:t>
                      </a:r>
                    </a:p>
                    <a:p>
                      <a:pPr algn="l">
                        <a:buNone/>
                      </a:pPr>
                      <a:r>
                        <a:rPr lang="en-US" sz="1400" b="0" dirty="0">
                          <a:solidFill>
                            <a:srgbClr val="E0E0E0"/>
                          </a:solidFill>
                          <a:latin typeface="Aptos"/>
                        </a:rPr>
                        <a:t>Scott Hanselman's PowerToys videos on YouTube</a:t>
                      </a:r>
                    </a:p>
                  </a:txBody>
                  <a:tcPr anchor="ctr">
                    <a:solidFill>
                      <a:srgbClr val="24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30921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F90F3E-2CFA-AA02-8EDE-955B4118FE56}"/>
              </a:ext>
            </a:extLst>
          </p:cNvPr>
          <p:cNvSpPr txBox="1"/>
          <p:nvPr/>
        </p:nvSpPr>
        <p:spPr>
          <a:xfrm>
            <a:off x="1086728" y="6159500"/>
            <a:ext cx="671324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Each tool has a community worth joining — start with the official docs.</a:t>
            </a:r>
          </a:p>
        </p:txBody>
      </p:sp>
    </p:spTree>
    <p:extLst>
      <p:ext uri="{BB962C8B-B14F-4D97-AF65-F5344CB8AC3E}">
        <p14:creationId xmlns:p14="http://schemas.microsoft.com/office/powerpoint/2010/main" val="21974479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734AD-49B1-8E5D-B3F0-BD811345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5232CC-272A-AD20-28B8-1C9918EFA9F6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E424D-4557-9846-D8F5-4AC70253D16A}"/>
              </a:ext>
            </a:extLst>
          </p:cNvPr>
          <p:cNvSpPr txBox="1"/>
          <p:nvPr/>
        </p:nvSpPr>
        <p:spPr>
          <a:xfrm>
            <a:off x="713232" y="1389888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E0B70-3D19-212F-BFF2-BED99F10E23E}"/>
              </a:ext>
            </a:extLst>
          </p:cNvPr>
          <p:cNvSpPr txBox="1"/>
          <p:nvPr/>
        </p:nvSpPr>
        <p:spPr>
          <a:xfrm>
            <a:off x="460042" y="4423477"/>
            <a:ext cx="3635303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 Romans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thedaxshepherd@gmail.com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linkedin.com/in/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jasonromans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www.thedaxshepherd.com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330A92-32B6-563F-BE9B-9BEE4D6F59AC}"/>
              </a:ext>
            </a:extLst>
          </p:cNvPr>
          <p:cNvSpPr txBox="1"/>
          <p:nvPr/>
        </p:nvSpPr>
        <p:spPr>
          <a:xfrm>
            <a:off x="4344459" y="1192962"/>
            <a:ext cx="3283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A6A63-38F2-5BC5-2DCC-CABA7326681D}"/>
              </a:ext>
            </a:extLst>
          </p:cNvPr>
          <p:cNvSpPr txBox="1"/>
          <p:nvPr/>
        </p:nvSpPr>
        <p:spPr>
          <a:xfrm>
            <a:off x="8322143" y="1192963"/>
            <a:ext cx="3825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Session Evaluation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4B04CD-3B8B-E6F9-C636-6D51EF723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422" y="1777737"/>
            <a:ext cx="3302527" cy="33025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041C3C-AEC4-BF3C-A2FB-675D2F2692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3899" y="1996346"/>
            <a:ext cx="3161114" cy="23693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03EAC2-3C9E-BF61-3AD4-F369301FF89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1803400"/>
            <a:ext cx="3162300" cy="325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761B7E-7288-8028-5600-344039982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0" y="1803400"/>
            <a:ext cx="3157334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85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48E704-7303-4620-86DE-C346BC0518D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b5965ae-6d91-4e66-95d5-7b5f07dffbd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1726</TotalTime>
  <Words>2315</Words>
  <Application>Microsoft Office PowerPoint</Application>
  <PresentationFormat>Widescreen</PresentationFormat>
  <Paragraphs>568</Paragraphs>
  <Slides>50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Thank You to Our Sponsors!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Jason Romans</cp:lastModifiedBy>
  <cp:revision>4</cp:revision>
  <dcterms:created xsi:type="dcterms:W3CDTF">2013-01-27T09:14:16Z</dcterms:created>
  <dcterms:modified xsi:type="dcterms:W3CDTF">2026-08-08T12:06:52Z</dcterms:modified>
  <cp:category/>
</cp:coreProperties>
</file>