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  <p:sldMasterId id="2147483663" r:id="rId3"/>
  </p:sldMasterIdLst>
  <p:notesMasterIdLst>
    <p:notesMasterId r:id="rId47"/>
  </p:notesMasterIdLst>
  <p:sldIdLst>
    <p:sldId id="2147477862" r:id="rId4"/>
    <p:sldId id="256" r:id="rId5"/>
    <p:sldId id="2147477754" r:id="rId6"/>
    <p:sldId id="2147477755" r:id="rId7"/>
    <p:sldId id="2147477702" r:id="rId8"/>
    <p:sldId id="2147477800" r:id="rId9"/>
    <p:sldId id="2147477801" r:id="rId10"/>
    <p:sldId id="2147477802" r:id="rId11"/>
    <p:sldId id="2147477811" r:id="rId12"/>
    <p:sldId id="2147477812" r:id="rId13"/>
    <p:sldId id="2147477805" r:id="rId14"/>
    <p:sldId id="2147477819" r:id="rId15"/>
    <p:sldId id="2147477867" r:id="rId16"/>
    <p:sldId id="2147477869" r:id="rId17"/>
    <p:sldId id="2147477873" r:id="rId18"/>
    <p:sldId id="2147477876" r:id="rId19"/>
    <p:sldId id="2147477865" r:id="rId20"/>
    <p:sldId id="2147477714" r:id="rId21"/>
    <p:sldId id="2147477766" r:id="rId22"/>
    <p:sldId id="2147477855" r:id="rId23"/>
    <p:sldId id="2147477877" r:id="rId24"/>
    <p:sldId id="2147477879" r:id="rId25"/>
    <p:sldId id="2147477806" r:id="rId26"/>
    <p:sldId id="2147477715" r:id="rId27"/>
    <p:sldId id="2147477716" r:id="rId28"/>
    <p:sldId id="2147477717" r:id="rId29"/>
    <p:sldId id="2147477881" r:id="rId30"/>
    <p:sldId id="2147477880" r:id="rId31"/>
    <p:sldId id="2147477823" r:id="rId32"/>
    <p:sldId id="2147477807" r:id="rId33"/>
    <p:sldId id="2147477841" r:id="rId34"/>
    <p:sldId id="2147477824" r:id="rId35"/>
    <p:sldId id="2147477813" r:id="rId36"/>
    <p:sldId id="2147477858" r:id="rId37"/>
    <p:sldId id="2147477859" r:id="rId38"/>
    <p:sldId id="2147477860" r:id="rId39"/>
    <p:sldId id="2147477861" r:id="rId40"/>
    <p:sldId id="2147477825" r:id="rId41"/>
    <p:sldId id="2147477814" r:id="rId42"/>
    <p:sldId id="2147477822" r:id="rId43"/>
    <p:sldId id="2147477830" r:id="rId44"/>
    <p:sldId id="2147477831" r:id="rId45"/>
    <p:sldId id="2147477863" r:id="rId4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FC1FA3B1-F0E8-46C2-BAB0-783FFAD01132}">
          <p14:sldIdLst>
            <p14:sldId id="2147477862"/>
            <p14:sldId id="256"/>
            <p14:sldId id="2147477754"/>
            <p14:sldId id="2147477755"/>
            <p14:sldId id="2147477702"/>
          </p14:sldIdLst>
        </p14:section>
        <p14:section name="Navigation Slides" id="{F2E969F9-31BD-4CFC-AC51-962B07AED10E}">
          <p14:sldIdLst>
            <p14:sldId id="2147477800"/>
            <p14:sldId id="2147477801"/>
            <p14:sldId id="2147477802"/>
            <p14:sldId id="2147477811"/>
            <p14:sldId id="2147477812"/>
          </p14:sldIdLst>
        </p14:section>
        <p14:section name="Intro" id="{C95960B4-84D0-400D-BD3A-50F55DCB5337}">
          <p14:sldIdLst>
            <p14:sldId id="2147477805"/>
            <p14:sldId id="2147477819"/>
            <p14:sldId id="2147477867"/>
            <p14:sldId id="2147477869"/>
            <p14:sldId id="2147477873"/>
            <p14:sldId id="2147477876"/>
            <p14:sldId id="2147477865"/>
            <p14:sldId id="2147477714"/>
            <p14:sldId id="2147477766"/>
            <p14:sldId id="2147477855"/>
            <p14:sldId id="2147477877"/>
            <p14:sldId id="2147477879"/>
          </p14:sldIdLst>
        </p14:section>
        <p14:section name="Desktop" id="{145C1CE7-7A94-4F30-BBCD-4CFE43A1CDA7}">
          <p14:sldIdLst>
            <p14:sldId id="2147477806"/>
            <p14:sldId id="2147477715"/>
            <p14:sldId id="2147477716"/>
            <p14:sldId id="2147477717"/>
            <p14:sldId id="2147477881"/>
            <p14:sldId id="2147477880"/>
            <p14:sldId id="2147477823"/>
          </p14:sldIdLst>
        </p14:section>
        <p14:section name="Notebook" id="{B602CE7E-E140-42EC-9ED3-D490D3B1496F}">
          <p14:sldIdLst>
            <p14:sldId id="2147477807"/>
            <p14:sldId id="2147477841"/>
            <p14:sldId id="2147477824"/>
          </p14:sldIdLst>
        </p14:section>
        <p14:section name="Power BI + Fabric" id="{C68DF170-0F5B-4C94-A59E-726B1208413B}">
          <p14:sldIdLst>
            <p14:sldId id="2147477813"/>
            <p14:sldId id="2147477858"/>
            <p14:sldId id="2147477859"/>
            <p14:sldId id="2147477860"/>
            <p14:sldId id="2147477861"/>
            <p14:sldId id="2147477825"/>
          </p14:sldIdLst>
        </p14:section>
        <p14:section name="Wrap-up" id="{76E01104-5AB9-4C4B-B5BA-C9CFC3365401}">
          <p14:sldIdLst>
            <p14:sldId id="2147477814"/>
            <p14:sldId id="2147477822"/>
            <p14:sldId id="2147477830"/>
            <p14:sldId id="2147477831"/>
            <p14:sldId id="21474778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1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BEA708-4A2F-4B67-9199-EB961B22517B}" v="3" dt="2026-08-07T13:03:17.4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101" y="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microsoft.com/office/2015/10/relationships/revisionInfo" Target="revisionInfo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Romans" userId="b1594dadafe83612" providerId="LiveId" clId="{CBB49B5A-BAC4-4EF9-90F7-6CF68F907A02}"/>
    <pc:docChg chg="undo custSel addSld delSld modSld sldOrd addSection delSection modSection">
      <pc:chgData name="Jason Romans" userId="b1594dadafe83612" providerId="LiveId" clId="{CBB49B5A-BAC4-4EF9-90F7-6CF68F907A02}" dt="2026-08-07T13:34:08.800" v="3428"/>
      <pc:docMkLst>
        <pc:docMk/>
      </pc:docMkLst>
      <pc:sldChg chg="modSp mod">
        <pc:chgData name="Jason Romans" userId="b1594dadafe83612" providerId="LiveId" clId="{CBB49B5A-BAC4-4EF9-90F7-6CF68F907A02}" dt="2026-08-07T11:48:55.658" v="3031"/>
        <pc:sldMkLst>
          <pc:docMk/>
          <pc:sldMk cId="4239964099" sldId="2147477714"/>
        </pc:sldMkLst>
        <pc:spChg chg="mod">
          <ac:chgData name="Jason Romans" userId="b1594dadafe83612" providerId="LiveId" clId="{CBB49B5A-BAC4-4EF9-90F7-6CF68F907A02}" dt="2026-08-07T11:48:55.644" v="3018"/>
          <ac:spMkLst>
            <pc:docMk/>
            <pc:sldMk cId="4239964099" sldId="2147477714"/>
            <ac:spMk id="6" creationId="{7DD1662E-7EB5-4A93-9135-C410CFE8F8FE}"/>
          </ac:spMkLst>
        </pc:spChg>
        <pc:spChg chg="mod">
          <ac:chgData name="Jason Romans" userId="b1594dadafe83612" providerId="LiveId" clId="{CBB49B5A-BAC4-4EF9-90F7-6CF68F907A02}" dt="2026-08-07T11:48:55.653" v="3025"/>
          <ac:spMkLst>
            <pc:docMk/>
            <pc:sldMk cId="4239964099" sldId="2147477714"/>
            <ac:spMk id="7" creationId="{7716AA86-2C2B-41E5-AAB3-7779DC6BDA3A}"/>
          </ac:spMkLst>
        </pc:spChg>
        <pc:spChg chg="mod">
          <ac:chgData name="Jason Romans" userId="b1594dadafe83612" providerId="LiveId" clId="{CBB49B5A-BAC4-4EF9-90F7-6CF68F907A02}" dt="2026-08-07T11:48:55.647" v="3020"/>
          <ac:spMkLst>
            <pc:docMk/>
            <pc:sldMk cId="4239964099" sldId="2147477714"/>
            <ac:spMk id="10" creationId="{4B40E6D8-6454-4BAA-B8A5-7F037F65B9F1}"/>
          </ac:spMkLst>
        </pc:spChg>
        <pc:spChg chg="mod">
          <ac:chgData name="Jason Romans" userId="b1594dadafe83612" providerId="LiveId" clId="{CBB49B5A-BAC4-4EF9-90F7-6CF68F907A02}" dt="2026-08-07T11:48:55.656" v="3028"/>
          <ac:spMkLst>
            <pc:docMk/>
            <pc:sldMk cId="4239964099" sldId="2147477714"/>
            <ac:spMk id="11" creationId="{D00A9524-9CA6-4AB2-A15A-0B4C2A90E932}"/>
          </ac:spMkLst>
        </pc:spChg>
        <pc:spChg chg="mod">
          <ac:chgData name="Jason Romans" userId="b1594dadafe83612" providerId="LiveId" clId="{CBB49B5A-BAC4-4EF9-90F7-6CF68F907A02}" dt="2026-08-07T11:48:55.650" v="3022"/>
          <ac:spMkLst>
            <pc:docMk/>
            <pc:sldMk cId="4239964099" sldId="2147477714"/>
            <ac:spMk id="14" creationId="{6F6BCB5E-129A-43F6-9C1D-9CA11E2A6BB0}"/>
          </ac:spMkLst>
        </pc:spChg>
        <pc:spChg chg="mod">
          <ac:chgData name="Jason Romans" userId="b1594dadafe83612" providerId="LiveId" clId="{CBB49B5A-BAC4-4EF9-90F7-6CF68F907A02}" dt="2026-08-07T11:48:55.658" v="3031"/>
          <ac:spMkLst>
            <pc:docMk/>
            <pc:sldMk cId="4239964099" sldId="2147477714"/>
            <ac:spMk id="15" creationId="{5D831AD7-DDE0-47DF-B3DF-03BC95C5958D}"/>
          </ac:spMkLst>
        </pc:spChg>
      </pc:sldChg>
      <pc:sldChg chg="modSp mod">
        <pc:chgData name="Jason Romans" userId="b1594dadafe83612" providerId="LiveId" clId="{CBB49B5A-BAC4-4EF9-90F7-6CF68F907A02}" dt="2026-08-07T11:49:04.552" v="3049"/>
        <pc:sldMkLst>
          <pc:docMk/>
          <pc:sldMk cId="1976206123" sldId="2147477766"/>
        </pc:sldMkLst>
        <pc:spChg chg="mod">
          <ac:chgData name="Jason Romans" userId="b1594dadafe83612" providerId="LiveId" clId="{CBB49B5A-BAC4-4EF9-90F7-6CF68F907A02}" dt="2026-08-07T11:49:04.539" v="3034"/>
          <ac:spMkLst>
            <pc:docMk/>
            <pc:sldMk cId="1976206123" sldId="2147477766"/>
            <ac:spMk id="6" creationId="{7DD1662E-7EB5-4A93-9135-C410CFE8F8FE}"/>
          </ac:spMkLst>
        </pc:spChg>
        <pc:spChg chg="mod">
          <ac:chgData name="Jason Romans" userId="b1594dadafe83612" providerId="LiveId" clId="{CBB49B5A-BAC4-4EF9-90F7-6CF68F907A02}" dt="2026-08-07T11:49:04.547" v="3043"/>
          <ac:spMkLst>
            <pc:docMk/>
            <pc:sldMk cId="1976206123" sldId="2147477766"/>
            <ac:spMk id="7" creationId="{7716AA86-2C2B-41E5-AAB3-7779DC6BDA3A}"/>
          </ac:spMkLst>
        </pc:spChg>
        <pc:spChg chg="mod">
          <ac:chgData name="Jason Romans" userId="b1594dadafe83612" providerId="LiveId" clId="{CBB49B5A-BAC4-4EF9-90F7-6CF68F907A02}" dt="2026-08-07T11:49:04.543" v="3037"/>
          <ac:spMkLst>
            <pc:docMk/>
            <pc:sldMk cId="1976206123" sldId="2147477766"/>
            <ac:spMk id="10" creationId="{4B40E6D8-6454-4BAA-B8A5-7F037F65B9F1}"/>
          </ac:spMkLst>
        </pc:spChg>
        <pc:spChg chg="mod">
          <ac:chgData name="Jason Romans" userId="b1594dadafe83612" providerId="LiveId" clId="{CBB49B5A-BAC4-4EF9-90F7-6CF68F907A02}" dt="2026-08-07T11:49:04.550" v="3046"/>
          <ac:spMkLst>
            <pc:docMk/>
            <pc:sldMk cId="1976206123" sldId="2147477766"/>
            <ac:spMk id="11" creationId="{D00A9524-9CA6-4AB2-A15A-0B4C2A90E932}"/>
          </ac:spMkLst>
        </pc:spChg>
        <pc:spChg chg="mod">
          <ac:chgData name="Jason Romans" userId="b1594dadafe83612" providerId="LiveId" clId="{CBB49B5A-BAC4-4EF9-90F7-6CF68F907A02}" dt="2026-08-07T11:49:04.543" v="3040"/>
          <ac:spMkLst>
            <pc:docMk/>
            <pc:sldMk cId="1976206123" sldId="2147477766"/>
            <ac:spMk id="14" creationId="{6F6BCB5E-129A-43F6-9C1D-9CA11E2A6BB0}"/>
          </ac:spMkLst>
        </pc:spChg>
        <pc:spChg chg="mod">
          <ac:chgData name="Jason Romans" userId="b1594dadafe83612" providerId="LiveId" clId="{CBB49B5A-BAC4-4EF9-90F7-6CF68F907A02}" dt="2026-08-07T11:49:04.552" v="3049"/>
          <ac:spMkLst>
            <pc:docMk/>
            <pc:sldMk cId="1976206123" sldId="2147477766"/>
            <ac:spMk id="15" creationId="{5D831AD7-DDE0-47DF-B3DF-03BC95C5958D}"/>
          </ac:spMkLst>
        </pc:spChg>
      </pc:sldChg>
      <pc:sldChg chg="addSp modSp mod">
        <pc:chgData name="Jason Romans" userId="b1594dadafe83612" providerId="LiveId" clId="{CBB49B5A-BAC4-4EF9-90F7-6CF68F907A02}" dt="2026-08-07T13:34:08.616" v="3392"/>
        <pc:sldMkLst>
          <pc:docMk/>
          <pc:sldMk cId="1028535951" sldId="2147477805"/>
        </pc:sldMkLst>
        <pc:spChg chg="add mod">
          <ac:chgData name="Jason Romans" userId="b1594dadafe83612" providerId="LiveId" clId="{CBB49B5A-BAC4-4EF9-90F7-6CF68F907A02}" dt="2026-08-07T13:34:08.616" v="3392"/>
          <ac:spMkLst>
            <pc:docMk/>
            <pc:sldMk cId="1028535951" sldId="2147477805"/>
            <ac:spMk id="35" creationId="{85572DD3-6096-4B15-8BE7-3DD256B6550C}"/>
          </ac:spMkLst>
        </pc:spChg>
      </pc:sldChg>
      <pc:sldChg chg="addSp modSp mod">
        <pc:chgData name="Jason Romans" userId="b1594dadafe83612" providerId="LiveId" clId="{CBB49B5A-BAC4-4EF9-90F7-6CF68F907A02}" dt="2026-08-07T13:34:08.692" v="3401"/>
        <pc:sldMkLst>
          <pc:docMk/>
          <pc:sldMk cId="3801690575" sldId="2147477806"/>
        </pc:sldMkLst>
        <pc:spChg chg="add mod">
          <ac:chgData name="Jason Romans" userId="b1594dadafe83612" providerId="LiveId" clId="{CBB49B5A-BAC4-4EF9-90F7-6CF68F907A02}" dt="2026-08-07T13:34:08.692" v="3401"/>
          <ac:spMkLst>
            <pc:docMk/>
            <pc:sldMk cId="3801690575" sldId="2147477806"/>
            <ac:spMk id="27" creationId="{79F97A22-A558-4938-AD37-0C87F75F89E0}"/>
          </ac:spMkLst>
        </pc:spChg>
      </pc:sldChg>
      <pc:sldChg chg="addSp modSp mod">
        <pc:chgData name="Jason Romans" userId="b1594dadafe83612" providerId="LiveId" clId="{CBB49B5A-BAC4-4EF9-90F7-6CF68F907A02}" dt="2026-08-07T13:34:08.726" v="3410"/>
        <pc:sldMkLst>
          <pc:docMk/>
          <pc:sldMk cId="1644949439" sldId="2147477807"/>
        </pc:sldMkLst>
        <pc:spChg chg="add mod">
          <ac:chgData name="Jason Romans" userId="b1594dadafe83612" providerId="LiveId" clId="{CBB49B5A-BAC4-4EF9-90F7-6CF68F907A02}" dt="2026-08-07T13:34:08.726" v="3410"/>
          <ac:spMkLst>
            <pc:docMk/>
            <pc:sldMk cId="1644949439" sldId="2147477807"/>
            <ac:spMk id="35" creationId="{6A35EDB1-04E8-4876-9B56-AE865218EBF9}"/>
          </ac:spMkLst>
        </pc:spChg>
      </pc:sldChg>
      <pc:sldChg chg="addSp modSp mod">
        <pc:chgData name="Jason Romans" userId="b1594dadafe83612" providerId="LiveId" clId="{CBB49B5A-BAC4-4EF9-90F7-6CF68F907A02}" dt="2026-08-07T13:34:08.760" v="3419"/>
        <pc:sldMkLst>
          <pc:docMk/>
          <pc:sldMk cId="226035148" sldId="2147477813"/>
        </pc:sldMkLst>
        <pc:spChg chg="add mod">
          <ac:chgData name="Jason Romans" userId="b1594dadafe83612" providerId="LiveId" clId="{CBB49B5A-BAC4-4EF9-90F7-6CF68F907A02}" dt="2026-08-07T13:34:08.760" v="3419"/>
          <ac:spMkLst>
            <pc:docMk/>
            <pc:sldMk cId="226035148" sldId="2147477813"/>
            <ac:spMk id="35" creationId="{C545D83E-8177-4383-8E73-CAC5C3C2729D}"/>
          </ac:spMkLst>
        </pc:spChg>
      </pc:sldChg>
      <pc:sldChg chg="addSp modSp mod">
        <pc:chgData name="Jason Romans" userId="b1594dadafe83612" providerId="LiveId" clId="{CBB49B5A-BAC4-4EF9-90F7-6CF68F907A02}" dt="2026-08-07T13:34:08.800" v="3428"/>
        <pc:sldMkLst>
          <pc:docMk/>
          <pc:sldMk cId="1802724123" sldId="2147477814"/>
        </pc:sldMkLst>
        <pc:spChg chg="add mod">
          <ac:chgData name="Jason Romans" userId="b1594dadafe83612" providerId="LiveId" clId="{CBB49B5A-BAC4-4EF9-90F7-6CF68F907A02}" dt="2026-08-07T13:34:08.800" v="3428"/>
          <ac:spMkLst>
            <pc:docMk/>
            <pc:sldMk cId="1802724123" sldId="2147477814"/>
            <ac:spMk id="34" creationId="{661ABF07-F032-49B3-8DD8-0EF883C1A6CF}"/>
          </ac:spMkLst>
        </pc:spChg>
      </pc:sldChg>
      <pc:sldChg chg="modSp mod">
        <pc:chgData name="Jason Romans" userId="b1594dadafe83612" providerId="LiveId" clId="{CBB49B5A-BAC4-4EF9-90F7-6CF68F907A02}" dt="2026-08-07T11:45:18.848" v="3000"/>
        <pc:sldMkLst>
          <pc:docMk/>
          <pc:sldMk cId="250490532" sldId="2147477819"/>
        </pc:sldMkLst>
        <pc:spChg chg="mod">
          <ac:chgData name="Jason Romans" userId="b1594dadafe83612" providerId="LiveId" clId="{CBB49B5A-BAC4-4EF9-90F7-6CF68F907A02}" dt="2026-08-07T11:45:18.848" v="3000"/>
          <ac:spMkLst>
            <pc:docMk/>
            <pc:sldMk cId="250490532" sldId="2147477819"/>
            <ac:spMk id="5" creationId="{00000000-0000-0000-0000-000000000000}"/>
          </ac:spMkLst>
        </pc:spChg>
      </pc:sldChg>
      <pc:sldChg chg="modSp mod">
        <pc:chgData name="Jason Romans" userId="b1594dadafe83612" providerId="LiveId" clId="{CBB49B5A-BAC4-4EF9-90F7-6CF68F907A02}" dt="2026-08-07T11:45:18.860" v="3010"/>
        <pc:sldMkLst>
          <pc:docMk/>
          <pc:sldMk cId="2074954952" sldId="2147477822"/>
        </pc:sldMkLst>
        <pc:spChg chg="mod">
          <ac:chgData name="Jason Romans" userId="b1594dadafe83612" providerId="LiveId" clId="{CBB49B5A-BAC4-4EF9-90F7-6CF68F907A02}" dt="2026-08-07T11:45:18.860" v="3010"/>
          <ac:spMkLst>
            <pc:docMk/>
            <pc:sldMk cId="2074954952" sldId="2147477822"/>
            <ac:spMk id="5" creationId="{00000000-0000-0000-0000-000000000000}"/>
          </ac:spMkLst>
        </pc:spChg>
      </pc:sldChg>
      <pc:sldChg chg="del">
        <pc:chgData name="Jason Romans" userId="b1594dadafe83612" providerId="LiveId" clId="{CBB49B5A-BAC4-4EF9-90F7-6CF68F907A02}" dt="2026-08-07T11:37:59.978" v="2984"/>
        <pc:sldMkLst>
          <pc:docMk/>
          <pc:sldMk cId="2159400988" sldId="2147477844"/>
        </pc:sldMkLst>
      </pc:sldChg>
      <pc:sldChg chg="del">
        <pc:chgData name="Jason Romans" userId="b1594dadafe83612" providerId="LiveId" clId="{CBB49B5A-BAC4-4EF9-90F7-6CF68F907A02}" dt="2026-08-07T11:38:16.141" v="2987"/>
        <pc:sldMkLst>
          <pc:docMk/>
          <pc:sldMk cId="1675982411" sldId="2147477847"/>
        </pc:sldMkLst>
      </pc:sldChg>
      <pc:sldChg chg="del">
        <pc:chgData name="Jason Romans" userId="b1594dadafe83612" providerId="LiveId" clId="{CBB49B5A-BAC4-4EF9-90F7-6CF68F907A02}" dt="2026-08-07T11:34:41.519" v="2979"/>
        <pc:sldMkLst>
          <pc:docMk/>
          <pc:sldMk cId="1675982411" sldId="2147477852"/>
        </pc:sldMkLst>
      </pc:sldChg>
      <pc:sldChg chg="modSp del mod">
        <pc:chgData name="Jason Romans" userId="b1594dadafe83612" providerId="LiveId" clId="{CBB49B5A-BAC4-4EF9-90F7-6CF68F907A02}" dt="2026-08-07T13:33:32.012" v="3383"/>
        <pc:sldMkLst>
          <pc:docMk/>
          <pc:sldMk cId="250490532" sldId="2147477854"/>
        </pc:sldMkLst>
        <pc:spChg chg="mod">
          <ac:chgData name="Jason Romans" userId="b1594dadafe83612" providerId="LiveId" clId="{CBB49B5A-BAC4-4EF9-90F7-6CF68F907A02}" dt="2026-08-07T11:45:18.859" v="3008"/>
          <ac:spMkLst>
            <pc:docMk/>
            <pc:sldMk cId="250490532" sldId="2147477854"/>
            <ac:spMk id="5" creationId="{00000000-0000-0000-0000-000000000000}"/>
          </ac:spMkLst>
        </pc:spChg>
      </pc:sldChg>
      <pc:sldChg chg="modSp mod">
        <pc:chgData name="Jason Romans" userId="b1594dadafe83612" providerId="LiveId" clId="{CBB49B5A-BAC4-4EF9-90F7-6CF68F907A02}" dt="2026-08-07T11:51:40.503" v="3170"/>
        <pc:sldMkLst>
          <pc:docMk/>
          <pc:sldMk cId="3542648142" sldId="2147477855"/>
        </pc:sldMkLst>
        <pc:spChg chg="mod">
          <ac:chgData name="Jason Romans" userId="b1594dadafe83612" providerId="LiveId" clId="{CBB49B5A-BAC4-4EF9-90F7-6CF68F907A02}" dt="2026-08-07T11:51:40.493" v="3158"/>
          <ac:spMkLst>
            <pc:docMk/>
            <pc:sldMk cId="3542648142" sldId="2147477855"/>
            <ac:spMk id="6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49:15.059" v="3070" actId="27636"/>
          <ac:spMkLst>
            <pc:docMk/>
            <pc:sldMk cId="3542648142" sldId="2147477855"/>
            <ac:spMk id="7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1:40.496" v="3161"/>
          <ac:spMkLst>
            <pc:docMk/>
            <pc:sldMk cId="3542648142" sldId="2147477855"/>
            <ac:spMk id="8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1:40.493" v="3159"/>
          <ac:spMkLst>
            <pc:docMk/>
            <pc:sldMk cId="3542648142" sldId="2147477855"/>
            <ac:spMk id="9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49:15.069" v="3071" actId="27636"/>
          <ac:spMkLst>
            <pc:docMk/>
            <pc:sldMk cId="3542648142" sldId="2147477855"/>
            <ac:spMk id="10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1:40.499" v="3163"/>
          <ac:spMkLst>
            <pc:docMk/>
            <pc:sldMk cId="3542648142" sldId="2147477855"/>
            <ac:spMk id="11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1:40.501" v="3166"/>
          <ac:spMkLst>
            <pc:docMk/>
            <pc:sldMk cId="3542648142" sldId="2147477855"/>
            <ac:spMk id="12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1:40.503" v="3170"/>
          <ac:spMkLst>
            <pc:docMk/>
            <pc:sldMk cId="3542648142" sldId="2147477855"/>
            <ac:spMk id="13" creationId="{00000000-0000-0000-0000-000000000000}"/>
          </ac:spMkLst>
        </pc:spChg>
      </pc:sldChg>
      <pc:sldChg chg="del">
        <pc:chgData name="Jason Romans" userId="b1594dadafe83612" providerId="LiveId" clId="{CBB49B5A-BAC4-4EF9-90F7-6CF68F907A02}" dt="2026-08-07T11:50:02.998" v="3077"/>
        <pc:sldMkLst>
          <pc:docMk/>
          <pc:sldMk cId="3900304603" sldId="2147477856"/>
        </pc:sldMkLst>
      </pc:sldChg>
      <pc:sldChg chg="modSp del mod">
        <pc:chgData name="Jason Romans" userId="b1594dadafe83612" providerId="LiveId" clId="{CBB49B5A-BAC4-4EF9-90F7-6CF68F907A02}" dt="2026-08-07T11:50:43.927" v="3131"/>
        <pc:sldMkLst>
          <pc:docMk/>
          <pc:sldMk cId="1910362052" sldId="2147477857"/>
        </pc:sldMkLst>
      </pc:sldChg>
      <pc:sldChg chg="modSp mod">
        <pc:chgData name="Jason Romans" userId="b1594dadafe83612" providerId="LiveId" clId="{CBB49B5A-BAC4-4EF9-90F7-6CF68F907A02}" dt="2026-08-07T12:00:20.185" v="3376"/>
        <pc:sldMkLst>
          <pc:docMk/>
          <pc:sldMk cId="1754729816" sldId="2147477858"/>
        </pc:sldMkLst>
        <pc:spChg chg="mod">
          <ac:chgData name="Jason Romans" userId="b1594dadafe83612" providerId="LiveId" clId="{CBB49B5A-BAC4-4EF9-90F7-6CF68F907A02}" dt="2026-08-07T12:00:20.180" v="3373"/>
          <ac:spMkLst>
            <pc:docMk/>
            <pc:sldMk cId="1754729816" sldId="2147477858"/>
            <ac:spMk id="10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8:30.767" v="3184"/>
          <ac:spMkLst>
            <pc:docMk/>
            <pc:sldMk cId="1754729816" sldId="2147477858"/>
            <ac:spMk id="11" creationId="{00000000-0000-0000-0000-000000000000}"/>
          </ac:spMkLst>
        </pc:spChg>
        <pc:spChg chg="mod">
          <ac:chgData name="Jason Romans" userId="b1594dadafe83612" providerId="LiveId" clId="{CBB49B5A-BAC4-4EF9-90F7-6CF68F907A02}" dt="2026-08-07T12:00:20.169" v="3367"/>
          <ac:spMkLst>
            <pc:docMk/>
            <pc:sldMk cId="1754729816" sldId="2147477858"/>
            <ac:spMk id="12" creationId="{00000000-0000-0000-0000-000000000000}"/>
          </ac:spMkLst>
        </pc:spChg>
        <pc:spChg chg="mod">
          <ac:chgData name="Jason Romans" userId="b1594dadafe83612" providerId="LiveId" clId="{CBB49B5A-BAC4-4EF9-90F7-6CF68F907A02}" dt="2026-08-07T12:00:20.175" v="3370"/>
          <ac:spMkLst>
            <pc:docMk/>
            <pc:sldMk cId="1754729816" sldId="2147477858"/>
            <ac:spMk id="13" creationId="{00000000-0000-0000-0000-000000000000}"/>
          </ac:spMkLst>
        </pc:spChg>
        <pc:spChg chg="mod">
          <ac:chgData name="Jason Romans" userId="b1594dadafe83612" providerId="LiveId" clId="{CBB49B5A-BAC4-4EF9-90F7-6CF68F907A02}" dt="2026-08-07T12:00:20.179" v="3372"/>
          <ac:spMkLst>
            <pc:docMk/>
            <pc:sldMk cId="1754729816" sldId="2147477858"/>
            <ac:spMk id="14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9:44.434" v="3338"/>
          <ac:spMkLst>
            <pc:docMk/>
            <pc:sldMk cId="1754729816" sldId="2147477858"/>
            <ac:spMk id="15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9:44.434" v="3339"/>
          <ac:spMkLst>
            <pc:docMk/>
            <pc:sldMk cId="1754729816" sldId="2147477858"/>
            <ac:spMk id="16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9:44.435" v="3340"/>
          <ac:spMkLst>
            <pc:docMk/>
            <pc:sldMk cId="1754729816" sldId="2147477858"/>
            <ac:spMk id="17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9:44.436" v="3342"/>
          <ac:spMkLst>
            <pc:docMk/>
            <pc:sldMk cId="1754729816" sldId="2147477858"/>
            <ac:spMk id="19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9:44.436" v="3343"/>
          <ac:spMkLst>
            <pc:docMk/>
            <pc:sldMk cId="1754729816" sldId="2147477858"/>
            <ac:spMk id="20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9:44.438" v="3344"/>
          <ac:spMkLst>
            <pc:docMk/>
            <pc:sldMk cId="1754729816" sldId="2147477858"/>
            <ac:spMk id="21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9:44.439" v="3346"/>
          <ac:spMkLst>
            <pc:docMk/>
            <pc:sldMk cId="1754729816" sldId="2147477858"/>
            <ac:spMk id="23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9:44.440" v="3347"/>
          <ac:spMkLst>
            <pc:docMk/>
            <pc:sldMk cId="1754729816" sldId="2147477858"/>
            <ac:spMk id="24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9:44.440" v="3348"/>
          <ac:spMkLst>
            <pc:docMk/>
            <pc:sldMk cId="1754729816" sldId="2147477858"/>
            <ac:spMk id="25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9:44.441" v="3350"/>
          <ac:spMkLst>
            <pc:docMk/>
            <pc:sldMk cId="1754729816" sldId="2147477858"/>
            <ac:spMk id="27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9:44.442" v="3351"/>
          <ac:spMkLst>
            <pc:docMk/>
            <pc:sldMk cId="1754729816" sldId="2147477858"/>
            <ac:spMk id="28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9:44.443" v="3352"/>
          <ac:spMkLst>
            <pc:docMk/>
            <pc:sldMk cId="1754729816" sldId="2147477858"/>
            <ac:spMk id="29" creationId="{00000000-0000-0000-0000-000000000000}"/>
          </ac:spMkLst>
        </pc:spChg>
        <pc:spChg chg="mod">
          <ac:chgData name="Jason Romans" userId="b1594dadafe83612" providerId="LiveId" clId="{CBB49B5A-BAC4-4EF9-90F7-6CF68F907A02}" dt="2026-08-07T12:00:20.182" v="3374"/>
          <ac:spMkLst>
            <pc:docMk/>
            <pc:sldMk cId="1754729816" sldId="2147477858"/>
            <ac:spMk id="30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9:44.445" v="3358"/>
          <ac:spMkLst>
            <pc:docMk/>
            <pc:sldMk cId="1754729816" sldId="2147477858"/>
            <ac:spMk id="31" creationId="{00000000-0000-0000-0000-000000000000}"/>
          </ac:spMkLst>
        </pc:spChg>
        <pc:spChg chg="mod">
          <ac:chgData name="Jason Romans" userId="b1594dadafe83612" providerId="LiveId" clId="{CBB49B5A-BAC4-4EF9-90F7-6CF68F907A02}" dt="2026-08-07T12:00:20.185" v="3376"/>
          <ac:spMkLst>
            <pc:docMk/>
            <pc:sldMk cId="1754729816" sldId="2147477858"/>
            <ac:spMk id="32" creationId="{00000000-0000-0000-0000-000000000000}"/>
          </ac:spMkLst>
        </pc:spChg>
        <pc:cxnChg chg="mod">
          <ac:chgData name="Jason Romans" userId="b1594dadafe83612" providerId="LiveId" clId="{CBB49B5A-BAC4-4EF9-90F7-6CF68F907A02}" dt="2026-08-07T11:59:44.443" v="3353"/>
          <ac:cxnSpMkLst>
            <pc:docMk/>
            <pc:sldMk cId="1754729816" sldId="2147477858"/>
            <ac:cxnSpMk id="18" creationId="{00000000-0000-0000-0000-000000000000}"/>
          </ac:cxnSpMkLst>
        </pc:cxnChg>
        <pc:cxnChg chg="mod">
          <ac:chgData name="Jason Romans" userId="b1594dadafe83612" providerId="LiveId" clId="{CBB49B5A-BAC4-4EF9-90F7-6CF68F907A02}" dt="2026-08-07T11:59:44.443" v="3354"/>
          <ac:cxnSpMkLst>
            <pc:docMk/>
            <pc:sldMk cId="1754729816" sldId="2147477858"/>
            <ac:cxnSpMk id="22" creationId="{00000000-0000-0000-0000-000000000000}"/>
          </ac:cxnSpMkLst>
        </pc:cxnChg>
        <pc:cxnChg chg="mod">
          <ac:chgData name="Jason Romans" userId="b1594dadafe83612" providerId="LiveId" clId="{CBB49B5A-BAC4-4EF9-90F7-6CF68F907A02}" dt="2026-08-07T11:59:44.443" v="3355"/>
          <ac:cxnSpMkLst>
            <pc:docMk/>
            <pc:sldMk cId="1754729816" sldId="2147477858"/>
            <ac:cxnSpMk id="26" creationId="{00000000-0000-0000-0000-000000000000}"/>
          </ac:cxnSpMkLst>
        </pc:cxnChg>
      </pc:sldChg>
      <pc:sldChg chg="modSp mod">
        <pc:chgData name="Jason Romans" userId="b1594dadafe83612" providerId="LiveId" clId="{CBB49B5A-BAC4-4EF9-90F7-6CF68F907A02}" dt="2026-08-07T12:00:47.642" v="3379"/>
        <pc:sldMkLst>
          <pc:docMk/>
          <pc:sldMk cId="936478785" sldId="2147477859"/>
        </pc:sldMkLst>
        <pc:spChg chg="mod">
          <ac:chgData name="Jason Romans" userId="b1594dadafe83612" providerId="LiveId" clId="{CBB49B5A-BAC4-4EF9-90F7-6CF68F907A02}" dt="2026-08-07T11:59:04.273" v="3303"/>
          <ac:spMkLst>
            <pc:docMk/>
            <pc:sldMk cId="936478785" sldId="2147477859"/>
            <ac:spMk id="6" creationId="{CBB1E19D-6A5A-41CB-AAC7-2AE79DFC8759}"/>
          </ac:spMkLst>
        </pc:spChg>
        <pc:spChg chg="mod">
          <ac:chgData name="Jason Romans" userId="b1594dadafe83612" providerId="LiveId" clId="{CBB49B5A-BAC4-4EF9-90F7-6CF68F907A02}" dt="2026-08-07T12:00:47.642" v="3379"/>
          <ac:spMkLst>
            <pc:docMk/>
            <pc:sldMk cId="936478785" sldId="2147477859"/>
            <ac:spMk id="7" creationId="{C2D82931-4E28-4136-B6D6-3503C3E06F75}"/>
          </ac:spMkLst>
        </pc:spChg>
        <pc:spChg chg="mod">
          <ac:chgData name="Jason Romans" userId="b1594dadafe83612" providerId="LiveId" clId="{CBB49B5A-BAC4-4EF9-90F7-6CF68F907A02}" dt="2026-08-07T11:59:04.276" v="3305"/>
          <ac:spMkLst>
            <pc:docMk/>
            <pc:sldMk cId="936478785" sldId="2147477859"/>
            <ac:spMk id="9" creationId="{E86AB049-05A7-42FC-B4DC-F9618723A008}"/>
          </ac:spMkLst>
        </pc:spChg>
        <pc:spChg chg="mod">
          <ac:chgData name="Jason Romans" userId="b1594dadafe83612" providerId="LiveId" clId="{CBB49B5A-BAC4-4EF9-90F7-6CF68F907A02}" dt="2026-08-07T11:58:56.820" v="3264"/>
          <ac:spMkLst>
            <pc:docMk/>
            <pc:sldMk cId="936478785" sldId="2147477859"/>
            <ac:spMk id="10" creationId="{CE07623A-E0AA-479E-AB50-A1095D7EC248}"/>
          </ac:spMkLst>
        </pc:spChg>
        <pc:spChg chg="mod">
          <ac:chgData name="Jason Romans" userId="b1594dadafe83612" providerId="LiveId" clId="{CBB49B5A-BAC4-4EF9-90F7-6CF68F907A02}" dt="2026-08-07T11:58:56.832" v="3276"/>
          <ac:spMkLst>
            <pc:docMk/>
            <pc:sldMk cId="936478785" sldId="2147477859"/>
            <ac:spMk id="11" creationId="{A9C0BDC4-AE33-43CA-B744-71C12C42E3B6}"/>
          </ac:spMkLst>
        </pc:spChg>
        <pc:spChg chg="mod">
          <ac:chgData name="Jason Romans" userId="b1594dadafe83612" providerId="LiveId" clId="{CBB49B5A-BAC4-4EF9-90F7-6CF68F907A02}" dt="2026-08-07T11:58:56.826" v="3268"/>
          <ac:spMkLst>
            <pc:docMk/>
            <pc:sldMk cId="936478785" sldId="2147477859"/>
            <ac:spMk id="12" creationId="{00DC19B0-5A99-47A7-BA6F-5D19E9B1354D}"/>
          </ac:spMkLst>
        </pc:spChg>
        <pc:spChg chg="mod">
          <ac:chgData name="Jason Romans" userId="b1594dadafe83612" providerId="LiveId" clId="{CBB49B5A-BAC4-4EF9-90F7-6CF68F907A02}" dt="2026-08-07T11:58:56.835" v="3280"/>
          <ac:spMkLst>
            <pc:docMk/>
            <pc:sldMk cId="936478785" sldId="2147477859"/>
            <ac:spMk id="13" creationId="{3856DDFE-FD09-4822-A2DA-5B2BB4EEA7B2}"/>
          </ac:spMkLst>
        </pc:spChg>
        <pc:spChg chg="mod">
          <ac:chgData name="Jason Romans" userId="b1594dadafe83612" providerId="LiveId" clId="{CBB49B5A-BAC4-4EF9-90F7-6CF68F907A02}" dt="2026-08-07T11:58:56.830" v="3272"/>
          <ac:spMkLst>
            <pc:docMk/>
            <pc:sldMk cId="936478785" sldId="2147477859"/>
            <ac:spMk id="14" creationId="{0DB4AF7F-1707-4D9D-B799-A0242CF0571E}"/>
          </ac:spMkLst>
        </pc:spChg>
        <pc:spChg chg="mod">
          <ac:chgData name="Jason Romans" userId="b1594dadafe83612" providerId="LiveId" clId="{CBB49B5A-BAC4-4EF9-90F7-6CF68F907A02}" dt="2026-08-07T11:58:56.838" v="3284"/>
          <ac:spMkLst>
            <pc:docMk/>
            <pc:sldMk cId="936478785" sldId="2147477859"/>
            <ac:spMk id="15" creationId="{FBF1042E-ECF2-4497-8D12-5FE29F4B797A}"/>
          </ac:spMkLst>
        </pc:spChg>
        <pc:spChg chg="mod">
          <ac:chgData name="Jason Romans" userId="b1594dadafe83612" providerId="LiveId" clId="{CBB49B5A-BAC4-4EF9-90F7-6CF68F907A02}" dt="2026-08-07T11:58:56.841" v="3286"/>
          <ac:spMkLst>
            <pc:docMk/>
            <pc:sldMk cId="936478785" sldId="2147477859"/>
            <ac:spMk id="16" creationId="{41CC0F8E-C844-4C19-808F-3EBC354F6CF9}"/>
          </ac:spMkLst>
        </pc:spChg>
        <pc:spChg chg="mod">
          <ac:chgData name="Jason Romans" userId="b1594dadafe83612" providerId="LiveId" clId="{CBB49B5A-BAC4-4EF9-90F7-6CF68F907A02}" dt="2026-08-07T11:58:56.843" v="3289"/>
          <ac:spMkLst>
            <pc:docMk/>
            <pc:sldMk cId="936478785" sldId="2147477859"/>
            <ac:spMk id="17" creationId="{65F665B0-41BC-40A7-B035-AB4B72618538}"/>
          </ac:spMkLst>
        </pc:spChg>
        <pc:spChg chg="mod">
          <ac:chgData name="Jason Romans" userId="b1594dadafe83612" providerId="LiveId" clId="{CBB49B5A-BAC4-4EF9-90F7-6CF68F907A02}" dt="2026-08-07T11:58:56.847" v="3292"/>
          <ac:spMkLst>
            <pc:docMk/>
            <pc:sldMk cId="936478785" sldId="2147477859"/>
            <ac:spMk id="18" creationId="{3C479BAD-3C49-4D97-B92A-0BDD95022C4C}"/>
          </ac:spMkLst>
        </pc:spChg>
        <pc:spChg chg="mod">
          <ac:chgData name="Jason Romans" userId="b1594dadafe83612" providerId="LiveId" clId="{CBB49B5A-BAC4-4EF9-90F7-6CF68F907A02}" dt="2026-08-07T11:58:56.854" v="3298"/>
          <ac:spMkLst>
            <pc:docMk/>
            <pc:sldMk cId="936478785" sldId="2147477859"/>
            <ac:spMk id="19" creationId="{621AEB57-65B5-4CCE-BD94-0C772818EEEF}"/>
          </ac:spMkLst>
        </pc:spChg>
        <pc:spChg chg="mod">
          <ac:chgData name="Jason Romans" userId="b1594dadafe83612" providerId="LiveId" clId="{CBB49B5A-BAC4-4EF9-90F7-6CF68F907A02}" dt="2026-08-07T11:58:56.850" v="3295"/>
          <ac:spMkLst>
            <pc:docMk/>
            <pc:sldMk cId="936478785" sldId="2147477859"/>
            <ac:spMk id="20" creationId="{465F4F44-3CD9-4055-9FD0-5890C01DB3DF}"/>
          </ac:spMkLst>
        </pc:spChg>
        <pc:spChg chg="mod">
          <ac:chgData name="Jason Romans" userId="b1594dadafe83612" providerId="LiveId" clId="{CBB49B5A-BAC4-4EF9-90F7-6CF68F907A02}" dt="2026-08-07T11:58:56.857" v="3301"/>
          <ac:spMkLst>
            <pc:docMk/>
            <pc:sldMk cId="936478785" sldId="2147477859"/>
            <ac:spMk id="21" creationId="{F847239A-41A5-439A-A9AF-EA8E30593C3D}"/>
          </ac:spMkLst>
        </pc:spChg>
      </pc:sldChg>
      <pc:sldChg chg="modSp mod">
        <pc:chgData name="Jason Romans" userId="b1594dadafe83612" providerId="LiveId" clId="{CBB49B5A-BAC4-4EF9-90F7-6CF68F907A02}" dt="2026-08-07T11:59:15.441" v="3336"/>
        <pc:sldMkLst>
          <pc:docMk/>
          <pc:sldMk cId="118897722" sldId="2147477860"/>
        </pc:sldMkLst>
        <pc:spChg chg="mod">
          <ac:chgData name="Jason Romans" userId="b1594dadafe83612" providerId="LiveId" clId="{CBB49B5A-BAC4-4EF9-90F7-6CF68F907A02}" dt="2026-08-07T11:59:15.405" v="3309"/>
          <ac:spMkLst>
            <pc:docMk/>
            <pc:sldMk cId="118897722" sldId="2147477860"/>
            <ac:spMk id="11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9:15.407" v="3311"/>
          <ac:spMkLst>
            <pc:docMk/>
            <pc:sldMk cId="118897722" sldId="2147477860"/>
            <ac:spMk id="13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9:15.415" v="3316"/>
          <ac:spMkLst>
            <pc:docMk/>
            <pc:sldMk cId="118897722" sldId="2147477860"/>
            <ac:spMk id="14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9:15.421" v="3322"/>
          <ac:spMkLst>
            <pc:docMk/>
            <pc:sldMk cId="118897722" sldId="2147477860"/>
            <ac:spMk id="15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9:15.430" v="3328"/>
          <ac:spMkLst>
            <pc:docMk/>
            <pc:sldMk cId="118897722" sldId="2147477860"/>
            <ac:spMk id="16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9:15.411" v="3313"/>
          <ac:spMkLst>
            <pc:docMk/>
            <pc:sldMk cId="118897722" sldId="2147477860"/>
            <ac:spMk id="18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9:15.418" v="3319"/>
          <ac:spMkLst>
            <pc:docMk/>
            <pc:sldMk cId="118897722" sldId="2147477860"/>
            <ac:spMk id="19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9:15.426" v="3325"/>
          <ac:spMkLst>
            <pc:docMk/>
            <pc:sldMk cId="118897722" sldId="2147477860"/>
            <ac:spMk id="20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9:15.435" v="3331"/>
          <ac:spMkLst>
            <pc:docMk/>
            <pc:sldMk cId="118897722" sldId="2147477860"/>
            <ac:spMk id="21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9:15.441" v="3336"/>
          <ac:spMkLst>
            <pc:docMk/>
            <pc:sldMk cId="118897722" sldId="2147477860"/>
            <ac:spMk id="22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9:15.439" v="3334"/>
          <ac:spMkLst>
            <pc:docMk/>
            <pc:sldMk cId="118897722" sldId="2147477860"/>
            <ac:spMk id="23" creationId="{00000000-0000-0000-0000-000000000000}"/>
          </ac:spMkLst>
        </pc:spChg>
      </pc:sldChg>
      <pc:sldChg chg="modSp mod">
        <pc:chgData name="Jason Romans" userId="b1594dadafe83612" providerId="LiveId" clId="{CBB49B5A-BAC4-4EF9-90F7-6CF68F907A02}" dt="2026-07-27T11:29:15.867" v="2944" actId="20577"/>
        <pc:sldMkLst>
          <pc:docMk/>
          <pc:sldMk cId="4275083074" sldId="2147477862"/>
        </pc:sldMkLst>
        <pc:spChg chg="mod">
          <ac:chgData name="Jason Romans" userId="b1594dadafe83612" providerId="LiveId" clId="{CBB49B5A-BAC4-4EF9-90F7-6CF68F907A02}" dt="2026-07-27T11:29:15.867" v="2944" actId="20577"/>
          <ac:spMkLst>
            <pc:docMk/>
            <pc:sldMk cId="4275083074" sldId="2147477862"/>
            <ac:spMk id="32" creationId="{07964B68-7C0C-36ED-9051-CAE5DE77C90A}"/>
          </ac:spMkLst>
        </pc:spChg>
      </pc:sldChg>
      <pc:sldChg chg="addSp delSp modSp mod">
        <pc:chgData name="Jason Romans" userId="b1594dadafe83612" providerId="LiveId" clId="{CBB49B5A-BAC4-4EF9-90F7-6CF68F907A02}" dt="2026-07-27T11:28:19.782" v="2897" actId="1076"/>
        <pc:sldMkLst>
          <pc:docMk/>
          <pc:sldMk cId="2557544337" sldId="2147477863"/>
        </pc:sldMkLst>
        <pc:picChg chg="add mod">
          <ac:chgData name="Jason Romans" userId="b1594dadafe83612" providerId="LiveId" clId="{CBB49B5A-BAC4-4EF9-90F7-6CF68F907A02}" dt="2026-07-27T11:28:19.782" v="2897" actId="1076"/>
          <ac:picMkLst>
            <pc:docMk/>
            <pc:sldMk cId="2557544337" sldId="2147477863"/>
            <ac:picMk id="11" creationId="{5FE19B87-C83A-5221-D8DE-32AE15A00A40}"/>
          </ac:picMkLst>
        </pc:picChg>
      </pc:sldChg>
      <pc:sldChg chg="addSp delSp modSp add mod">
        <pc:chgData name="Jason Romans" userId="b1594dadafe83612" providerId="LiveId" clId="{CBB49B5A-BAC4-4EF9-90F7-6CF68F907A02}" dt="2026-08-05T20:58:08.003" v="2964" actId="1076"/>
        <pc:sldMkLst>
          <pc:docMk/>
          <pc:sldMk cId="277464168" sldId="2147477865"/>
        </pc:sldMkLst>
        <pc:spChg chg="mod">
          <ac:chgData name="Jason Romans" userId="b1594dadafe83612" providerId="LiveId" clId="{CBB49B5A-BAC4-4EF9-90F7-6CF68F907A02}" dt="2026-08-05T20:57:57.423" v="2961" actId="20577"/>
          <ac:spMkLst>
            <pc:docMk/>
            <pc:sldMk cId="277464168" sldId="2147477865"/>
            <ac:spMk id="4" creationId="{1F02021D-74FA-203B-5918-A58252455099}"/>
          </ac:spMkLst>
        </pc:spChg>
        <pc:picChg chg="add mod">
          <ac:chgData name="Jason Romans" userId="b1594dadafe83612" providerId="LiveId" clId="{CBB49B5A-BAC4-4EF9-90F7-6CF68F907A02}" dt="2026-08-05T20:58:08.003" v="2964" actId="1076"/>
          <ac:picMkLst>
            <pc:docMk/>
            <pc:sldMk cId="277464168" sldId="2147477865"/>
            <ac:picMk id="18" creationId="{6DD6BA55-F7E5-7CB2-4A42-92A148CC5020}"/>
          </ac:picMkLst>
        </pc:picChg>
      </pc:sldChg>
      <pc:sldChg chg="modSp del mod">
        <pc:chgData name="Jason Romans" userId="b1594dadafe83612" providerId="LiveId" clId="{CBB49B5A-BAC4-4EF9-90F7-6CF68F907A02}" dt="2026-08-07T13:33:07.053" v="3381"/>
        <pc:sldMkLst>
          <pc:docMk/>
          <pc:sldMk cId="250490532" sldId="2147477866"/>
        </pc:sldMkLst>
      </pc:sldChg>
      <pc:sldChg chg="modSp add del mod">
        <pc:chgData name="Jason Romans" userId="b1594dadafe83612" providerId="LiveId" clId="{CBB49B5A-BAC4-4EF9-90F7-6CF68F907A02}" dt="2026-08-07T11:34:57.806" v="2982"/>
        <pc:sldMkLst>
          <pc:docMk/>
          <pc:sldMk cId="3732549717" sldId="2147477868"/>
        </pc:sldMkLst>
        <pc:spChg chg="mod">
          <ac:chgData name="Jason Romans" userId="b1594dadafe83612" providerId="LiveId" clId="{CBB49B5A-BAC4-4EF9-90F7-6CF68F907A02}" dt="2026-08-07T11:34:41.791" v="2980" actId="27636"/>
          <ac:spMkLst>
            <pc:docMk/>
            <pc:sldMk cId="3732549717" sldId="2147477868"/>
            <ac:spMk id="11" creationId="{00000000-0000-0000-0000-000000000000}"/>
          </ac:spMkLst>
        </pc:spChg>
      </pc:sldChg>
      <pc:sldChg chg="modSp add mod">
        <pc:chgData name="Jason Romans" userId="b1594dadafe83612" providerId="LiveId" clId="{CBB49B5A-BAC4-4EF9-90F7-6CF68F907A02}" dt="2026-08-07T11:45:18.850" v="3002"/>
        <pc:sldMkLst>
          <pc:docMk/>
          <pc:sldMk cId="2895010721" sldId="2147477869"/>
        </pc:sldMkLst>
        <pc:spChg chg="mod">
          <ac:chgData name="Jason Romans" userId="b1594dadafe83612" providerId="LiveId" clId="{CBB49B5A-BAC4-4EF9-90F7-6CF68F907A02}" dt="2026-08-07T11:45:18.850" v="3002"/>
          <ac:spMkLst>
            <pc:docMk/>
            <pc:sldMk cId="2895010721" sldId="2147477869"/>
            <ac:spMk id="5" creationId="{00000000-0000-0000-0000-000000000000}"/>
          </ac:spMkLst>
        </pc:spChg>
      </pc:sldChg>
      <pc:sldChg chg="modSp add del mod">
        <pc:chgData name="Jason Romans" userId="b1594dadafe83612" providerId="LiveId" clId="{CBB49B5A-BAC4-4EF9-90F7-6CF68F907A02}" dt="2026-08-07T11:39:06.498" v="2992"/>
        <pc:sldMkLst>
          <pc:docMk/>
          <pc:sldMk cId="3038147396" sldId="2147477870"/>
        </pc:sldMkLst>
        <pc:spChg chg="mod">
          <ac:chgData name="Jason Romans" userId="b1594dadafe83612" providerId="LiveId" clId="{CBB49B5A-BAC4-4EF9-90F7-6CF68F907A02}" dt="2026-08-07T11:38:00.030" v="2985" actId="27636"/>
          <ac:spMkLst>
            <pc:docMk/>
            <pc:sldMk cId="3038147396" sldId="2147477870"/>
            <ac:spMk id="23" creationId="{00000000-0000-0000-0000-000000000000}"/>
          </ac:spMkLst>
        </pc:spChg>
      </pc:sldChg>
      <pc:sldChg chg="modSp add del mod">
        <pc:chgData name="Jason Romans" userId="b1594dadafe83612" providerId="LiveId" clId="{CBB49B5A-BAC4-4EF9-90F7-6CF68F907A02}" dt="2026-08-07T11:38:31.196" v="2990"/>
        <pc:sldMkLst>
          <pc:docMk/>
          <pc:sldMk cId="3145219951" sldId="2147477871"/>
        </pc:sldMkLst>
        <pc:spChg chg="mod">
          <ac:chgData name="Jason Romans" userId="b1594dadafe83612" providerId="LiveId" clId="{CBB49B5A-BAC4-4EF9-90F7-6CF68F907A02}" dt="2026-08-07T11:38:16.393" v="2988" actId="27636"/>
          <ac:spMkLst>
            <pc:docMk/>
            <pc:sldMk cId="3145219951" sldId="2147477871"/>
            <ac:spMk id="10" creationId="{00000000-0000-0000-0000-000000000000}"/>
          </ac:spMkLst>
        </pc:spChg>
      </pc:sldChg>
      <pc:sldChg chg="add del">
        <pc:chgData name="Jason Romans" userId="b1594dadafe83612" providerId="LiveId" clId="{CBB49B5A-BAC4-4EF9-90F7-6CF68F907A02}" dt="2026-08-07T11:39:50.230" v="2994"/>
        <pc:sldMkLst>
          <pc:docMk/>
          <pc:sldMk cId="4084854497" sldId="2147477872"/>
        </pc:sldMkLst>
      </pc:sldChg>
      <pc:sldChg chg="modSp add mod">
        <pc:chgData name="Jason Romans" userId="b1594dadafe83612" providerId="LiveId" clId="{CBB49B5A-BAC4-4EF9-90F7-6CF68F907A02}" dt="2026-08-07T11:45:18.854" v="3004"/>
        <pc:sldMkLst>
          <pc:docMk/>
          <pc:sldMk cId="3018636063" sldId="2147477873"/>
        </pc:sldMkLst>
        <pc:spChg chg="mod">
          <ac:chgData name="Jason Romans" userId="b1594dadafe83612" providerId="LiveId" clId="{CBB49B5A-BAC4-4EF9-90F7-6CF68F907A02}" dt="2026-08-07T11:45:18.854" v="3004"/>
          <ac:spMkLst>
            <pc:docMk/>
            <pc:sldMk cId="3018636063" sldId="2147477873"/>
            <ac:spMk id="5" creationId="{00000000-0000-0000-0000-000000000000}"/>
          </ac:spMkLst>
        </pc:spChg>
      </pc:sldChg>
      <pc:sldChg chg="add del">
        <pc:chgData name="Jason Romans" userId="b1594dadafe83612" providerId="LiveId" clId="{CBB49B5A-BAC4-4EF9-90F7-6CF68F907A02}" dt="2026-08-07T11:40:14.462" v="2996"/>
        <pc:sldMkLst>
          <pc:docMk/>
          <pc:sldMk cId="1319744014" sldId="2147477874"/>
        </pc:sldMkLst>
      </pc:sldChg>
      <pc:sldChg chg="add del">
        <pc:chgData name="Jason Romans" userId="b1594dadafe83612" providerId="LiveId" clId="{CBB49B5A-BAC4-4EF9-90F7-6CF68F907A02}" dt="2026-08-07T11:40:43.452" v="2998"/>
        <pc:sldMkLst>
          <pc:docMk/>
          <pc:sldMk cId="2567750656" sldId="2147477875"/>
        </pc:sldMkLst>
      </pc:sldChg>
      <pc:sldChg chg="modSp add mod">
        <pc:chgData name="Jason Romans" userId="b1594dadafe83612" providerId="LiveId" clId="{CBB49B5A-BAC4-4EF9-90F7-6CF68F907A02}" dt="2026-08-07T11:45:18.856" v="3006"/>
        <pc:sldMkLst>
          <pc:docMk/>
          <pc:sldMk cId="1171295299" sldId="2147477876"/>
        </pc:sldMkLst>
        <pc:spChg chg="mod">
          <ac:chgData name="Jason Romans" userId="b1594dadafe83612" providerId="LiveId" clId="{CBB49B5A-BAC4-4EF9-90F7-6CF68F907A02}" dt="2026-08-07T11:45:18.856" v="3006"/>
          <ac:spMkLst>
            <pc:docMk/>
            <pc:sldMk cId="1171295299" sldId="2147477876"/>
            <ac:spMk id="5" creationId="{00000000-0000-0000-0000-000000000000}"/>
          </ac:spMkLst>
        </pc:spChg>
      </pc:sldChg>
      <pc:sldChg chg="modSp add mod">
        <pc:chgData name="Jason Romans" userId="b1594dadafe83612" providerId="LiveId" clId="{CBB49B5A-BAC4-4EF9-90F7-6CF68F907A02}" dt="2026-08-07T11:50:11.974" v="3129"/>
        <pc:sldMkLst>
          <pc:docMk/>
          <pc:sldMk cId="4027143497" sldId="2147477877"/>
        </pc:sldMkLst>
        <pc:spChg chg="mod">
          <ac:chgData name="Jason Romans" userId="b1594dadafe83612" providerId="LiveId" clId="{CBB49B5A-BAC4-4EF9-90F7-6CF68F907A02}" dt="2026-08-07T11:50:11.948" v="3085"/>
          <ac:spMkLst>
            <pc:docMk/>
            <pc:sldMk cId="4027143497" sldId="2147477877"/>
            <ac:spMk id="5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0:11.949" v="3087"/>
          <ac:spMkLst>
            <pc:docMk/>
            <pc:sldMk cId="4027143497" sldId="2147477877"/>
            <ac:spMk id="10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0:11.954" v="3094"/>
          <ac:spMkLst>
            <pc:docMk/>
            <pc:sldMk cId="4027143497" sldId="2147477877"/>
            <ac:spMk id="11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0:11.950" v="3089"/>
          <ac:spMkLst>
            <pc:docMk/>
            <pc:sldMk cId="4027143497" sldId="2147477877"/>
            <ac:spMk id="14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0:11.955" v="3095"/>
          <ac:spMkLst>
            <pc:docMk/>
            <pc:sldMk cId="4027143497" sldId="2147477877"/>
            <ac:spMk id="15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0:11.951" v="3091"/>
          <ac:spMkLst>
            <pc:docMk/>
            <pc:sldMk cId="4027143497" sldId="2147477877"/>
            <ac:spMk id="18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0:11.955" v="3096"/>
          <ac:spMkLst>
            <pc:docMk/>
            <pc:sldMk cId="4027143497" sldId="2147477877"/>
            <ac:spMk id="19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0:11.953" v="3093"/>
          <ac:spMkLst>
            <pc:docMk/>
            <pc:sldMk cId="4027143497" sldId="2147477877"/>
            <ac:spMk id="22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0:11.956" v="3097"/>
          <ac:spMkLst>
            <pc:docMk/>
            <pc:sldMk cId="4027143497" sldId="2147477877"/>
            <ac:spMk id="23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0:11.957" v="3101"/>
          <ac:spMkLst>
            <pc:docMk/>
            <pc:sldMk cId="4027143497" sldId="2147477877"/>
            <ac:spMk id="24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0:11.959" v="3104"/>
          <ac:spMkLst>
            <pc:docMk/>
            <pc:sldMk cId="4027143497" sldId="2147477877"/>
            <ac:spMk id="25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0:11.959" v="3105"/>
          <ac:spMkLst>
            <pc:docMk/>
            <pc:sldMk cId="4027143497" sldId="2147477877"/>
            <ac:spMk id="26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0:11.961" v="3110"/>
          <ac:spMkLst>
            <pc:docMk/>
            <pc:sldMk cId="4027143497" sldId="2147477877"/>
            <ac:spMk id="27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0:11.968" v="3118"/>
          <ac:spMkLst>
            <pc:docMk/>
            <pc:sldMk cId="4027143497" sldId="2147477877"/>
            <ac:spMk id="28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0:11.960" v="3106"/>
          <ac:spMkLst>
            <pc:docMk/>
            <pc:sldMk cId="4027143497" sldId="2147477877"/>
            <ac:spMk id="29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0:11.964" v="3113"/>
          <ac:spMkLst>
            <pc:docMk/>
            <pc:sldMk cId="4027143497" sldId="2147477877"/>
            <ac:spMk id="30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0:11.968" v="3120"/>
          <ac:spMkLst>
            <pc:docMk/>
            <pc:sldMk cId="4027143497" sldId="2147477877"/>
            <ac:spMk id="31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0:11.960" v="3107"/>
          <ac:spMkLst>
            <pc:docMk/>
            <pc:sldMk cId="4027143497" sldId="2147477877"/>
            <ac:spMk id="32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0:11.965" v="3116"/>
          <ac:spMkLst>
            <pc:docMk/>
            <pc:sldMk cId="4027143497" sldId="2147477877"/>
            <ac:spMk id="33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0:11.969" v="3122"/>
          <ac:spMkLst>
            <pc:docMk/>
            <pc:sldMk cId="4027143497" sldId="2147477877"/>
            <ac:spMk id="34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0:11.970" v="3125"/>
          <ac:spMkLst>
            <pc:docMk/>
            <pc:sldMk cId="4027143497" sldId="2147477877"/>
            <ac:spMk id="35" creationId="{00000000-0000-0000-0000-000000000000}"/>
          </ac:spMkLst>
        </pc:spChg>
        <pc:spChg chg="mod">
          <ac:chgData name="Jason Romans" userId="b1594dadafe83612" providerId="LiveId" clId="{CBB49B5A-BAC4-4EF9-90F7-6CF68F907A02}" dt="2026-08-07T11:50:11.974" v="3129"/>
          <ac:spMkLst>
            <pc:docMk/>
            <pc:sldMk cId="4027143497" sldId="2147477877"/>
            <ac:spMk id="36" creationId="{00000000-0000-0000-0000-000000000000}"/>
          </ac:spMkLst>
        </pc:spChg>
      </pc:sldChg>
      <pc:sldChg chg="modSp add del mod">
        <pc:chgData name="Jason Romans" userId="b1594dadafe83612" providerId="LiveId" clId="{CBB49B5A-BAC4-4EF9-90F7-6CF68F907A02}" dt="2026-08-07T11:52:17.089" v="3172"/>
        <pc:sldMkLst>
          <pc:docMk/>
          <pc:sldMk cId="386524567" sldId="2147477878"/>
        </pc:sldMkLst>
        <pc:spChg chg="mod">
          <ac:chgData name="Jason Romans" userId="b1594dadafe83612" providerId="LiveId" clId="{CBB49B5A-BAC4-4EF9-90F7-6CF68F907A02}" dt="2026-08-07T11:50:50.565" v="3133"/>
          <ac:spMkLst>
            <pc:docMk/>
            <pc:sldMk cId="386524567" sldId="2147477878"/>
            <ac:spMk id="3" creationId="{787BAA70-85D5-49AA-855A-1297977459C9}"/>
          </ac:spMkLst>
        </pc:spChg>
        <pc:spChg chg="mod">
          <ac:chgData name="Jason Romans" userId="b1594dadafe83612" providerId="LiveId" clId="{CBB49B5A-BAC4-4EF9-90F7-6CF68F907A02}" dt="2026-08-07T11:50:50.566" v="3136"/>
          <ac:spMkLst>
            <pc:docMk/>
            <pc:sldMk cId="386524567" sldId="2147477878"/>
            <ac:spMk id="5" creationId="{1660712C-5234-4B7A-9847-14AF2D36B9BA}"/>
          </ac:spMkLst>
        </pc:spChg>
        <pc:spChg chg="mod">
          <ac:chgData name="Jason Romans" userId="b1594dadafe83612" providerId="LiveId" clId="{CBB49B5A-BAC4-4EF9-90F7-6CF68F907A02}" dt="2026-08-07T11:50:50.568" v="3138"/>
          <ac:spMkLst>
            <pc:docMk/>
            <pc:sldMk cId="386524567" sldId="2147477878"/>
            <ac:spMk id="10" creationId="{F2C70719-2C08-4848-B546-7D39EADBEC1C}"/>
          </ac:spMkLst>
        </pc:spChg>
        <pc:spChg chg="mod">
          <ac:chgData name="Jason Romans" userId="b1594dadafe83612" providerId="LiveId" clId="{CBB49B5A-BAC4-4EF9-90F7-6CF68F907A02}" dt="2026-08-07T11:50:50.570" v="3141"/>
          <ac:spMkLst>
            <pc:docMk/>
            <pc:sldMk cId="386524567" sldId="2147477878"/>
            <ac:spMk id="11" creationId="{4140B4C3-1CA7-450A-BCE9-FC3004C601A8}"/>
          </ac:spMkLst>
        </pc:spChg>
        <pc:spChg chg="mod">
          <ac:chgData name="Jason Romans" userId="b1594dadafe83612" providerId="LiveId" clId="{CBB49B5A-BAC4-4EF9-90F7-6CF68F907A02}" dt="2026-08-07T11:50:50.566" v="3135"/>
          <ac:spMkLst>
            <pc:docMk/>
            <pc:sldMk cId="386524567" sldId="2147477878"/>
            <ac:spMk id="12" creationId="{742F1329-2C34-4A62-A157-6DAF29A06345}"/>
          </ac:spMkLst>
        </pc:spChg>
        <pc:spChg chg="mod">
          <ac:chgData name="Jason Romans" userId="b1594dadafe83612" providerId="LiveId" clId="{CBB49B5A-BAC4-4EF9-90F7-6CF68F907A02}" dt="2026-08-07T11:50:50.568" v="3137"/>
          <ac:spMkLst>
            <pc:docMk/>
            <pc:sldMk cId="386524567" sldId="2147477878"/>
            <ac:spMk id="13" creationId="{AD7F989F-4250-4B81-A3A9-7EBACB1C9F15}"/>
          </ac:spMkLst>
        </pc:spChg>
        <pc:spChg chg="mod">
          <ac:chgData name="Jason Romans" userId="b1594dadafe83612" providerId="LiveId" clId="{CBB49B5A-BAC4-4EF9-90F7-6CF68F907A02}" dt="2026-08-07T11:50:50.569" v="3139"/>
          <ac:spMkLst>
            <pc:docMk/>
            <pc:sldMk cId="386524567" sldId="2147477878"/>
            <ac:spMk id="15" creationId="{7999608C-6FED-4753-A1A4-6EB01C2FC048}"/>
          </ac:spMkLst>
        </pc:spChg>
        <pc:spChg chg="mod">
          <ac:chgData name="Jason Romans" userId="b1594dadafe83612" providerId="LiveId" clId="{CBB49B5A-BAC4-4EF9-90F7-6CF68F907A02}" dt="2026-08-07T11:50:50.571" v="3143"/>
          <ac:spMkLst>
            <pc:docMk/>
            <pc:sldMk cId="386524567" sldId="2147477878"/>
            <ac:spMk id="16" creationId="{5FC0D0A4-9883-4D12-AC80-5B3EFAE9D0FB}"/>
          </ac:spMkLst>
        </pc:spChg>
        <pc:spChg chg="mod">
          <ac:chgData name="Jason Romans" userId="b1594dadafe83612" providerId="LiveId" clId="{CBB49B5A-BAC4-4EF9-90F7-6CF68F907A02}" dt="2026-08-07T11:50:50.573" v="3145"/>
          <ac:spMkLst>
            <pc:docMk/>
            <pc:sldMk cId="386524567" sldId="2147477878"/>
            <ac:spMk id="17" creationId="{26414278-C125-4173-A8BF-5653FB07252B}"/>
          </ac:spMkLst>
        </pc:spChg>
        <pc:spChg chg="mod">
          <ac:chgData name="Jason Romans" userId="b1594dadafe83612" providerId="LiveId" clId="{CBB49B5A-BAC4-4EF9-90F7-6CF68F907A02}" dt="2026-08-07T11:50:50.576" v="3148"/>
          <ac:spMkLst>
            <pc:docMk/>
            <pc:sldMk cId="386524567" sldId="2147477878"/>
            <ac:spMk id="18" creationId="{8946567C-41B6-4B5C-9C56-905EA684A9F8}"/>
          </ac:spMkLst>
        </pc:spChg>
        <pc:spChg chg="mod">
          <ac:chgData name="Jason Romans" userId="b1594dadafe83612" providerId="LiveId" clId="{CBB49B5A-BAC4-4EF9-90F7-6CF68F907A02}" dt="2026-08-07T11:50:50.578" v="3150"/>
          <ac:spMkLst>
            <pc:docMk/>
            <pc:sldMk cId="386524567" sldId="2147477878"/>
            <ac:spMk id="20" creationId="{E230E4CA-50FC-4093-A348-442EB197D502}"/>
          </ac:spMkLst>
        </pc:spChg>
        <pc:spChg chg="mod">
          <ac:chgData name="Jason Romans" userId="b1594dadafe83612" providerId="LiveId" clId="{CBB49B5A-BAC4-4EF9-90F7-6CF68F907A02}" dt="2026-08-07T11:50:50.580" v="3153"/>
          <ac:spMkLst>
            <pc:docMk/>
            <pc:sldMk cId="386524567" sldId="2147477878"/>
            <ac:spMk id="21" creationId="{4E69CCDC-4AB5-439D-9093-2C2809AB9FB5}"/>
          </ac:spMkLst>
        </pc:spChg>
        <pc:spChg chg="mod">
          <ac:chgData name="Jason Romans" userId="b1594dadafe83612" providerId="LiveId" clId="{CBB49B5A-BAC4-4EF9-90F7-6CF68F907A02}" dt="2026-08-07T11:50:50.576" v="3147"/>
          <ac:spMkLst>
            <pc:docMk/>
            <pc:sldMk cId="386524567" sldId="2147477878"/>
            <ac:spMk id="22" creationId="{B723651B-9692-4F81-9623-631C35062672}"/>
          </ac:spMkLst>
        </pc:spChg>
        <pc:spChg chg="mod">
          <ac:chgData name="Jason Romans" userId="b1594dadafe83612" providerId="LiveId" clId="{CBB49B5A-BAC4-4EF9-90F7-6CF68F907A02}" dt="2026-08-07T11:50:50.577" v="3149"/>
          <ac:spMkLst>
            <pc:docMk/>
            <pc:sldMk cId="386524567" sldId="2147477878"/>
            <ac:spMk id="23" creationId="{B0D4BFBE-6B1E-4B49-8D21-A6F86C9AB6D7}"/>
          </ac:spMkLst>
        </pc:spChg>
        <pc:spChg chg="mod">
          <ac:chgData name="Jason Romans" userId="b1594dadafe83612" providerId="LiveId" clId="{CBB49B5A-BAC4-4EF9-90F7-6CF68F907A02}" dt="2026-08-07T11:50:50.578" v="3151"/>
          <ac:spMkLst>
            <pc:docMk/>
            <pc:sldMk cId="386524567" sldId="2147477878"/>
            <ac:spMk id="25" creationId="{1A5DF5B1-2AAD-49EF-AFE6-CD6B6AA7B3AB}"/>
          </ac:spMkLst>
        </pc:spChg>
        <pc:spChg chg="mod">
          <ac:chgData name="Jason Romans" userId="b1594dadafe83612" providerId="LiveId" clId="{CBB49B5A-BAC4-4EF9-90F7-6CF68F907A02}" dt="2026-08-07T11:50:50.581" v="3155"/>
          <ac:spMkLst>
            <pc:docMk/>
            <pc:sldMk cId="386524567" sldId="2147477878"/>
            <ac:spMk id="26" creationId="{BF8A143E-BC92-4578-B465-F5B6310BCA97}"/>
          </ac:spMkLst>
        </pc:spChg>
        <pc:spChg chg="mod">
          <ac:chgData name="Jason Romans" userId="b1594dadafe83612" providerId="LiveId" clId="{CBB49B5A-BAC4-4EF9-90F7-6CF68F907A02}" dt="2026-08-07T11:50:50.584" v="3157"/>
          <ac:spMkLst>
            <pc:docMk/>
            <pc:sldMk cId="386524567" sldId="2147477878"/>
            <ac:spMk id="28" creationId="{00000000-0000-0000-0000-000000000000}"/>
          </ac:spMkLst>
        </pc:spChg>
      </pc:sldChg>
      <pc:sldChg chg="add">
        <pc:chgData name="Jason Romans" userId="b1594dadafe83612" providerId="LiveId" clId="{CBB49B5A-BAC4-4EF9-90F7-6CF68F907A02}" dt="2026-08-07T11:52:17.068" v="3171"/>
        <pc:sldMkLst>
          <pc:docMk/>
          <pc:sldMk cId="146161592" sldId="2147477879"/>
        </pc:sldMkLst>
      </pc:sldChg>
      <pc:sldChg chg="add">
        <pc:chgData name="Jason Romans" userId="b1594dadafe83612" providerId="LiveId" clId="{CBB49B5A-BAC4-4EF9-90F7-6CF68F907A02}" dt="2026-08-07T13:33:07.028" v="3380"/>
        <pc:sldMkLst>
          <pc:docMk/>
          <pc:sldMk cId="435868653" sldId="2147477880"/>
        </pc:sldMkLst>
      </pc:sldChg>
      <pc:sldChg chg="add">
        <pc:chgData name="Jason Romans" userId="b1594dadafe83612" providerId="LiveId" clId="{CBB49B5A-BAC4-4EF9-90F7-6CF68F907A02}" dt="2026-08-07T13:33:31.995" v="3382"/>
        <pc:sldMkLst>
          <pc:docMk/>
          <pc:sldMk cId="2876761335" sldId="21474778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7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722ED-D5D8-9F4B-CD4E-59B431A0D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71BD90-E4EE-02C5-63B2-7229B48D0A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0D6195-FB2C-E54E-EE5E-690CCD762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81A80-6085-1AAD-9969-BA2C9F4A76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47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240D9-9398-7B1A-8EEE-8D72D1931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AF746F-F780-1B36-BBDD-AB9619B2A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F11668-CAAE-B98C-9214-34485E617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C5B6C-CB9E-4DCE-BB53-01E3EA77C9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9990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30C1B-D995-D503-C7C1-618FBB5B6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743C06-0F15-0B6B-5D5F-493AF4F0E1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B30920-B132-BA87-2478-EAA935388F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47705-0D49-442F-FDD5-2AB534CE91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0929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D4CD1-C3DD-D878-0D8B-88475A3E9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47D75B-A386-35C0-4A2A-15DC259E8D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EF2004-AC0F-6980-D343-66F92D3E7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46BF4-AEDC-4E5D-4B01-E2670227E6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16018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8E476-B079-4E90-7296-4BA137463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17081-A954-FAA3-5869-F31262E46F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C95BA2-9CCD-FDA4-1C64-7AFD30D8E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C741C8-5406-2469-1DA2-8F9AB40AF7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8970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721F9-DDC2-0244-D10A-65F96DD35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25B5BD-623C-CD8D-8455-D4D598D91E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0A0287-09B8-90AD-FDC4-14A4CF4D61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B0ED65-5DBE-250D-C079-E17FDA7C50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25048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FC6C5-A5DF-D3CC-8A0B-2ADC84C79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CB903E-A4F5-641D-526B-ED7FE33938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2A5CA2-F72A-1413-CA7E-9CA400555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809F9-98DA-32E2-C9FB-35D523CCD2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77064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0781A-9B9B-D1A1-8E5F-7526AA0DD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DF3107-0934-922C-8291-DE705C59CA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F09498-43B4-93F8-E0EE-8BB0AEC318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F50C8-7820-79B2-8CC2-065F1094F0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97302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high-level. The goal is not internals; it is why a data professional should care. DuckDB lets you work where the data already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356B0-F42D-CF48-3F88-913FCD9B0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3B0537-9586-7010-099A-06A1D4B617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441EC7-CAC7-8C6C-7C07-87BFC742B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builds credibility. We are not selling DuckDB as a silver bullet. We are defining the lane.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BC3D3-B7A0-3883-A77A-316695CD13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07670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this to the audience. Data professionals usually have files, SQL skills, Python curiosity, and limited patience for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builds credibility. We are not selling DuckDB as a silver bullet. We are defining the lane.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31D0D-57D3-F7E4-F83D-1ECF1708C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FEF2AD-1B41-C6C4-C69E-E5835C2EE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E1B61-D834-6255-F270-916A275CDF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builds credibility. We are not selling DuckDB as a silver bullet. We are defining the lane.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BA1B8-E6A5-5C98-1597-F5C16D21A1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07674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8DE68-40D5-703E-83D1-EA6BB2050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8C5D3E-668E-1646-CC24-D175625C3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2062AC-F9BD-14DE-0637-21CC3DF43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91319-3F7A-D552-8045-D71BC90375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6446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56BAC-9E11-5D1A-1562-1A1154909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B857C3-6806-B595-BF75-E50473E67F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4B4B6A-5AC2-62F8-E6EF-95162EF1A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52268-D2B9-EB0E-A857-A4DDD5DBED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58922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Part 2 transition. Emphasize that we are not throwing away the project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4F85C-694A-331E-9DF9-BE8F8A3EE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C2555C-5CEF-C138-8EC1-1C3D151D2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D76F3E-BDF0-00D3-6D51-0E58F4E520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E820F-263C-33BB-7838-01A76521F1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68197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important for the Microsoft/Fabric audience. DuckDB helps you get more from capacity by not using the big engine for every small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7E22B-5E77-EEF6-C11C-F0E0EA4F0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212DCE-AF8B-9167-75EF-A6010CA84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66A1D0-1883-A0A5-6704-17E7DB5BA2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AC40E-D98D-2FC6-82A9-A2955084CB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41473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shows progression. The same tool can be a scratchpad and a durable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7F226-2A68-7BDB-2666-8CD10DC73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FBDE2A-07B6-6043-0BA6-2ED3B4C084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998BB-B146-7371-4C42-4D5558E5B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7C9F-8A78-4A1B-A60C-F9B49BD8F51B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ED98E-ECBF-4280-110F-55764B53F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4BAFB-A7C7-B56D-0CA7-D8934F61B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A3921-0CC2-470F-8C7F-9C2445E9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558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390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010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203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333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870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316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36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527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445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3491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815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1775355"/>
            <a:ext cx="6477000" cy="122502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238500"/>
            <a:ext cx="53340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809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619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42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23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04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66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47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431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9405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928" y="3672417"/>
            <a:ext cx="6477000" cy="1135063"/>
          </a:xfrm>
        </p:spPr>
        <p:txBody>
          <a:bodyPr anchor="t"/>
          <a:lstStyle>
            <a:lvl1pPr algn="l">
              <a:defRPr sz="3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1928" y="2422261"/>
            <a:ext cx="6477000" cy="1250156"/>
          </a:xfrm>
        </p:spPr>
        <p:txBody>
          <a:bodyPr anchor="b"/>
          <a:lstStyle>
            <a:lvl1pPr marL="0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1pPr>
            <a:lvl2pPr marL="38098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6197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3pPr>
            <a:lvl4pPr marL="114295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4pPr>
            <a:lvl5pPr marL="152393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5pPr>
            <a:lvl6pPr marL="190492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6pPr>
            <a:lvl7pPr marL="228590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7pPr>
            <a:lvl8pPr marL="2666893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8pPr>
            <a:lvl9pPr marL="3047878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215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33500"/>
            <a:ext cx="3365500" cy="3771636"/>
          </a:xfrm>
        </p:spPr>
        <p:txBody>
          <a:bodyPr/>
          <a:lstStyle>
            <a:lvl1pPr>
              <a:defRPr sz="2333"/>
            </a:lvl1pPr>
            <a:lvl2pPr>
              <a:defRPr sz="2000"/>
            </a:lvl2pPr>
            <a:lvl3pPr>
              <a:defRPr sz="1667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3500" y="1333500"/>
            <a:ext cx="3365500" cy="3771636"/>
          </a:xfrm>
        </p:spPr>
        <p:txBody>
          <a:bodyPr/>
          <a:lstStyle>
            <a:lvl1pPr>
              <a:defRPr sz="2333"/>
            </a:lvl1pPr>
            <a:lvl2pPr>
              <a:defRPr sz="2000"/>
            </a:lvl2pPr>
            <a:lvl3pPr>
              <a:defRPr sz="1667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2732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279261"/>
            <a:ext cx="3366823" cy="533135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000" y="1812396"/>
            <a:ext cx="3366823" cy="3292740"/>
          </a:xfrm>
        </p:spPr>
        <p:txBody>
          <a:bodyPr/>
          <a:lstStyle>
            <a:lvl1pPr>
              <a:defRPr sz="2000"/>
            </a:lvl1pPr>
            <a:lvl2pPr>
              <a:defRPr sz="1667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70855" y="1279261"/>
            <a:ext cx="3368146" cy="533135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70855" y="1812396"/>
            <a:ext cx="3368146" cy="3292740"/>
          </a:xfrm>
        </p:spPr>
        <p:txBody>
          <a:bodyPr/>
          <a:lstStyle>
            <a:lvl1pPr>
              <a:defRPr sz="2000"/>
            </a:lvl1pPr>
            <a:lvl2pPr>
              <a:defRPr sz="1667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0587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2094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027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7542"/>
            <a:ext cx="2506928" cy="968375"/>
          </a:xfrm>
        </p:spPr>
        <p:txBody>
          <a:bodyPr anchor="b"/>
          <a:lstStyle>
            <a:lvl1pPr algn="l">
              <a:defRPr sz="1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9208" y="227542"/>
            <a:ext cx="4259792" cy="4877594"/>
          </a:xfrm>
        </p:spPr>
        <p:txBody>
          <a:bodyPr/>
          <a:lstStyle>
            <a:lvl1pPr>
              <a:defRPr sz="2667"/>
            </a:lvl1pPr>
            <a:lvl2pPr>
              <a:defRPr sz="2333"/>
            </a:lvl2pPr>
            <a:lvl3pPr>
              <a:defRPr sz="2000"/>
            </a:lvl3pPr>
            <a:lvl4pPr>
              <a:defRPr sz="1667"/>
            </a:lvl4pPr>
            <a:lvl5pPr>
              <a:defRPr sz="1667"/>
            </a:lvl5pPr>
            <a:lvl6pPr>
              <a:defRPr sz="1667"/>
            </a:lvl6pPr>
            <a:lvl7pPr>
              <a:defRPr sz="1667"/>
            </a:lvl7pPr>
            <a:lvl8pPr>
              <a:defRPr sz="1667"/>
            </a:lvl8pPr>
            <a:lvl9pPr>
              <a:defRPr sz="1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1195917"/>
            <a:ext cx="2506928" cy="3909219"/>
          </a:xfrm>
        </p:spPr>
        <p:txBody>
          <a:bodyPr/>
          <a:lstStyle>
            <a:lvl1pPr marL="0" indent="0">
              <a:buNone/>
              <a:defRPr sz="1167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2370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3573" y="4000500"/>
            <a:ext cx="4572000" cy="472282"/>
          </a:xfrm>
        </p:spPr>
        <p:txBody>
          <a:bodyPr anchor="b"/>
          <a:lstStyle>
            <a:lvl1pPr algn="l">
              <a:defRPr sz="1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93573" y="510646"/>
            <a:ext cx="4572000" cy="3429000"/>
          </a:xfrm>
        </p:spPr>
        <p:txBody>
          <a:bodyPr/>
          <a:lstStyle>
            <a:lvl1pPr marL="0" indent="0">
              <a:buNone/>
              <a:defRPr sz="2667"/>
            </a:lvl1pPr>
            <a:lvl2pPr marL="380985" indent="0">
              <a:buNone/>
              <a:defRPr sz="2333"/>
            </a:lvl2pPr>
            <a:lvl3pPr marL="761970" indent="0">
              <a:buNone/>
              <a:defRPr sz="2000"/>
            </a:lvl3pPr>
            <a:lvl4pPr marL="1142954" indent="0">
              <a:buNone/>
              <a:defRPr sz="1667"/>
            </a:lvl4pPr>
            <a:lvl5pPr marL="1523939" indent="0">
              <a:buNone/>
              <a:defRPr sz="1667"/>
            </a:lvl5pPr>
            <a:lvl6pPr marL="1904924" indent="0">
              <a:buNone/>
              <a:defRPr sz="1667"/>
            </a:lvl6pPr>
            <a:lvl7pPr marL="2285909" indent="0">
              <a:buNone/>
              <a:defRPr sz="1667"/>
            </a:lvl7pPr>
            <a:lvl8pPr marL="2666893" indent="0">
              <a:buNone/>
              <a:defRPr sz="1667"/>
            </a:lvl8pPr>
            <a:lvl9pPr marL="3047878" indent="0">
              <a:buNone/>
              <a:defRPr sz="1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3573" y="4472782"/>
            <a:ext cx="4572000" cy="670718"/>
          </a:xfrm>
        </p:spPr>
        <p:txBody>
          <a:bodyPr/>
          <a:lstStyle>
            <a:lvl1pPr marL="0" indent="0">
              <a:buNone/>
              <a:defRPr sz="1167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942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033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24500" y="228865"/>
            <a:ext cx="1714500" cy="48762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28865"/>
            <a:ext cx="5016500" cy="48762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394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5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69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28865"/>
            <a:ext cx="68580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33500"/>
            <a:ext cx="68580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1000" y="5296959"/>
            <a:ext cx="1778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03500" y="5296959"/>
            <a:ext cx="2413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61000" y="5296959"/>
            <a:ext cx="1778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276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duckdb.org/" TargetMode="External"/><Relationship Id="rId7" Type="http://schemas.openxmlformats.org/officeDocument/2006/relationships/hyperlink" Target="https://motherduck.com/lp/ducklake-lakehouse-table-format-book-full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motherduck.com/duckdb-book-brief/" TargetMode="External"/><Relationship Id="rId5" Type="http://schemas.openxmlformats.org/officeDocument/2006/relationships/hyperlink" Target="https://motherduck.com/" TargetMode="External"/><Relationship Id="rId4" Type="http://schemas.openxmlformats.org/officeDocument/2006/relationships/hyperlink" Target="https://duckdb.org/docs/current/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MotherDuckDB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uckdb.org/community" TargetMode="External"/><Relationship Id="rId4" Type="http://schemas.openxmlformats.org/officeDocument/2006/relationships/hyperlink" Target="https://www.youtube.com/@datawithluke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7.png"/><Relationship Id="rId4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BCC822-F83D-AFD6-B777-76B10CA08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BC2E448-8234-8956-DD97-890D93431C0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218D776-889F-FA54-5D3D-CDB73A460318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936295E-4524-B47F-557C-140D35A88CAF}"/>
              </a:ext>
            </a:extLst>
          </p:cNvPr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4EA1FF"/>
          </a:solidFill>
          <a:ln w="12700">
            <a:solidFill>
              <a:srgbClr val="4EA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D5AF423-96EE-531C-7FBC-7591254180D6}"/>
              </a:ext>
            </a:extLst>
          </p:cNvPr>
          <p:cNvSpPr/>
          <p:nvPr/>
        </p:nvSpPr>
        <p:spPr>
          <a:xfrm>
            <a:off x="621792" y="475488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1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DUCKDB 101</a:t>
            </a:r>
            <a:endParaRPr lang="en-US" sz="17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206BE80-75EE-8A8E-B29F-6E05345BD31D}"/>
              </a:ext>
            </a:extLst>
          </p:cNvPr>
          <p:cNvSpPr/>
          <p:nvPr/>
        </p:nvSpPr>
        <p:spPr>
          <a:xfrm>
            <a:off x="566928" y="1207008"/>
            <a:ext cx="5760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7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DESKTOP</a:t>
            </a:r>
            <a:endParaRPr lang="en-US" sz="4700" dirty="0"/>
          </a:p>
          <a:p>
            <a:pPr marL="0" indent="0">
              <a:buNone/>
            </a:pPr>
            <a:r>
              <a:rPr lang="en-US" sz="47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NOTEBOOK</a:t>
            </a:r>
            <a:endParaRPr lang="en-US" sz="47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B314913-A530-633B-1252-29A70A1220D1}"/>
              </a:ext>
            </a:extLst>
          </p:cNvPr>
          <p:cNvSpPr/>
          <p:nvPr/>
        </p:nvSpPr>
        <p:spPr>
          <a:xfrm>
            <a:off x="621792" y="3063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A8B3C5"/>
                </a:solidFill>
              </a:rPr>
              <a:t>Fast, local analytics with SQL — then take it into notebooks and data workflows.</a:t>
            </a:r>
            <a:endParaRPr lang="en-US" sz="17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F705AFD-9B5C-E4E3-DEE9-0D627E390E2C}"/>
              </a:ext>
            </a:extLst>
          </p:cNvPr>
          <p:cNvSpPr/>
          <p:nvPr/>
        </p:nvSpPr>
        <p:spPr>
          <a:xfrm>
            <a:off x="621792" y="37307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6900"/>
                </a:solidFill>
              </a:rPr>
              <a:t>NO SERVER. NO SETUP. JUST SQL.</a:t>
            </a:r>
            <a:endParaRPr lang="en-US" sz="14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340C3E3-0CDC-5723-FBD8-9450A4CDC8B5}"/>
              </a:ext>
            </a:extLst>
          </p:cNvPr>
          <p:cNvSpPr/>
          <p:nvPr/>
        </p:nvSpPr>
        <p:spPr>
          <a:xfrm>
            <a:off x="621792" y="4599432"/>
            <a:ext cx="2423160" cy="841248"/>
          </a:xfrm>
          <a:prstGeom prst="roundRect">
            <a:avLst>
              <a:gd name="adj" fmla="val 8696"/>
            </a:avLst>
          </a:prstGeom>
          <a:solidFill>
            <a:srgbClr val="10243A"/>
          </a:solidFill>
          <a:ln w="1397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8CFE90F-D936-3CFA-96FA-5C6CF0958B32}"/>
              </a:ext>
            </a:extLst>
          </p:cNvPr>
          <p:cNvSpPr/>
          <p:nvPr/>
        </p:nvSpPr>
        <p:spPr>
          <a:xfrm>
            <a:off x="786384" y="4773168"/>
            <a:ext cx="493776" cy="493776"/>
          </a:xfrm>
          <a:prstGeom prst="ellipse">
            <a:avLst/>
          </a:prstGeom>
          <a:solidFill>
            <a:srgbClr val="FF6900"/>
          </a:solidFill>
          <a:ln w="12700">
            <a:solidFill>
              <a:srgbClr val="FF6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ABDEBAE-7551-D97D-4ADC-FB33E894F826}"/>
              </a:ext>
            </a:extLst>
          </p:cNvPr>
          <p:cNvSpPr/>
          <p:nvPr/>
        </p:nvSpPr>
        <p:spPr>
          <a:xfrm>
            <a:off x="786384" y="486460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111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FE2B9CB-8E06-CBEE-739D-0210EB618A19}"/>
              </a:ext>
            </a:extLst>
          </p:cNvPr>
          <p:cNvSpPr/>
          <p:nvPr/>
        </p:nvSpPr>
        <p:spPr>
          <a:xfrm>
            <a:off x="1399032" y="4754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AFC"/>
                </a:solidFill>
              </a:rPr>
              <a:t>Desktop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776583A-AC31-3B8B-0430-F70764CF43BB}"/>
              </a:ext>
            </a:extLst>
          </p:cNvPr>
          <p:cNvSpPr/>
          <p:nvPr/>
        </p:nvSpPr>
        <p:spPr>
          <a:xfrm>
            <a:off x="1399032" y="50474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3C5"/>
                </a:solidFill>
              </a:rPr>
              <a:t>start local</a:t>
            </a:r>
            <a:endParaRPr lang="en-US" sz="9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861097C-30B0-25CC-B80A-E12001E01448}"/>
              </a:ext>
            </a:extLst>
          </p:cNvPr>
          <p:cNvSpPr/>
          <p:nvPr/>
        </p:nvSpPr>
        <p:spPr>
          <a:xfrm>
            <a:off x="3273552" y="4599432"/>
            <a:ext cx="2423160" cy="841248"/>
          </a:xfrm>
          <a:prstGeom prst="roundRect">
            <a:avLst>
              <a:gd name="adj" fmla="val 8696"/>
            </a:avLst>
          </a:prstGeom>
          <a:solidFill>
            <a:srgbClr val="10243A"/>
          </a:solidFill>
          <a:ln w="1397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B831871-5266-0439-7FF4-FDBF5663251C}"/>
              </a:ext>
            </a:extLst>
          </p:cNvPr>
          <p:cNvSpPr/>
          <p:nvPr/>
        </p:nvSpPr>
        <p:spPr>
          <a:xfrm>
            <a:off x="3438144" y="4773168"/>
            <a:ext cx="493776" cy="493776"/>
          </a:xfrm>
          <a:prstGeom prst="ellipse">
            <a:avLst/>
          </a:prstGeom>
          <a:solidFill>
            <a:srgbClr val="FFF100"/>
          </a:solidFill>
          <a:ln w="12700">
            <a:solidFill>
              <a:srgbClr val="FFF1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89371EA-CF36-34E9-653A-4B51098E604F}"/>
              </a:ext>
            </a:extLst>
          </p:cNvPr>
          <p:cNvSpPr/>
          <p:nvPr/>
        </p:nvSpPr>
        <p:spPr>
          <a:xfrm>
            <a:off x="3438144" y="486460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111F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CF85C60-972C-6505-6CD6-689C6213AF28}"/>
              </a:ext>
            </a:extLst>
          </p:cNvPr>
          <p:cNvSpPr/>
          <p:nvPr/>
        </p:nvSpPr>
        <p:spPr>
          <a:xfrm>
            <a:off x="4050792" y="4754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AFC"/>
                </a:solidFill>
              </a:rPr>
              <a:t>SQL</a:t>
            </a:r>
            <a:endParaRPr lang="en-US" sz="1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F3882DF-B530-94E6-6CBC-260C0CC52ED3}"/>
              </a:ext>
            </a:extLst>
          </p:cNvPr>
          <p:cNvSpPr/>
          <p:nvPr/>
        </p:nvSpPr>
        <p:spPr>
          <a:xfrm>
            <a:off x="4050792" y="50474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3C5"/>
                </a:solidFill>
              </a:rPr>
              <a:t>query files</a:t>
            </a:r>
            <a:endParaRPr lang="en-US" sz="9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C77D530-A694-8A56-8743-0A984B4431EF}"/>
              </a:ext>
            </a:extLst>
          </p:cNvPr>
          <p:cNvSpPr/>
          <p:nvPr/>
        </p:nvSpPr>
        <p:spPr>
          <a:xfrm>
            <a:off x="5925312" y="4599432"/>
            <a:ext cx="2423160" cy="841248"/>
          </a:xfrm>
          <a:prstGeom prst="roundRect">
            <a:avLst>
              <a:gd name="adj" fmla="val 8696"/>
            </a:avLst>
          </a:prstGeom>
          <a:solidFill>
            <a:srgbClr val="10243A"/>
          </a:solidFill>
          <a:ln w="1397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E0C8D35-96CD-D547-7EC7-757AFF8DC8BA}"/>
              </a:ext>
            </a:extLst>
          </p:cNvPr>
          <p:cNvSpPr/>
          <p:nvPr/>
        </p:nvSpPr>
        <p:spPr>
          <a:xfrm>
            <a:off x="6089904" y="4773168"/>
            <a:ext cx="493776" cy="493776"/>
          </a:xfrm>
          <a:prstGeom prst="ellipse">
            <a:avLst/>
          </a:prstGeom>
          <a:solidFill>
            <a:srgbClr val="4EA1FF"/>
          </a:solidFill>
          <a:ln w="12700">
            <a:solidFill>
              <a:srgbClr val="4EA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05FF6BB-4CCB-661B-7CA1-C2C5BBBB51AB}"/>
              </a:ext>
            </a:extLst>
          </p:cNvPr>
          <p:cNvSpPr/>
          <p:nvPr/>
        </p:nvSpPr>
        <p:spPr>
          <a:xfrm>
            <a:off x="6089904" y="486460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111F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B6DD41A-E98B-EC7C-5E3F-ACD797BC3C21}"/>
              </a:ext>
            </a:extLst>
          </p:cNvPr>
          <p:cNvSpPr/>
          <p:nvPr/>
        </p:nvSpPr>
        <p:spPr>
          <a:xfrm>
            <a:off x="6702552" y="4754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AFC"/>
                </a:solidFill>
              </a:rPr>
              <a:t>Notebook</a:t>
            </a:r>
            <a:endParaRPr lang="en-US" sz="14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3FF4D5B-E8D8-E1D1-6296-60283FCA53E4}"/>
              </a:ext>
            </a:extLst>
          </p:cNvPr>
          <p:cNvSpPr/>
          <p:nvPr/>
        </p:nvSpPr>
        <p:spPr>
          <a:xfrm>
            <a:off x="6702552" y="50474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3C5"/>
                </a:solidFill>
              </a:rPr>
              <a:t>repeatable workflow</a:t>
            </a:r>
            <a:endParaRPr lang="en-US" sz="9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3662E2D2-1441-116C-D91E-763E43FAC2AD}"/>
              </a:ext>
            </a:extLst>
          </p:cNvPr>
          <p:cNvSpPr/>
          <p:nvPr/>
        </p:nvSpPr>
        <p:spPr>
          <a:xfrm>
            <a:off x="8570299" y="4599432"/>
            <a:ext cx="2423160" cy="841248"/>
          </a:xfrm>
          <a:prstGeom prst="roundRect">
            <a:avLst>
              <a:gd name="adj" fmla="val 8696"/>
            </a:avLst>
          </a:prstGeom>
          <a:solidFill>
            <a:srgbClr val="10243A"/>
          </a:solidFill>
          <a:ln w="1397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2BA90CC-ADCD-C207-E80B-F51FB93AE7CC}"/>
              </a:ext>
            </a:extLst>
          </p:cNvPr>
          <p:cNvSpPr/>
          <p:nvPr/>
        </p:nvSpPr>
        <p:spPr>
          <a:xfrm>
            <a:off x="8741664" y="4773168"/>
            <a:ext cx="493776" cy="493776"/>
          </a:xfrm>
          <a:prstGeom prst="ellipse">
            <a:avLst/>
          </a:prstGeom>
          <a:solidFill>
            <a:srgbClr val="FFF100"/>
          </a:solidFill>
          <a:ln w="12700">
            <a:solidFill>
              <a:srgbClr val="FFF1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81BA3EA-C23B-B317-9FAC-F48CE90E48AF}"/>
              </a:ext>
            </a:extLst>
          </p:cNvPr>
          <p:cNvSpPr/>
          <p:nvPr/>
        </p:nvSpPr>
        <p:spPr>
          <a:xfrm>
            <a:off x="8741664" y="486460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111F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80CF374-D108-BDAA-F03D-72291075C5A6}"/>
              </a:ext>
            </a:extLst>
          </p:cNvPr>
          <p:cNvSpPr/>
          <p:nvPr/>
        </p:nvSpPr>
        <p:spPr>
          <a:xfrm>
            <a:off x="9354312" y="4754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AFC"/>
                </a:solidFill>
              </a:rPr>
              <a:t>Fabric</a:t>
            </a:r>
            <a:endParaRPr lang="en-US" sz="14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6E65932-3B88-DEAC-41D7-00901E4F26F5}"/>
              </a:ext>
            </a:extLst>
          </p:cNvPr>
          <p:cNvSpPr/>
          <p:nvPr/>
        </p:nvSpPr>
        <p:spPr>
          <a:xfrm>
            <a:off x="9354312" y="50474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3C5"/>
                </a:solidFill>
              </a:rPr>
              <a:t>cloud notebook workflow</a:t>
            </a:r>
            <a:endParaRPr lang="en-US" sz="95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F2AE6F93-D03A-E52B-9E2E-352DA6A47E07}"/>
              </a:ext>
            </a:extLst>
          </p:cNvPr>
          <p:cNvSpPr/>
          <p:nvPr/>
        </p:nvSpPr>
        <p:spPr>
          <a:xfrm>
            <a:off x="7479792" y="2862072"/>
            <a:ext cx="3520440" cy="786384"/>
          </a:xfrm>
          <a:prstGeom prst="roundRect">
            <a:avLst>
              <a:gd name="adj" fmla="val 9302"/>
            </a:avLst>
          </a:prstGeom>
          <a:solidFill>
            <a:srgbClr val="10243A"/>
          </a:solidFill>
          <a:ln w="1397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07964B68-7C0C-36ED-9051-CAE5DE77C90A}"/>
              </a:ext>
            </a:extLst>
          </p:cNvPr>
          <p:cNvSpPr/>
          <p:nvPr/>
        </p:nvSpPr>
        <p:spPr>
          <a:xfrm>
            <a:off x="7699248" y="3026664"/>
            <a:ext cx="3090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AFC"/>
                </a:solidFill>
              </a:rPr>
              <a:t>Day of Data 2026 | Albany</a:t>
            </a:r>
            <a:endParaRPr lang="en-US" sz="13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A9723590-1737-FBE1-F327-F0D87510522A}"/>
              </a:ext>
            </a:extLst>
          </p:cNvPr>
          <p:cNvSpPr/>
          <p:nvPr/>
        </p:nvSpPr>
        <p:spPr>
          <a:xfrm>
            <a:off x="7699248" y="3300984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3C5"/>
                </a:solidFill>
              </a:rPr>
              <a:t>Jason Romans  |  The DAX Shepherd</a:t>
            </a:r>
            <a:endParaRPr lang="en-US" sz="105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F3AB1DFA-DE08-E1DD-2F8E-5A5DF0E28956}"/>
              </a:ext>
            </a:extLst>
          </p:cNvPr>
          <p:cNvSpPr/>
          <p:nvPr/>
        </p:nvSpPr>
        <p:spPr>
          <a:xfrm>
            <a:off x="530352" y="64465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DuckDB 101: From Desktop to Notebook</a:t>
            </a:r>
            <a:endParaRPr lang="en-US" sz="9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09024FC-043C-43D7-8ECE-14229BE6F8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86237" y="411282"/>
            <a:ext cx="2298405" cy="230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083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FCDF4-EC4C-51E0-3320-FB1F76263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7107"/>
            <a:ext cx="9144000" cy="88017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Thank You to Our Sponsors!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966B70-7A83-6DE2-E532-A0D60B449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8904" y="1097280"/>
            <a:ext cx="2072479" cy="384048"/>
          </a:xfrm>
        </p:spPr>
        <p:txBody>
          <a:bodyPr>
            <a:normAutofit fontScale="85000" lnSpcReduction="10000"/>
          </a:bodyPr>
          <a:lstStyle/>
          <a:p>
            <a:r>
              <a:rPr lang="en-US" i="1" dirty="0"/>
              <a:t>Global Sponsors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870AD6-AC82-E672-CFB2-A9C509EC47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05" y="1430894"/>
            <a:ext cx="4978668" cy="1236961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92F22B1D-76D3-0AF5-0502-DCDC651A0325}"/>
              </a:ext>
            </a:extLst>
          </p:cNvPr>
          <p:cNvSpPr txBox="1">
            <a:spLocks/>
          </p:cNvSpPr>
          <p:nvPr/>
        </p:nvSpPr>
        <p:spPr>
          <a:xfrm>
            <a:off x="7203260" y="1593115"/>
            <a:ext cx="2651600" cy="3840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/>
              <a:t>Platinum Sponsor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A5BAB1-0664-F7D8-5DAB-C558847A42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13070"/>
            <a:ext cx="4772025" cy="1209675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02537F85-97FB-6D4D-6555-D97D0F8609EE}"/>
              </a:ext>
            </a:extLst>
          </p:cNvPr>
          <p:cNvSpPr txBox="1">
            <a:spLocks/>
          </p:cNvSpPr>
          <p:nvPr/>
        </p:nvSpPr>
        <p:spPr>
          <a:xfrm>
            <a:off x="1817981" y="4308098"/>
            <a:ext cx="2072479" cy="3840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/>
              <a:t>Silver Sponsors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0783BE1-0079-C790-8548-1118AE97DEC8}"/>
              </a:ext>
            </a:extLst>
          </p:cNvPr>
          <p:cNvSpPr txBox="1">
            <a:spLocks/>
          </p:cNvSpPr>
          <p:nvPr/>
        </p:nvSpPr>
        <p:spPr>
          <a:xfrm>
            <a:off x="7690498" y="4308098"/>
            <a:ext cx="2072479" cy="38404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/>
              <a:t>Bronze Sponsor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55B76FE-FAF9-B10E-CF0F-866D504C0E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10" y="5261103"/>
            <a:ext cx="2857500" cy="7524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9663F18-5D1E-A92A-4BD2-38CF6D8051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3414" y="4538536"/>
            <a:ext cx="2197608" cy="219760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C53A00E-EA93-EACD-3083-D2BD3ED89B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3260" y="4850775"/>
            <a:ext cx="3146259" cy="157313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CA1CA31-7662-2DBE-0298-C82DFA362E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981" y="2667855"/>
            <a:ext cx="1947019" cy="140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066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3014EA-1930-8272-8069-3DC647E760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096" y="0"/>
            <a:ext cx="121798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354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A201D8-4271-099B-93ED-6A41B3919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E1AAA3-57AC-11B2-E798-B22D0BA4CEE3}"/>
              </a:ext>
            </a:extLst>
          </p:cNvPr>
          <p:cNvSpPr/>
          <p:nvPr/>
        </p:nvSpPr>
        <p:spPr>
          <a:xfrm>
            <a:off x="621792" y="50292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10263B"/>
          </a:solidFill>
          <a:ln w="15240">
            <a:solidFill>
              <a:srgbClr val="FFF100">
                <a:alpha val="8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6DA4645-14F2-40E1-AFE9-0F98AE4AF8E5}"/>
              </a:ext>
            </a:extLst>
          </p:cNvPr>
          <p:cNvSpPr/>
          <p:nvPr/>
        </p:nvSpPr>
        <p:spPr>
          <a:xfrm>
            <a:off x="676656" y="539496"/>
            <a:ext cx="1901952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TAKE THIS WITH YOU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7E40736-C4E9-332A-BBB2-D0AF7901BEF6}"/>
              </a:ext>
            </a:extLst>
          </p:cNvPr>
          <p:cNvSpPr/>
          <p:nvPr/>
        </p:nvSpPr>
        <p:spPr>
          <a:xfrm>
            <a:off x="621792" y="96012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F7F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DOWNLOAD THIS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F7F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PRESENTATION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74B661E-53DF-64FB-B250-A9E6943DAE3F}"/>
              </a:ext>
            </a:extLst>
          </p:cNvPr>
          <p:cNvSpPr/>
          <p:nvPr/>
        </p:nvSpPr>
        <p:spPr>
          <a:xfrm>
            <a:off x="640080" y="2377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FB2C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All slides, resources, and demo files available: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48DB38C-EF97-E72D-5388-AC11417DF263}"/>
              </a:ext>
            </a:extLst>
          </p:cNvPr>
          <p:cNvSpPr/>
          <p:nvPr/>
        </p:nvSpPr>
        <p:spPr>
          <a:xfrm>
            <a:off x="548640" y="64282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 err="1">
                <a:solidFill>
                  <a:srgbClr val="5D6B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DuckDB</a:t>
            </a:r>
            <a:r>
              <a:rPr lang="en-US" sz="900" dirty="0">
                <a:solidFill>
                  <a:srgbClr val="5D6B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101: From Desktop to Notebook</a:t>
            </a:r>
            <a:endParaRPr lang="en-US" sz="9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EBC60B61-0508-645C-FA2F-842D483917A8}"/>
              </a:ext>
            </a:extLst>
          </p:cNvPr>
          <p:cNvSpPr/>
          <p:nvPr/>
        </p:nvSpPr>
        <p:spPr>
          <a:xfrm>
            <a:off x="548640" y="6281928"/>
            <a:ext cx="11091672" cy="0"/>
          </a:xfrm>
          <a:prstGeom prst="line">
            <a:avLst/>
          </a:prstGeom>
          <a:noFill/>
          <a:ln w="12700">
            <a:solidFill>
              <a:srgbClr val="1C314C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666ECBFE-6AF0-F318-7FBF-3BE936FC99B5}"/>
              </a:ext>
            </a:extLst>
          </p:cNvPr>
          <p:cNvSpPr/>
          <p:nvPr/>
        </p:nvSpPr>
        <p:spPr>
          <a:xfrm>
            <a:off x="5528734" y="406400"/>
            <a:ext cx="5080000" cy="5080000"/>
          </a:xfrm>
          <a:prstGeom prst="roundRect">
            <a:avLst>
              <a:gd name="adj" fmla="val 825"/>
            </a:avLst>
          </a:prstGeom>
          <a:ln w="12700">
            <a:solidFill>
              <a:srgbClr val="FFF100">
                <a:alpha val="55000"/>
              </a:srgbClr>
            </a:solidFill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0FD3E4-9129-4BC9-42F4-31302462E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034" y="901700"/>
            <a:ext cx="4102100" cy="4102100"/>
          </a:xfrm>
          <a:prstGeom prst="rect">
            <a:avLst/>
          </a:prstGeom>
        </p:spPr>
      </p:pic>
      <p:sp>
        <p:nvSpPr>
          <p:cNvPr id="18" name="Text 5">
            <a:extLst>
              <a:ext uri="{FF2B5EF4-FFF2-40B4-BE49-F238E27FC236}">
                <a16:creationId xmlns:a16="http://schemas.microsoft.com/office/drawing/2014/main" id="{1CF89EAD-B2E4-7DFE-6E2E-17F3ADD9258C}"/>
              </a:ext>
            </a:extLst>
          </p:cNvPr>
          <p:cNvSpPr/>
          <p:nvPr/>
        </p:nvSpPr>
        <p:spPr>
          <a:xfrm>
            <a:off x="621792" y="2606040"/>
            <a:ext cx="558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200" normalizeH="0" baseline="0" noProof="0" dirty="0">
                <a:ln>
                  <a:noFill/>
                </a:ln>
                <a:solidFill>
                  <a:srgbClr val="9FB2C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 DAX SHEPHERD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thedaxshepherd.com/presentations</a:t>
            </a:r>
          </a:p>
        </p:txBody>
      </p:sp>
    </p:spTree>
    <p:extLst>
      <p:ext uri="{BB962C8B-B14F-4D97-AF65-F5344CB8AC3E}">
        <p14:creationId xmlns:p14="http://schemas.microsoft.com/office/powerpoint/2010/main" val="1913940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77240"/>
            <a:ext cx="4160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4F7F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Standing on the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4F7F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Shoulders of Giants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2176272"/>
            <a:ext cx="3566160" cy="0"/>
          </a:xfrm>
          <a:prstGeom prst="line">
            <a:avLst/>
          </a:prstGeom>
          <a:noFill/>
          <a:ln w="254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41148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FB2C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Grateful for the people who share their knowledge, encourage us, answer questions, and help the rest of us learn faster.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 l="25" r="25"/>
          <a:stretch/>
        </p:blipFill>
        <p:spPr>
          <a:xfrm>
            <a:off x="5230368" y="594360"/>
            <a:ext cx="598932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97568" y="4718303"/>
            <a:ext cx="3108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Photo credit: Unknown Author, CC BY-ND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64282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 err="1">
                <a:solidFill>
                  <a:srgbClr val="5D6B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DuckDB</a:t>
            </a:r>
            <a:r>
              <a:rPr lang="en-US" sz="900" dirty="0">
                <a:solidFill>
                  <a:srgbClr val="5D6B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101: From Desktop to Notebook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6281928"/>
            <a:ext cx="11091672" cy="0"/>
          </a:xfrm>
          <a:prstGeom prst="line">
            <a:avLst/>
          </a:prstGeom>
          <a:noFill/>
          <a:ln w="12700">
            <a:solidFill>
              <a:srgbClr val="1C314C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6853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B4A313-81B4-E20B-06D3-E44BBB62E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D6824A9-23C7-DA90-12DD-982E6AFAB28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D71C122-D486-467F-B158-B41358F64CFD}"/>
              </a:ext>
            </a:extLst>
          </p:cNvPr>
          <p:cNvSpPr/>
          <p:nvPr/>
        </p:nvSpPr>
        <p:spPr>
          <a:xfrm>
            <a:off x="1657350" y="3143250"/>
            <a:ext cx="8890000" cy="38100"/>
          </a:xfrm>
          <a:prstGeom prst="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7A8521D-305A-D4EF-E6B5-4DE9388A4FC0}"/>
              </a:ext>
            </a:extLst>
          </p:cNvPr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989D95D-A83F-22A3-D962-BE10FBE375AB}"/>
              </a:ext>
            </a:extLst>
          </p:cNvPr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B10D6A8-4D5A-1EBC-24F0-76B111780737}"/>
              </a:ext>
            </a:extLst>
          </p:cNvPr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956DD71-2CDA-44DC-D6CD-31D24794DF69}"/>
              </a:ext>
            </a:extLst>
          </p:cNvPr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316B95C-A948-004D-FEBB-3A65372A1D6C}"/>
              </a:ext>
            </a:extLst>
          </p:cNvPr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813D706-FC68-E33A-7DDD-0C15C60CDCA0}"/>
              </a:ext>
            </a:extLst>
          </p:cNvPr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A039AFF-791E-BFEE-2869-8C880D3B3826}"/>
              </a:ext>
            </a:extLst>
          </p:cNvPr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DE178A7-5E80-0F84-1BEE-9AC8058A6F06}"/>
              </a:ext>
            </a:extLst>
          </p:cNvPr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DD9F27D-A855-F9A2-75E9-DF53A723C77E}"/>
              </a:ext>
            </a:extLst>
          </p:cNvPr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C6C1466-F1A2-5FE7-A557-EE2B531471A0}"/>
              </a:ext>
            </a:extLst>
          </p:cNvPr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A70E03F-B6DD-D5BD-6861-440299657495}"/>
              </a:ext>
            </a:extLst>
          </p:cNvPr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2EAF7F8-0DB0-6559-88EB-9AE5F8B7E4A7}"/>
              </a:ext>
            </a:extLst>
          </p:cNvPr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F4554CF-33F8-EC5E-C33E-277938A8BC9E}"/>
              </a:ext>
            </a:extLst>
          </p:cNvPr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34EAA01-D223-E747-560B-0CC137FC1BA2}"/>
              </a:ext>
            </a:extLst>
          </p:cNvPr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F4B5A18-7B89-DF29-56AF-A3554B20AFA1}"/>
              </a:ext>
            </a:extLst>
          </p:cNvPr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77C15D1-4C27-AE7F-285D-53FDF59E73D2}"/>
              </a:ext>
            </a:extLst>
          </p:cNvPr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FE08D44-4103-2F94-83F3-4D23D199FE67}"/>
              </a:ext>
            </a:extLst>
          </p:cNvPr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F0ADA0A-B5A7-41CE-F346-95A5242D264D}"/>
              </a:ext>
            </a:extLst>
          </p:cNvPr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3AFCB97-FF07-5DF9-1246-F7790A16EBC1}"/>
              </a:ext>
            </a:extLst>
          </p:cNvPr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A53ED61-219D-FCB2-C888-5A5AE26113E0}"/>
              </a:ext>
            </a:extLst>
          </p:cNvPr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98F1214-ED99-8E83-62E4-7FCEE8559A21}"/>
              </a:ext>
            </a:extLst>
          </p:cNvPr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AC35921D-597E-87E6-5596-96863D0889C3}"/>
              </a:ext>
            </a:extLst>
          </p:cNvPr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26EEBD1C-4842-4576-59F7-45D9B381AA79}"/>
              </a:ext>
            </a:extLst>
          </p:cNvPr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1D4C920E-705B-0877-A697-83F04343C604}"/>
              </a:ext>
            </a:extLst>
          </p:cNvPr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A3E890F5-68E6-727E-A7E6-92D452182F1D}"/>
              </a:ext>
            </a:extLst>
          </p:cNvPr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836FFD4E-FA3F-BA05-C097-D85DCFC71EB2}"/>
              </a:ext>
            </a:extLst>
          </p:cNvPr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7D300ADA-EB49-D9D8-9BA1-B7B611B438F4}"/>
              </a:ext>
            </a:extLst>
          </p:cNvPr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EE0FFD01-0F50-FE02-7552-CE360E8545EF}"/>
              </a:ext>
            </a:extLst>
          </p:cNvPr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5875645C-6A62-E1FB-5673-3893C1DFCB68}"/>
              </a:ext>
            </a:extLst>
          </p:cNvPr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C82E74D8-FCC3-B00A-3C76-33CFF19B54E5}"/>
              </a:ext>
            </a:extLst>
          </p:cNvPr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A332D933-4473-571B-68B0-211A22324B79}"/>
              </a:ext>
            </a:extLst>
          </p:cNvPr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7FAC132A-F1D6-0F48-FEC4-A990732D2EAD}"/>
              </a:ext>
            </a:extLst>
          </p:cNvPr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D2DB37F0-C027-4039-7308-BCFC1023A67A}"/>
              </a:ext>
            </a:extLst>
          </p:cNvPr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Intro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C3C37FDE-CCDC-419F-218C-5BDC4C59B12F}"/>
              </a:ext>
            </a:extLst>
          </p:cNvPr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What DuckDB is and why it matters</a:t>
            </a: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5AD4E841-1029-625A-4EA2-5076B5DE2ABD}"/>
              </a:ext>
            </a:extLst>
          </p:cNvPr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1BBCA71D-6ED4-7945-8D62-D8694C0E7E71}"/>
              </a:ext>
            </a:extLst>
          </p:cNvPr>
          <p:cNvSpPr/>
          <p:nvPr/>
        </p:nvSpPr>
        <p:spPr>
          <a:xfrm>
            <a:off x="1657350" y="3163824"/>
            <a:ext cx="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866592F9-62CD-A993-16E6-38B9D7B7BF32}"/>
              </a:ext>
            </a:extLst>
          </p:cNvPr>
          <p:cNvSpPr/>
          <p:nvPr/>
        </p:nvSpPr>
        <p:spPr>
          <a:xfrm>
            <a:off x="1651000" y="3163824"/>
            <a:ext cx="0" cy="0"/>
          </a:xfrm>
          <a:prstGeom prst="line">
            <a:avLst/>
          </a:prstGeom>
          <a:noFill/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C3FF4FAC-4A77-53A1-AE6F-157113BC084F}"/>
              </a:ext>
            </a:extLst>
          </p:cNvPr>
          <p:cNvSpPr/>
          <p:nvPr/>
        </p:nvSpPr>
        <p:spPr>
          <a:xfrm>
            <a:off x="1365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9EB1A5D8-1F6F-814A-0647-22BEC4B01A07}"/>
              </a:ext>
            </a:extLst>
          </p:cNvPr>
          <p:cNvSpPr/>
          <p:nvPr/>
        </p:nvSpPr>
        <p:spPr>
          <a:xfrm>
            <a:off x="136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711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6495501C-A915-626B-C4F5-1B49986255A1}"/>
              </a:ext>
            </a:extLst>
          </p:cNvPr>
          <p:cNvSpPr/>
          <p:nvPr/>
        </p:nvSpPr>
        <p:spPr>
          <a:xfrm>
            <a:off x="86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B8F8EB36-B2F4-20FA-C5D0-AA11C7EE60BC}"/>
              </a:ext>
            </a:extLst>
          </p:cNvPr>
          <p:cNvSpPr/>
          <p:nvPr/>
        </p:nvSpPr>
        <p:spPr>
          <a:xfrm>
            <a:off x="35877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E348B380-3FB1-0991-7F61-18BAE6BD2A36}"/>
              </a:ext>
            </a:extLst>
          </p:cNvPr>
          <p:cNvSpPr/>
          <p:nvPr/>
        </p:nvSpPr>
        <p:spPr>
          <a:xfrm>
            <a:off x="3587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B48AEEA4-9C00-D04F-4627-FDACDB8D9EE0}"/>
              </a:ext>
            </a:extLst>
          </p:cNvPr>
          <p:cNvSpPr/>
          <p:nvPr/>
        </p:nvSpPr>
        <p:spPr>
          <a:xfrm>
            <a:off x="3086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Desktop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10DF9490-2F8D-919F-1B9B-E015B70D67D7}"/>
              </a:ext>
            </a:extLst>
          </p:cNvPr>
          <p:cNvSpPr/>
          <p:nvPr/>
        </p:nvSpPr>
        <p:spPr>
          <a:xfrm>
            <a:off x="58102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DB583CD6-1FB6-4CCE-DD81-D11B8BA021F2}"/>
              </a:ext>
            </a:extLst>
          </p:cNvPr>
          <p:cNvSpPr/>
          <p:nvPr/>
        </p:nvSpPr>
        <p:spPr>
          <a:xfrm>
            <a:off x="5810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8FE0515B-91B6-90E5-D514-C67DBC8D8C7E}"/>
              </a:ext>
            </a:extLst>
          </p:cNvPr>
          <p:cNvSpPr/>
          <p:nvPr/>
        </p:nvSpPr>
        <p:spPr>
          <a:xfrm>
            <a:off x="5308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Notebook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6172EA35-1F74-7A94-BD39-88366048B1CB}"/>
              </a:ext>
            </a:extLst>
          </p:cNvPr>
          <p:cNvSpPr/>
          <p:nvPr/>
        </p:nvSpPr>
        <p:spPr>
          <a:xfrm>
            <a:off x="80327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D558A5C9-70F1-02C6-0E0E-71CCDA4D8AFD}"/>
              </a:ext>
            </a:extLst>
          </p:cNvPr>
          <p:cNvSpPr/>
          <p:nvPr/>
        </p:nvSpPr>
        <p:spPr>
          <a:xfrm>
            <a:off x="8032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8A294D22-843F-4184-FFB6-8FD9EA8FDE2D}"/>
              </a:ext>
            </a:extLst>
          </p:cNvPr>
          <p:cNvSpPr/>
          <p:nvPr/>
        </p:nvSpPr>
        <p:spPr>
          <a:xfrm>
            <a:off x="7531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7630C594-7F18-8C42-7396-A2D5D1BAD3CF}"/>
              </a:ext>
            </a:extLst>
          </p:cNvPr>
          <p:cNvSpPr/>
          <p:nvPr/>
        </p:nvSpPr>
        <p:spPr>
          <a:xfrm>
            <a:off x="102552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6F9124B7-13A7-2721-B127-D027E68A346A}"/>
              </a:ext>
            </a:extLst>
          </p:cNvPr>
          <p:cNvSpPr/>
          <p:nvPr/>
        </p:nvSpPr>
        <p:spPr>
          <a:xfrm>
            <a:off x="1025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D68814CD-903B-5B42-79EF-57A918A1E8FF}"/>
              </a:ext>
            </a:extLst>
          </p:cNvPr>
          <p:cNvSpPr/>
          <p:nvPr/>
        </p:nvSpPr>
        <p:spPr>
          <a:xfrm>
            <a:off x="975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1565760E-F7BE-953A-EB5E-6EE93FAEA122}"/>
              </a:ext>
            </a:extLst>
          </p:cNvPr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9C21A70B-3D83-AB9C-4443-EE53139109ED}"/>
              </a:ext>
            </a:extLst>
          </p:cNvPr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A1A3C2AB-8520-E199-C8AB-1C91D6F3817C}"/>
              </a:ext>
            </a:extLst>
          </p:cNvPr>
          <p:cNvSpPr/>
          <p:nvPr/>
        </p:nvSpPr>
        <p:spPr>
          <a:xfrm>
            <a:off x="19476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Intro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A967BF65-4504-56CA-2DE8-010604CA6FE0}"/>
              </a:ext>
            </a:extLst>
          </p:cNvPr>
          <p:cNvSpPr/>
          <p:nvPr/>
        </p:nvSpPr>
        <p:spPr>
          <a:xfrm>
            <a:off x="19659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What DuckDB is and why it matters</a:t>
            </a: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306A8649-065B-33AC-A9FC-5CCA4C90B2E6}"/>
              </a:ext>
            </a:extLst>
          </p:cNvPr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Desktop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5ECF83D0-B694-6F09-20DE-4EDA6AF13809}"/>
              </a:ext>
            </a:extLst>
          </p:cNvPr>
          <p:cNvSpPr/>
          <p:nvPr/>
        </p:nvSpPr>
        <p:spPr>
          <a:xfrm>
            <a:off x="713232" y="61996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DuckDB 101: From Desktop to Notebook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556C1049-AA91-C85D-A2C2-1DC6B2E4B52A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CE232CEC-E68C-89FE-35FB-2332568DD7AD}"/>
              </a:ext>
            </a:extLst>
          </p:cNvPr>
          <p:cNvSpPr/>
          <p:nvPr/>
        </p:nvSpPr>
        <p:spPr>
          <a:xfrm>
            <a:off x="713232" y="5925312"/>
            <a:ext cx="1790700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8208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F3E15F-0E4B-CF5E-61FC-80576569D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6666BDF-7A7C-2DF6-EA55-624BCA3F549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4791506-647E-4F15-A0C5-4971E2CAD442}"/>
              </a:ext>
            </a:extLst>
          </p:cNvPr>
          <p:cNvSpPr/>
          <p:nvPr/>
        </p:nvSpPr>
        <p:spPr>
          <a:xfrm>
            <a:off x="3879850" y="3143250"/>
            <a:ext cx="6667500" cy="38100"/>
          </a:xfrm>
          <a:prstGeom prst="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8B9A784-21CE-5E0C-15B5-7D27DA7D10A9}"/>
              </a:ext>
            </a:extLst>
          </p:cNvPr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7CA74F0-9D74-A858-62DC-584059187779}"/>
              </a:ext>
            </a:extLst>
          </p:cNvPr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C3C7791-6F67-057E-56B4-BEE4DF1B008E}"/>
              </a:ext>
            </a:extLst>
          </p:cNvPr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1B2ED99-2F6B-08C1-AE49-1A9632669FE9}"/>
              </a:ext>
            </a:extLst>
          </p:cNvPr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A660117-0728-DCBC-E179-0FD016BB8D23}"/>
              </a:ext>
            </a:extLst>
          </p:cNvPr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1D74A29-F26D-CF4F-9596-E2465E3B344D}"/>
              </a:ext>
            </a:extLst>
          </p:cNvPr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E054166-4696-81FD-C174-80BA5F6262BC}"/>
              </a:ext>
            </a:extLst>
          </p:cNvPr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4515355-5973-5704-3181-E9F146155BEC}"/>
              </a:ext>
            </a:extLst>
          </p:cNvPr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02A4383-5793-73B8-F095-06DB52474999}"/>
              </a:ext>
            </a:extLst>
          </p:cNvPr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165AE0F-DE1C-F21E-69D6-80E4900BA7ED}"/>
              </a:ext>
            </a:extLst>
          </p:cNvPr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FB82369-43D8-DD4C-80A0-C4980D85A6C0}"/>
              </a:ext>
            </a:extLst>
          </p:cNvPr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73DF851-A65F-D69E-76A0-95C3240F5057}"/>
              </a:ext>
            </a:extLst>
          </p:cNvPr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9AFD02E-17DC-4CEA-67CA-3DB44CCEBD63}"/>
              </a:ext>
            </a:extLst>
          </p:cNvPr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F594870-E7FE-10C8-1556-A2675436C2F4}"/>
              </a:ext>
            </a:extLst>
          </p:cNvPr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D978958-7DE9-2A39-24EA-02655C9B5B7F}"/>
              </a:ext>
            </a:extLst>
          </p:cNvPr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E3D1DD0-B94F-DA3A-5796-8920BAC6BED3}"/>
              </a:ext>
            </a:extLst>
          </p:cNvPr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076BBDC-CFBE-003F-A453-223CE4173E92}"/>
              </a:ext>
            </a:extLst>
          </p:cNvPr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D08E54E-72B2-4409-0CE6-3C615DC029E3}"/>
              </a:ext>
            </a:extLst>
          </p:cNvPr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D80EFFC-224D-C138-FB5C-BBB0C1896ABD}"/>
              </a:ext>
            </a:extLst>
          </p:cNvPr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DC09414-8BD0-1310-2D9F-3E871C6E908C}"/>
              </a:ext>
            </a:extLst>
          </p:cNvPr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602CD31-9E63-A94F-98EA-3E3D8485B4E9}"/>
              </a:ext>
            </a:extLst>
          </p:cNvPr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88D7AF7-F133-1BA7-376D-D279ED2FBED3}"/>
              </a:ext>
            </a:extLst>
          </p:cNvPr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00F4B013-023E-6E6F-5F48-F6BA3AB1AD4A}"/>
              </a:ext>
            </a:extLst>
          </p:cNvPr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CC458B7C-16FD-CAD0-8C35-6BD07B7859FB}"/>
              </a:ext>
            </a:extLst>
          </p:cNvPr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A411DD6-F165-2CDC-E21D-487A689175C1}"/>
              </a:ext>
            </a:extLst>
          </p:cNvPr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2C116EFA-B547-6266-14E7-E3B5307B0993}"/>
              </a:ext>
            </a:extLst>
          </p:cNvPr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76BD3E93-B530-C9CC-87D2-A7497F55FF3D}"/>
              </a:ext>
            </a:extLst>
          </p:cNvPr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53DDFADE-26F7-FD7A-04FF-3CE0469D9E72}"/>
              </a:ext>
            </a:extLst>
          </p:cNvPr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AB93EC22-F555-2C41-747D-792E3217B5A8}"/>
              </a:ext>
            </a:extLst>
          </p:cNvPr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BE13A4BB-7425-F683-7DA7-5C324D278BDD}"/>
              </a:ext>
            </a:extLst>
          </p:cNvPr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5A6995E2-2A7D-8A86-6442-82FD1FEBEA9C}"/>
              </a:ext>
            </a:extLst>
          </p:cNvPr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Desktop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91CB54A2-27E7-887B-6274-27994D2251DA}"/>
              </a:ext>
            </a:extLst>
          </p:cNvPr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Running DuckDB locally — CLI and GUI</a:t>
            </a: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FEC20824-68F7-A9B9-255B-B10A125D5EF1}"/>
              </a:ext>
            </a:extLst>
          </p:cNvPr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AD5ACAD0-040C-D547-9412-CBCB0B64FE12}"/>
              </a:ext>
            </a:extLst>
          </p:cNvPr>
          <p:cNvSpPr/>
          <p:nvPr/>
        </p:nvSpPr>
        <p:spPr>
          <a:xfrm>
            <a:off x="1657350" y="3163824"/>
            <a:ext cx="2222500" cy="0"/>
          </a:xfrm>
          <a:prstGeom prst="line">
            <a:avLst/>
          </a:prstGeom>
          <a:noFill/>
          <a:ln w="28575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E358FD15-4820-9C14-E553-02D65C9A9737}"/>
              </a:ext>
            </a:extLst>
          </p:cNvPr>
          <p:cNvSpPr/>
          <p:nvPr/>
        </p:nvSpPr>
        <p:spPr>
          <a:xfrm>
            <a:off x="1651000" y="3163824"/>
            <a:ext cx="0" cy="0"/>
          </a:xfrm>
          <a:prstGeom prst="line">
            <a:avLst/>
          </a:prstGeom>
          <a:noFill/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3F764DBB-3243-4A13-BBF0-383E65F34809}"/>
              </a:ext>
            </a:extLst>
          </p:cNvPr>
          <p:cNvSpPr/>
          <p:nvPr/>
        </p:nvSpPr>
        <p:spPr>
          <a:xfrm>
            <a:off x="1365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E9F3E5FE-0B6E-80F3-F31A-8CDBD298C09A}"/>
              </a:ext>
            </a:extLst>
          </p:cNvPr>
          <p:cNvSpPr/>
          <p:nvPr/>
        </p:nvSpPr>
        <p:spPr>
          <a:xfrm>
            <a:off x="136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EE607DDB-2A02-6251-2412-712FB13D91C4}"/>
              </a:ext>
            </a:extLst>
          </p:cNvPr>
          <p:cNvSpPr/>
          <p:nvPr/>
        </p:nvSpPr>
        <p:spPr>
          <a:xfrm>
            <a:off x="86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CBD90F63-7C7F-2739-BC74-DAD0668AE6B3}"/>
              </a:ext>
            </a:extLst>
          </p:cNvPr>
          <p:cNvSpPr/>
          <p:nvPr/>
        </p:nvSpPr>
        <p:spPr>
          <a:xfrm>
            <a:off x="35877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C69C389B-3882-0890-CD9D-8873F4327BEB}"/>
              </a:ext>
            </a:extLst>
          </p:cNvPr>
          <p:cNvSpPr/>
          <p:nvPr/>
        </p:nvSpPr>
        <p:spPr>
          <a:xfrm>
            <a:off x="3587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711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33152EC4-3EA6-2585-05EF-5C0531A92AF4}"/>
              </a:ext>
            </a:extLst>
          </p:cNvPr>
          <p:cNvSpPr/>
          <p:nvPr/>
        </p:nvSpPr>
        <p:spPr>
          <a:xfrm>
            <a:off x="3086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50" b="1" dirty="0">
                <a:solidFill>
                  <a:srgbClr val="F8FAFC"/>
                </a:solidFill>
                <a:latin typeface="Aptos" pitchFamily="34" charset="0"/>
              </a:rPr>
              <a:t>Desktop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8B7F1BD8-7181-E43E-7496-80A449C41A01}"/>
              </a:ext>
            </a:extLst>
          </p:cNvPr>
          <p:cNvSpPr/>
          <p:nvPr/>
        </p:nvSpPr>
        <p:spPr>
          <a:xfrm>
            <a:off x="58102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EBADC10B-5D94-D76B-564D-156E8DECE68F}"/>
              </a:ext>
            </a:extLst>
          </p:cNvPr>
          <p:cNvSpPr/>
          <p:nvPr/>
        </p:nvSpPr>
        <p:spPr>
          <a:xfrm>
            <a:off x="5810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BC85FF62-B1B3-3DAD-C6B3-75D6A773D41A}"/>
              </a:ext>
            </a:extLst>
          </p:cNvPr>
          <p:cNvSpPr/>
          <p:nvPr/>
        </p:nvSpPr>
        <p:spPr>
          <a:xfrm>
            <a:off x="5308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Notebook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22C7E05E-68CE-129C-9BD9-EEF6FAEA12B4}"/>
              </a:ext>
            </a:extLst>
          </p:cNvPr>
          <p:cNvSpPr/>
          <p:nvPr/>
        </p:nvSpPr>
        <p:spPr>
          <a:xfrm>
            <a:off x="80327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8465ABD5-627D-D233-9F77-AFD0D83EFA6E}"/>
              </a:ext>
            </a:extLst>
          </p:cNvPr>
          <p:cNvSpPr/>
          <p:nvPr/>
        </p:nvSpPr>
        <p:spPr>
          <a:xfrm>
            <a:off x="8032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31FDF1D2-7E83-D712-0406-387A4A307023}"/>
              </a:ext>
            </a:extLst>
          </p:cNvPr>
          <p:cNvSpPr/>
          <p:nvPr/>
        </p:nvSpPr>
        <p:spPr>
          <a:xfrm>
            <a:off x="7531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2526C5DF-7F96-CCA2-C9D9-2A950C176A2F}"/>
              </a:ext>
            </a:extLst>
          </p:cNvPr>
          <p:cNvSpPr/>
          <p:nvPr/>
        </p:nvSpPr>
        <p:spPr>
          <a:xfrm>
            <a:off x="102552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34086108-6389-94B6-7F5C-E8C104F21E84}"/>
              </a:ext>
            </a:extLst>
          </p:cNvPr>
          <p:cNvSpPr/>
          <p:nvPr/>
        </p:nvSpPr>
        <p:spPr>
          <a:xfrm>
            <a:off x="1025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B0F7F5B2-3125-03C6-90CB-D507851FCB56}"/>
              </a:ext>
            </a:extLst>
          </p:cNvPr>
          <p:cNvSpPr/>
          <p:nvPr/>
        </p:nvSpPr>
        <p:spPr>
          <a:xfrm>
            <a:off x="975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B0DEBCD1-20FE-6925-DA2B-02B9A74F5143}"/>
              </a:ext>
            </a:extLst>
          </p:cNvPr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47023C1C-2457-0ADB-BD3B-EA8D19719158}"/>
              </a:ext>
            </a:extLst>
          </p:cNvPr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A2CA443D-CAAE-E65C-E844-394F28F476BF}"/>
              </a:ext>
            </a:extLst>
          </p:cNvPr>
          <p:cNvSpPr/>
          <p:nvPr/>
        </p:nvSpPr>
        <p:spPr>
          <a:xfrm>
            <a:off x="19476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Desktop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A5E22D98-4DF2-2755-D2B4-FF4D18B26517}"/>
              </a:ext>
            </a:extLst>
          </p:cNvPr>
          <p:cNvSpPr/>
          <p:nvPr/>
        </p:nvSpPr>
        <p:spPr>
          <a:xfrm>
            <a:off x="19659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Running DuckDB locally — CLI and GUI</a:t>
            </a: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F732F7C3-20F3-A92E-C84E-C77D0C205505}"/>
              </a:ext>
            </a:extLst>
          </p:cNvPr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Notebook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6011F686-440F-A1F0-9C54-2C406FE21E41}"/>
              </a:ext>
            </a:extLst>
          </p:cNvPr>
          <p:cNvSpPr/>
          <p:nvPr/>
        </p:nvSpPr>
        <p:spPr>
          <a:xfrm>
            <a:off x="713232" y="61996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DuckDB 101: From Desktop to Notebook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4A685960-52BE-3983-7240-F9EDC6AAB18D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48B0B3AB-08E6-8F51-AEFE-C0C97C76BB71}"/>
              </a:ext>
            </a:extLst>
          </p:cNvPr>
          <p:cNvSpPr/>
          <p:nvPr/>
        </p:nvSpPr>
        <p:spPr>
          <a:xfrm>
            <a:off x="713232" y="5925312"/>
            <a:ext cx="3581400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253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AE79FD-13A5-9CC7-A4ED-0624B4B89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50F48E6-20E7-3DFA-689B-FDE895B1C2B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0B07BB0-FD94-477B-B665-B7170941DAC5}"/>
              </a:ext>
            </a:extLst>
          </p:cNvPr>
          <p:cNvSpPr/>
          <p:nvPr/>
        </p:nvSpPr>
        <p:spPr>
          <a:xfrm>
            <a:off x="6102350" y="3143250"/>
            <a:ext cx="4445000" cy="38100"/>
          </a:xfrm>
          <a:prstGeom prst="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19CF0E0-0A38-38C3-4582-0F7DCBC52CFC}"/>
              </a:ext>
            </a:extLst>
          </p:cNvPr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4015359-A989-DCC2-3D54-613A4B42A438}"/>
              </a:ext>
            </a:extLst>
          </p:cNvPr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CDD9229-8CB0-636F-A7E6-8394AEF26455}"/>
              </a:ext>
            </a:extLst>
          </p:cNvPr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5A6071E-0C78-E39D-6D2C-4714C7D0B318}"/>
              </a:ext>
            </a:extLst>
          </p:cNvPr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6CE9F49-F94C-83F7-1361-7505CFBA50C8}"/>
              </a:ext>
            </a:extLst>
          </p:cNvPr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3405839-F27F-6506-2259-0B07DF0339D6}"/>
              </a:ext>
            </a:extLst>
          </p:cNvPr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6D018D7-B5F7-4BD1-67D6-437FA73AF444}"/>
              </a:ext>
            </a:extLst>
          </p:cNvPr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091C13D-4C79-E0E4-1CFA-2F316E8DC4C8}"/>
              </a:ext>
            </a:extLst>
          </p:cNvPr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89DDE6B-2704-FAC3-391E-206183666839}"/>
              </a:ext>
            </a:extLst>
          </p:cNvPr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815FAED-5234-F7B6-5098-6E542888EECB}"/>
              </a:ext>
            </a:extLst>
          </p:cNvPr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4174C5B-AAC3-276A-66C2-ED3ADB079BA3}"/>
              </a:ext>
            </a:extLst>
          </p:cNvPr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FBA2D44-C3C0-71F4-EB3A-8885C6500DDF}"/>
              </a:ext>
            </a:extLst>
          </p:cNvPr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3620274-8B96-B1F1-395B-A3F8F9F4A3C5}"/>
              </a:ext>
            </a:extLst>
          </p:cNvPr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023396B-01CA-4355-813B-753CAE7C071B}"/>
              </a:ext>
            </a:extLst>
          </p:cNvPr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9E7DDD6-7998-74D4-D112-E945E76AB032}"/>
              </a:ext>
            </a:extLst>
          </p:cNvPr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0E68942-AD52-617D-A4AD-83163044DA8B}"/>
              </a:ext>
            </a:extLst>
          </p:cNvPr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6337E68-2BFD-3EB9-2CEF-84289F46C221}"/>
              </a:ext>
            </a:extLst>
          </p:cNvPr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14E0229-C80A-A0FB-8FBF-005F0877EA65}"/>
              </a:ext>
            </a:extLst>
          </p:cNvPr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694DB7C-7033-5265-6DC7-8F826C78EBEC}"/>
              </a:ext>
            </a:extLst>
          </p:cNvPr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F6AF1D9-B328-91F6-9775-0001E61DE86D}"/>
              </a:ext>
            </a:extLst>
          </p:cNvPr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EC3E9F18-08B4-32E4-334F-57D4BC557010}"/>
              </a:ext>
            </a:extLst>
          </p:cNvPr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44D66C5-3647-46A2-A9DE-F94AB755D3F5}"/>
              </a:ext>
            </a:extLst>
          </p:cNvPr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6A635D4-BB1C-AC52-DCDD-07FE3A30859B}"/>
              </a:ext>
            </a:extLst>
          </p:cNvPr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5314C2A9-AE3A-E88E-22F7-1F791AAC21CA}"/>
              </a:ext>
            </a:extLst>
          </p:cNvPr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B6F9CD6-5501-1A5B-5991-6B489A5D839F}"/>
              </a:ext>
            </a:extLst>
          </p:cNvPr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C76AA9B-3F60-8AB4-BA5B-F316A06B93EE}"/>
              </a:ext>
            </a:extLst>
          </p:cNvPr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07D1AFB3-F5C4-4B31-FF46-0F2337128970}"/>
              </a:ext>
            </a:extLst>
          </p:cNvPr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C669A161-FF85-C6F0-A571-C879615A1BCD}"/>
              </a:ext>
            </a:extLst>
          </p:cNvPr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D7097440-7839-035C-2CC3-D68677274525}"/>
              </a:ext>
            </a:extLst>
          </p:cNvPr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29D9A461-209E-F7D6-812D-87A1EA7A88AB}"/>
              </a:ext>
            </a:extLst>
          </p:cNvPr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0FF6B86B-BDAE-305B-C3BD-2C1402C104B3}"/>
              </a:ext>
            </a:extLst>
          </p:cNvPr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2C4A35C7-B920-332B-5E28-8A144241704B}"/>
              </a:ext>
            </a:extLst>
          </p:cNvPr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850304C4-3A28-D1C1-058E-F807FB213965}"/>
              </a:ext>
            </a:extLst>
          </p:cNvPr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Notebook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B0C0A947-2E58-8F8D-1B94-774F17A84052}"/>
              </a:ext>
            </a:extLst>
          </p:cNvPr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Interactive querying in VS Code</a:t>
            </a: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1FA58234-C1D5-3BDF-13E1-DAC93DB5514E}"/>
              </a:ext>
            </a:extLst>
          </p:cNvPr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D89DB533-9CC4-2D21-0DDF-695EC70E0226}"/>
              </a:ext>
            </a:extLst>
          </p:cNvPr>
          <p:cNvSpPr/>
          <p:nvPr/>
        </p:nvSpPr>
        <p:spPr>
          <a:xfrm>
            <a:off x="1657350" y="3163824"/>
            <a:ext cx="4445000" cy="0"/>
          </a:xfrm>
          <a:prstGeom prst="line">
            <a:avLst/>
          </a:prstGeom>
          <a:noFill/>
          <a:ln w="28575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1D075E87-442C-8F69-CEA8-878D7F83BF99}"/>
              </a:ext>
            </a:extLst>
          </p:cNvPr>
          <p:cNvSpPr/>
          <p:nvPr/>
        </p:nvSpPr>
        <p:spPr>
          <a:xfrm>
            <a:off x="1651000" y="3163824"/>
            <a:ext cx="0" cy="0"/>
          </a:xfrm>
          <a:prstGeom prst="line">
            <a:avLst/>
          </a:prstGeom>
          <a:noFill/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E7EC111D-D86A-A825-2412-74D3003EC17A}"/>
              </a:ext>
            </a:extLst>
          </p:cNvPr>
          <p:cNvSpPr/>
          <p:nvPr/>
        </p:nvSpPr>
        <p:spPr>
          <a:xfrm>
            <a:off x="1365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36EF5D74-267D-D80F-96B5-D6DE09459469}"/>
              </a:ext>
            </a:extLst>
          </p:cNvPr>
          <p:cNvSpPr/>
          <p:nvPr/>
        </p:nvSpPr>
        <p:spPr>
          <a:xfrm>
            <a:off x="136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8940E832-4EE1-B8CA-0581-6B982D4169BE}"/>
              </a:ext>
            </a:extLst>
          </p:cNvPr>
          <p:cNvSpPr/>
          <p:nvPr/>
        </p:nvSpPr>
        <p:spPr>
          <a:xfrm>
            <a:off x="86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6A4F80CF-B3C6-46BB-794B-B9DEEC6395B9}"/>
              </a:ext>
            </a:extLst>
          </p:cNvPr>
          <p:cNvSpPr/>
          <p:nvPr/>
        </p:nvSpPr>
        <p:spPr>
          <a:xfrm>
            <a:off x="35877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DFCEFA71-3A2D-A1F8-FA23-8E23C3A896CB}"/>
              </a:ext>
            </a:extLst>
          </p:cNvPr>
          <p:cNvSpPr/>
          <p:nvPr/>
        </p:nvSpPr>
        <p:spPr>
          <a:xfrm>
            <a:off x="3587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224CF960-D12F-29AE-8C72-CE0996D96818}"/>
              </a:ext>
            </a:extLst>
          </p:cNvPr>
          <p:cNvSpPr/>
          <p:nvPr/>
        </p:nvSpPr>
        <p:spPr>
          <a:xfrm>
            <a:off x="3086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Desktop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3EBC549B-364B-DA34-8CA0-676EB525EC07}"/>
              </a:ext>
            </a:extLst>
          </p:cNvPr>
          <p:cNvSpPr/>
          <p:nvPr/>
        </p:nvSpPr>
        <p:spPr>
          <a:xfrm>
            <a:off x="5810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82E539FA-8D41-4CE5-5AA9-1A1CA3AC577B}"/>
              </a:ext>
            </a:extLst>
          </p:cNvPr>
          <p:cNvSpPr/>
          <p:nvPr/>
        </p:nvSpPr>
        <p:spPr>
          <a:xfrm>
            <a:off x="5810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711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EE42590E-D459-0E69-4DCF-2B10A7AEBD30}"/>
              </a:ext>
            </a:extLst>
          </p:cNvPr>
          <p:cNvSpPr/>
          <p:nvPr/>
        </p:nvSpPr>
        <p:spPr>
          <a:xfrm>
            <a:off x="5308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Notebook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48A9FF67-0278-D370-DACA-C05B0229A008}"/>
              </a:ext>
            </a:extLst>
          </p:cNvPr>
          <p:cNvSpPr/>
          <p:nvPr/>
        </p:nvSpPr>
        <p:spPr>
          <a:xfrm>
            <a:off x="80327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9779ECD2-6D2C-95CF-A8BA-2BB5AD151EFD}"/>
              </a:ext>
            </a:extLst>
          </p:cNvPr>
          <p:cNvSpPr/>
          <p:nvPr/>
        </p:nvSpPr>
        <p:spPr>
          <a:xfrm>
            <a:off x="8032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3EB47BB5-CC0A-9269-84DB-941E5246ED08}"/>
              </a:ext>
            </a:extLst>
          </p:cNvPr>
          <p:cNvSpPr/>
          <p:nvPr/>
        </p:nvSpPr>
        <p:spPr>
          <a:xfrm>
            <a:off x="7531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50587414-14DC-8CC5-357A-9ED48DBBA42F}"/>
              </a:ext>
            </a:extLst>
          </p:cNvPr>
          <p:cNvSpPr/>
          <p:nvPr/>
        </p:nvSpPr>
        <p:spPr>
          <a:xfrm>
            <a:off x="102552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3DF17128-D471-AC43-51E5-AC3C1600992C}"/>
              </a:ext>
            </a:extLst>
          </p:cNvPr>
          <p:cNvSpPr/>
          <p:nvPr/>
        </p:nvSpPr>
        <p:spPr>
          <a:xfrm>
            <a:off x="1025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3AB4AE7A-6479-7390-AFC0-DEAA639EDA3E}"/>
              </a:ext>
            </a:extLst>
          </p:cNvPr>
          <p:cNvSpPr/>
          <p:nvPr/>
        </p:nvSpPr>
        <p:spPr>
          <a:xfrm>
            <a:off x="975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9DA8693B-FD55-E986-E1EA-0A4C4AFBE79F}"/>
              </a:ext>
            </a:extLst>
          </p:cNvPr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E4467AA1-F7F6-CBBF-D2ED-F67FE0F449CB}"/>
              </a:ext>
            </a:extLst>
          </p:cNvPr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1EF3E99A-2D47-503E-9A48-B609543B663E}"/>
              </a:ext>
            </a:extLst>
          </p:cNvPr>
          <p:cNvSpPr/>
          <p:nvPr/>
        </p:nvSpPr>
        <p:spPr>
          <a:xfrm>
            <a:off x="19476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Notebook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132FE1C6-4E13-4958-C237-9A0572D9978A}"/>
              </a:ext>
            </a:extLst>
          </p:cNvPr>
          <p:cNvSpPr/>
          <p:nvPr/>
        </p:nvSpPr>
        <p:spPr>
          <a:xfrm>
            <a:off x="19659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Interactive querying in VS Code</a:t>
            </a: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B1F8D605-3E3F-A8D6-1C25-4BBCC113C963}"/>
              </a:ext>
            </a:extLst>
          </p:cNvPr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Fabric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48802F57-E184-7A31-D8DE-70ED1D4E141B}"/>
              </a:ext>
            </a:extLst>
          </p:cNvPr>
          <p:cNvSpPr/>
          <p:nvPr/>
        </p:nvSpPr>
        <p:spPr>
          <a:xfrm>
            <a:off x="713232" y="61996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DuckDB 101: From Desktop to Notebook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77147727-D7DA-1067-6A89-6F00567A678A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E87F504B-AD69-F0FF-7918-2FA4016466A3}"/>
              </a:ext>
            </a:extLst>
          </p:cNvPr>
          <p:cNvSpPr/>
          <p:nvPr/>
        </p:nvSpPr>
        <p:spPr>
          <a:xfrm>
            <a:off x="713232" y="5925312"/>
            <a:ext cx="5372100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0202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3B56B7-BE46-AC80-1E19-EE6165996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F33CD0E-0572-FCAA-A309-08937EFEAFF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48E343-F2CB-4F8C-BC9C-BA23984BC394}"/>
              </a:ext>
            </a:extLst>
          </p:cNvPr>
          <p:cNvSpPr/>
          <p:nvPr/>
        </p:nvSpPr>
        <p:spPr>
          <a:xfrm>
            <a:off x="8324850" y="3143250"/>
            <a:ext cx="2222500" cy="38100"/>
          </a:xfrm>
          <a:prstGeom prst="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531AEDF-5521-9223-74B7-4F091E99D26F}"/>
              </a:ext>
            </a:extLst>
          </p:cNvPr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AD25124-1865-EACE-D2D1-1C9ED56466D7}"/>
              </a:ext>
            </a:extLst>
          </p:cNvPr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569DC11-0DA9-D690-B078-B719A9BB25D4}"/>
              </a:ext>
            </a:extLst>
          </p:cNvPr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428E112-2D84-C8C6-EA21-6960A0466144}"/>
              </a:ext>
            </a:extLst>
          </p:cNvPr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1BED85B-17D7-4CB0-664E-B5C46B36618B}"/>
              </a:ext>
            </a:extLst>
          </p:cNvPr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BFEE8A4-4CCF-F8E8-C1F9-07903D75D221}"/>
              </a:ext>
            </a:extLst>
          </p:cNvPr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FFDE707-7AAA-2DBC-766D-20CFB5C5FE42}"/>
              </a:ext>
            </a:extLst>
          </p:cNvPr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E33061F-BD46-FC05-586C-5FDC70E4351C}"/>
              </a:ext>
            </a:extLst>
          </p:cNvPr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E4F2F14-4A37-E424-6AB6-95B2F863A326}"/>
              </a:ext>
            </a:extLst>
          </p:cNvPr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BD0F1CA-F28A-5723-F45F-4ADB8E2E9AFC}"/>
              </a:ext>
            </a:extLst>
          </p:cNvPr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4409785-FD32-BB19-A81F-2794FBED1956}"/>
              </a:ext>
            </a:extLst>
          </p:cNvPr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BBDA800-5D32-D585-1157-274232C389BB}"/>
              </a:ext>
            </a:extLst>
          </p:cNvPr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E4079EF-10E4-4D96-9A78-5E192CDECBC8}"/>
              </a:ext>
            </a:extLst>
          </p:cNvPr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2987BC4-C48E-B2FA-1272-333740C80330}"/>
              </a:ext>
            </a:extLst>
          </p:cNvPr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0BC4476-509D-1833-AAFB-92DC082FBCC3}"/>
              </a:ext>
            </a:extLst>
          </p:cNvPr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87E220C-CFAE-F049-A002-5606AF18EBF7}"/>
              </a:ext>
            </a:extLst>
          </p:cNvPr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57720F2-203E-BF73-CA35-66F77EB8B450}"/>
              </a:ext>
            </a:extLst>
          </p:cNvPr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4196264-B7A5-A609-7A7F-CFF4F31368EB}"/>
              </a:ext>
            </a:extLst>
          </p:cNvPr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52718AF4-16C2-A990-84A4-AD9D0E0D0262}"/>
              </a:ext>
            </a:extLst>
          </p:cNvPr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7DA60EB-BDB3-57CE-81CF-4EF6BCE2ABB8}"/>
              </a:ext>
            </a:extLst>
          </p:cNvPr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FC24E0E-C072-8165-77D2-D5EEA6D9DB9B}"/>
              </a:ext>
            </a:extLst>
          </p:cNvPr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AD8C81EA-E698-11F2-8400-09DBE02C4280}"/>
              </a:ext>
            </a:extLst>
          </p:cNvPr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534C776-DBB0-58D5-FD4F-786183370576}"/>
              </a:ext>
            </a:extLst>
          </p:cNvPr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E9A43A1A-8850-44F3-B717-540CF65FE87B}"/>
              </a:ext>
            </a:extLst>
          </p:cNvPr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86AAA52D-BE1A-E84D-E8F5-26E60E6ABB8F}"/>
              </a:ext>
            </a:extLst>
          </p:cNvPr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9EA8E54D-B425-88C0-5EED-77A483AD057F}"/>
              </a:ext>
            </a:extLst>
          </p:cNvPr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7FF2DE4C-578E-F93C-5AD1-6420E75F2CD8}"/>
              </a:ext>
            </a:extLst>
          </p:cNvPr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CFDA1705-0A1D-6BCC-544C-837F60C1D353}"/>
              </a:ext>
            </a:extLst>
          </p:cNvPr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77E4A3A7-6A10-B342-95DC-3430D4D5B4B5}"/>
              </a:ext>
            </a:extLst>
          </p:cNvPr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628851D3-13DA-3144-FE0E-7221349628AB}"/>
              </a:ext>
            </a:extLst>
          </p:cNvPr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BDEBFB19-5703-BF82-E078-AF2920C7BCE9}"/>
              </a:ext>
            </a:extLst>
          </p:cNvPr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CBC5BB51-3CF3-FDC6-C04E-219F2590BDB3}"/>
              </a:ext>
            </a:extLst>
          </p:cNvPr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1B8E5AF3-16E4-F036-61A9-4786E36B615B}"/>
              </a:ext>
            </a:extLst>
          </p:cNvPr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Fabric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F1186640-A7DD-094C-D5D4-2033FC37A808}"/>
              </a:ext>
            </a:extLst>
          </p:cNvPr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Fabric Notebook — plus a note on Power BI</a:t>
            </a: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D221B4D5-C1F1-0E13-491A-B2D649E6BEF4}"/>
              </a:ext>
            </a:extLst>
          </p:cNvPr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707CDC77-9F32-626A-8D10-D654A3FD5632}"/>
              </a:ext>
            </a:extLst>
          </p:cNvPr>
          <p:cNvSpPr/>
          <p:nvPr/>
        </p:nvSpPr>
        <p:spPr>
          <a:xfrm>
            <a:off x="1657350" y="3163824"/>
            <a:ext cx="6667500" cy="0"/>
          </a:xfrm>
          <a:prstGeom prst="line">
            <a:avLst/>
          </a:prstGeom>
          <a:noFill/>
          <a:ln w="28575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0826A098-C480-D51E-97D7-541A77B16D1B}"/>
              </a:ext>
            </a:extLst>
          </p:cNvPr>
          <p:cNvSpPr/>
          <p:nvPr/>
        </p:nvSpPr>
        <p:spPr>
          <a:xfrm>
            <a:off x="1651000" y="3163824"/>
            <a:ext cx="0" cy="0"/>
          </a:xfrm>
          <a:prstGeom prst="line">
            <a:avLst/>
          </a:prstGeom>
          <a:noFill/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37A94083-F352-9E9A-719C-127AF714DECA}"/>
              </a:ext>
            </a:extLst>
          </p:cNvPr>
          <p:cNvSpPr/>
          <p:nvPr/>
        </p:nvSpPr>
        <p:spPr>
          <a:xfrm>
            <a:off x="1365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AE0BF71B-D85A-5032-DEB7-98A2CC34AA52}"/>
              </a:ext>
            </a:extLst>
          </p:cNvPr>
          <p:cNvSpPr/>
          <p:nvPr/>
        </p:nvSpPr>
        <p:spPr>
          <a:xfrm>
            <a:off x="136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7FD8D870-B667-909F-FE82-689D1B15D962}"/>
              </a:ext>
            </a:extLst>
          </p:cNvPr>
          <p:cNvSpPr/>
          <p:nvPr/>
        </p:nvSpPr>
        <p:spPr>
          <a:xfrm>
            <a:off x="86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1FD953B6-D770-E3AC-ACCA-8E99CC1BCC64}"/>
              </a:ext>
            </a:extLst>
          </p:cNvPr>
          <p:cNvSpPr/>
          <p:nvPr/>
        </p:nvSpPr>
        <p:spPr>
          <a:xfrm>
            <a:off x="35877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E2CBB59E-37E7-28A9-8BF6-F2913927671E}"/>
              </a:ext>
            </a:extLst>
          </p:cNvPr>
          <p:cNvSpPr/>
          <p:nvPr/>
        </p:nvSpPr>
        <p:spPr>
          <a:xfrm>
            <a:off x="3587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6A2441AD-56AC-3FCD-B28D-1635BB9DD93A}"/>
              </a:ext>
            </a:extLst>
          </p:cNvPr>
          <p:cNvSpPr/>
          <p:nvPr/>
        </p:nvSpPr>
        <p:spPr>
          <a:xfrm>
            <a:off x="3086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Desktop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819EEFAD-E8F6-0051-027B-512629A677C5}"/>
              </a:ext>
            </a:extLst>
          </p:cNvPr>
          <p:cNvSpPr/>
          <p:nvPr/>
        </p:nvSpPr>
        <p:spPr>
          <a:xfrm>
            <a:off x="5810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B0D85814-D9A6-FBF6-BF44-D57B89F12BF5}"/>
              </a:ext>
            </a:extLst>
          </p:cNvPr>
          <p:cNvSpPr/>
          <p:nvPr/>
        </p:nvSpPr>
        <p:spPr>
          <a:xfrm>
            <a:off x="5810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C8FA35BE-7116-9C54-623F-6C819C75C4C5}"/>
              </a:ext>
            </a:extLst>
          </p:cNvPr>
          <p:cNvSpPr/>
          <p:nvPr/>
        </p:nvSpPr>
        <p:spPr>
          <a:xfrm>
            <a:off x="5308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Notebook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44D09536-CAD7-69A5-E074-4F6890BEA837}"/>
              </a:ext>
            </a:extLst>
          </p:cNvPr>
          <p:cNvSpPr/>
          <p:nvPr/>
        </p:nvSpPr>
        <p:spPr>
          <a:xfrm>
            <a:off x="80327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1D71426F-9A9F-6366-A636-BB26977BB650}"/>
              </a:ext>
            </a:extLst>
          </p:cNvPr>
          <p:cNvSpPr/>
          <p:nvPr/>
        </p:nvSpPr>
        <p:spPr>
          <a:xfrm>
            <a:off x="8032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711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35B5A6B2-2A81-5631-BCF2-DFA571A63122}"/>
              </a:ext>
            </a:extLst>
          </p:cNvPr>
          <p:cNvSpPr/>
          <p:nvPr/>
        </p:nvSpPr>
        <p:spPr>
          <a:xfrm>
            <a:off x="7531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0F62D253-F7F5-1A90-BA74-6952D23A6865}"/>
              </a:ext>
            </a:extLst>
          </p:cNvPr>
          <p:cNvSpPr/>
          <p:nvPr/>
        </p:nvSpPr>
        <p:spPr>
          <a:xfrm>
            <a:off x="102552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3BFD0FF2-2F4F-8181-80FC-812E1A513E12}"/>
              </a:ext>
            </a:extLst>
          </p:cNvPr>
          <p:cNvSpPr/>
          <p:nvPr/>
        </p:nvSpPr>
        <p:spPr>
          <a:xfrm>
            <a:off x="1025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870380F1-1AF1-F2AF-328F-1447F8B92679}"/>
              </a:ext>
            </a:extLst>
          </p:cNvPr>
          <p:cNvSpPr/>
          <p:nvPr/>
        </p:nvSpPr>
        <p:spPr>
          <a:xfrm>
            <a:off x="975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D24754F0-08F2-A0A7-1E36-91C1137E1D12}"/>
              </a:ext>
            </a:extLst>
          </p:cNvPr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E4EFE3A6-05CA-A101-707E-DC619CCFA809}"/>
              </a:ext>
            </a:extLst>
          </p:cNvPr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66BE3507-BE87-EC5B-FE4F-613ADD7EC566}"/>
              </a:ext>
            </a:extLst>
          </p:cNvPr>
          <p:cNvSpPr/>
          <p:nvPr/>
        </p:nvSpPr>
        <p:spPr>
          <a:xfrm>
            <a:off x="19476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Fabric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16282133-F71A-E0A7-35BE-B896040B4A46}"/>
              </a:ext>
            </a:extLst>
          </p:cNvPr>
          <p:cNvSpPr/>
          <p:nvPr/>
        </p:nvSpPr>
        <p:spPr>
          <a:xfrm>
            <a:off x="19659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Fabric Notebook — plus a note on Power BI</a:t>
            </a: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F03613B3-6CB5-0185-E52A-F05EFCCCCD1B}"/>
              </a:ext>
            </a:extLst>
          </p:cNvPr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Wrap-Up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6293EBE0-DBF9-74E0-6ACD-35FA22273630}"/>
              </a:ext>
            </a:extLst>
          </p:cNvPr>
          <p:cNvSpPr/>
          <p:nvPr/>
        </p:nvSpPr>
        <p:spPr>
          <a:xfrm>
            <a:off x="713232" y="61996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DuckDB 101: From Desktop to Notebook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D9C12FF3-1941-2AAB-154D-A9558C3E1B48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CEAA870C-6D8B-C173-8C7F-A45204769DF7}"/>
              </a:ext>
            </a:extLst>
          </p:cNvPr>
          <p:cNvSpPr/>
          <p:nvPr/>
        </p:nvSpPr>
        <p:spPr>
          <a:xfrm>
            <a:off x="713232" y="5925312"/>
            <a:ext cx="8953500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1972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055396-C772-F19B-178A-0F1215DD5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A438179-6A44-0139-B154-BC166CAD62B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33E25C0-2E12-1E11-32D2-1BC6DDD20A12}"/>
              </a:ext>
            </a:extLst>
          </p:cNvPr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AE970DD-304D-C41E-DE48-DA82532567AD}"/>
              </a:ext>
            </a:extLst>
          </p:cNvPr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762D3E5-8521-27E4-E27C-6997F2FC2D98}"/>
              </a:ext>
            </a:extLst>
          </p:cNvPr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8DFCE8B-70A1-0E59-50CD-647332CCA47D}"/>
              </a:ext>
            </a:extLst>
          </p:cNvPr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436F8D0-3ECC-5B89-B938-4A2D8213DDDE}"/>
              </a:ext>
            </a:extLst>
          </p:cNvPr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7A230DC-6C28-A1CD-4A5B-34430CD28F7A}"/>
              </a:ext>
            </a:extLst>
          </p:cNvPr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912E6E5-6228-88D3-2AF9-789C35F34F1A}"/>
              </a:ext>
            </a:extLst>
          </p:cNvPr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4B36ECB-2512-9FE2-11C4-253362E4C413}"/>
              </a:ext>
            </a:extLst>
          </p:cNvPr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2CDF4AD-109A-9220-C2BF-399E2C904C33}"/>
              </a:ext>
            </a:extLst>
          </p:cNvPr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B860B34-FFA6-ABB4-561B-69CD746371FC}"/>
              </a:ext>
            </a:extLst>
          </p:cNvPr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30D9FBF-C7F2-30E8-CECF-72BCBFBC17EC}"/>
              </a:ext>
            </a:extLst>
          </p:cNvPr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4BE904C-4F8D-AAE1-2D62-7A59A974D01C}"/>
              </a:ext>
            </a:extLst>
          </p:cNvPr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B8AD9E0-00AC-5147-81FD-D29A1C4FA8A4}"/>
              </a:ext>
            </a:extLst>
          </p:cNvPr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CDE0070-7B95-3D11-578D-15C85E268003}"/>
              </a:ext>
            </a:extLst>
          </p:cNvPr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161ED0C-4D49-34B5-DE4A-9ADA39A62CCE}"/>
              </a:ext>
            </a:extLst>
          </p:cNvPr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7C04237-DF4F-E702-3F46-2A5A7875C70C}"/>
              </a:ext>
            </a:extLst>
          </p:cNvPr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3676169-5677-AACE-D5EB-271322B6047D}"/>
              </a:ext>
            </a:extLst>
          </p:cNvPr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51F0694-AB4B-87C4-3ED6-E90D4573334C}"/>
              </a:ext>
            </a:extLst>
          </p:cNvPr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C77731C-5F1C-A145-AA49-6BA2C2E24BCC}"/>
              </a:ext>
            </a:extLst>
          </p:cNvPr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311E959-521E-3104-2555-E4D51578F152}"/>
              </a:ext>
            </a:extLst>
          </p:cNvPr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FB86588-1B24-04EA-1AD8-D49B8DB0A2F0}"/>
              </a:ext>
            </a:extLst>
          </p:cNvPr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7F08DA03-38D2-0417-D6A7-0850DF458D3E}"/>
              </a:ext>
            </a:extLst>
          </p:cNvPr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3FE75D2C-1B4C-BC09-D7F7-3FC6C23AADB3}"/>
              </a:ext>
            </a:extLst>
          </p:cNvPr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7D3E0E4-4980-0355-5D9F-7C09484B8755}"/>
              </a:ext>
            </a:extLst>
          </p:cNvPr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DBCE09F-42D0-3BDE-CE05-D22AB2E26B47}"/>
              </a:ext>
            </a:extLst>
          </p:cNvPr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90A45990-80BC-CB97-1798-03BDE52FD3F8}"/>
              </a:ext>
            </a:extLst>
          </p:cNvPr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E6C31FA3-D73D-6C3A-C705-BC795882D5A7}"/>
              </a:ext>
            </a:extLst>
          </p:cNvPr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78B624A4-5C79-030C-0D45-5F33370862DA}"/>
              </a:ext>
            </a:extLst>
          </p:cNvPr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A153077F-0111-8375-0A17-8FAD273CEEEF}"/>
              </a:ext>
            </a:extLst>
          </p:cNvPr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39C7C72A-1A27-AD0B-4221-50A926661544}"/>
              </a:ext>
            </a:extLst>
          </p:cNvPr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ECB7321D-FB54-007E-4C1B-5A8C3EB55B5B}"/>
              </a:ext>
            </a:extLst>
          </p:cNvPr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E7151DBF-4B1B-095A-F50C-4F6B535B5B63}"/>
              </a:ext>
            </a:extLst>
          </p:cNvPr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5ED64821-AFC6-679B-DD0A-7E5629FF6F47}"/>
              </a:ext>
            </a:extLst>
          </p:cNvPr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Wrap-Up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176FC46B-56A7-3F78-B2F2-F45EF293579A}"/>
              </a:ext>
            </a:extLst>
          </p:cNvPr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Takeaways and what's next</a:t>
            </a: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3432D16E-8A43-7433-8592-30E58DB93E02}"/>
              </a:ext>
            </a:extLst>
          </p:cNvPr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2E16FD5D-DBEF-AA30-CE51-5CC27922D31B}"/>
              </a:ext>
            </a:extLst>
          </p:cNvPr>
          <p:cNvSpPr/>
          <p:nvPr/>
        </p:nvSpPr>
        <p:spPr>
          <a:xfrm>
            <a:off x="1657350" y="3163824"/>
            <a:ext cx="8890000" cy="0"/>
          </a:xfrm>
          <a:prstGeom prst="line">
            <a:avLst/>
          </a:prstGeom>
          <a:noFill/>
          <a:ln w="28575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21F404E1-57F6-27E3-1A4A-FDB4A089A01B}"/>
              </a:ext>
            </a:extLst>
          </p:cNvPr>
          <p:cNvSpPr/>
          <p:nvPr/>
        </p:nvSpPr>
        <p:spPr>
          <a:xfrm>
            <a:off x="1651000" y="3163824"/>
            <a:ext cx="0" cy="0"/>
          </a:xfrm>
          <a:prstGeom prst="line">
            <a:avLst/>
          </a:prstGeom>
          <a:noFill/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1F8A2921-D91A-EF80-00D7-8466F6AD8FDA}"/>
              </a:ext>
            </a:extLst>
          </p:cNvPr>
          <p:cNvSpPr/>
          <p:nvPr/>
        </p:nvSpPr>
        <p:spPr>
          <a:xfrm>
            <a:off x="1365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67FFAE1B-CE49-1850-8230-8ECD425BF1BC}"/>
              </a:ext>
            </a:extLst>
          </p:cNvPr>
          <p:cNvSpPr/>
          <p:nvPr/>
        </p:nvSpPr>
        <p:spPr>
          <a:xfrm>
            <a:off x="136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8673A500-B015-97D0-31D3-1C7F122826D6}"/>
              </a:ext>
            </a:extLst>
          </p:cNvPr>
          <p:cNvSpPr/>
          <p:nvPr/>
        </p:nvSpPr>
        <p:spPr>
          <a:xfrm>
            <a:off x="86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2F00D7C6-04D9-EB55-6182-F58F02930E1D}"/>
              </a:ext>
            </a:extLst>
          </p:cNvPr>
          <p:cNvSpPr/>
          <p:nvPr/>
        </p:nvSpPr>
        <p:spPr>
          <a:xfrm>
            <a:off x="35877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A265C03B-441C-0637-4B9A-30ECD945F199}"/>
              </a:ext>
            </a:extLst>
          </p:cNvPr>
          <p:cNvSpPr/>
          <p:nvPr/>
        </p:nvSpPr>
        <p:spPr>
          <a:xfrm>
            <a:off x="3587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3CFA8FCB-167C-B695-8FF2-0D7E1A3CC2AD}"/>
              </a:ext>
            </a:extLst>
          </p:cNvPr>
          <p:cNvSpPr/>
          <p:nvPr/>
        </p:nvSpPr>
        <p:spPr>
          <a:xfrm>
            <a:off x="3086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Desktop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3B6EABBE-57BC-0891-9A20-AFAAAB3F2F4C}"/>
              </a:ext>
            </a:extLst>
          </p:cNvPr>
          <p:cNvSpPr/>
          <p:nvPr/>
        </p:nvSpPr>
        <p:spPr>
          <a:xfrm>
            <a:off x="5810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72C6AF41-DA29-0872-4AAC-246186B04F1E}"/>
              </a:ext>
            </a:extLst>
          </p:cNvPr>
          <p:cNvSpPr/>
          <p:nvPr/>
        </p:nvSpPr>
        <p:spPr>
          <a:xfrm>
            <a:off x="5810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1FBEFA69-71FA-EDC4-B3D4-95AC68BC276B}"/>
              </a:ext>
            </a:extLst>
          </p:cNvPr>
          <p:cNvSpPr/>
          <p:nvPr/>
        </p:nvSpPr>
        <p:spPr>
          <a:xfrm>
            <a:off x="5308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Notebook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729CCDA7-FF3E-62EF-3C37-735609C5B259}"/>
              </a:ext>
            </a:extLst>
          </p:cNvPr>
          <p:cNvSpPr/>
          <p:nvPr/>
        </p:nvSpPr>
        <p:spPr>
          <a:xfrm>
            <a:off x="80327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042E2731-8172-CAF7-8A01-EC170BB93395}"/>
              </a:ext>
            </a:extLst>
          </p:cNvPr>
          <p:cNvSpPr/>
          <p:nvPr/>
        </p:nvSpPr>
        <p:spPr>
          <a:xfrm>
            <a:off x="8032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E37C4519-0EAC-8F33-5A63-4A9FF092E4B1}"/>
              </a:ext>
            </a:extLst>
          </p:cNvPr>
          <p:cNvSpPr/>
          <p:nvPr/>
        </p:nvSpPr>
        <p:spPr>
          <a:xfrm>
            <a:off x="7531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ED1409D5-B539-CC38-70F2-02A3022D8AF2}"/>
              </a:ext>
            </a:extLst>
          </p:cNvPr>
          <p:cNvSpPr/>
          <p:nvPr/>
        </p:nvSpPr>
        <p:spPr>
          <a:xfrm>
            <a:off x="10255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E7479198-42A1-4C6F-BC91-95B2DBB68735}"/>
              </a:ext>
            </a:extLst>
          </p:cNvPr>
          <p:cNvSpPr/>
          <p:nvPr/>
        </p:nvSpPr>
        <p:spPr>
          <a:xfrm>
            <a:off x="1025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711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5508EC2F-4C7D-273E-A969-BBBD45E5BA99}"/>
              </a:ext>
            </a:extLst>
          </p:cNvPr>
          <p:cNvSpPr/>
          <p:nvPr/>
        </p:nvSpPr>
        <p:spPr>
          <a:xfrm>
            <a:off x="975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9DD2FE83-48AA-C0A6-2E5B-B782E094C231}"/>
              </a:ext>
            </a:extLst>
          </p:cNvPr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B27CBF47-7514-8F70-ACCA-0BD6588F4ADA}"/>
              </a:ext>
            </a:extLst>
          </p:cNvPr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6575D915-07E6-6A97-1289-F7B81CBB25E3}"/>
              </a:ext>
            </a:extLst>
          </p:cNvPr>
          <p:cNvSpPr/>
          <p:nvPr/>
        </p:nvSpPr>
        <p:spPr>
          <a:xfrm>
            <a:off x="19476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Wrap-Up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10876704-5CE4-8BA0-F62C-F1666E0294A3}"/>
              </a:ext>
            </a:extLst>
          </p:cNvPr>
          <p:cNvSpPr/>
          <p:nvPr/>
        </p:nvSpPr>
        <p:spPr>
          <a:xfrm>
            <a:off x="19659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Takeaways and what's next</a:t>
            </a: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1A5F6B4E-3116-3D8F-7602-ACB163AF6428}"/>
              </a:ext>
            </a:extLst>
          </p:cNvPr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Thanks!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9F92586C-7A71-3F60-A6A6-6AE076DEA116}"/>
              </a:ext>
            </a:extLst>
          </p:cNvPr>
          <p:cNvSpPr/>
          <p:nvPr/>
        </p:nvSpPr>
        <p:spPr>
          <a:xfrm>
            <a:off x="713232" y="61996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DuckDB 101: From Desktop to Notebook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183F4EC0-F04A-AC8B-65C3-FADD23C3BDE0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97E35751-00F1-966B-7A1C-A0E7911252A7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589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0E3340-9658-224C-0A18-F1E6B5046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6CA6EA8-9D9D-5365-82F4-58973E6F836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C92EBCE-AC42-40A6-9FA5-64F169E1F181}"/>
              </a:ext>
            </a:extLst>
          </p:cNvPr>
          <p:cNvSpPr/>
          <p:nvPr/>
        </p:nvSpPr>
        <p:spPr>
          <a:xfrm>
            <a:off x="1657350" y="3143250"/>
            <a:ext cx="8890000" cy="38100"/>
          </a:xfrm>
          <a:prstGeom prst="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A6F0135-7C05-AD7F-0906-F33DF5F99E41}"/>
              </a:ext>
            </a:extLst>
          </p:cNvPr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0ADD14D-C6DE-D034-5D4A-14218450A95A}"/>
              </a:ext>
            </a:extLst>
          </p:cNvPr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2232772-9144-100A-5B1C-6D8F7D584903}"/>
              </a:ext>
            </a:extLst>
          </p:cNvPr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7516D1C-BA83-2288-C381-B67856425EBA}"/>
              </a:ext>
            </a:extLst>
          </p:cNvPr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85DEE3F-592B-AAF8-654A-F4D92EE442A7}"/>
              </a:ext>
            </a:extLst>
          </p:cNvPr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951258C-4614-ABC9-5024-6B345B83C4B6}"/>
              </a:ext>
            </a:extLst>
          </p:cNvPr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C444559-9D60-47E6-340E-72982FC0D05E}"/>
              </a:ext>
            </a:extLst>
          </p:cNvPr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1E9BF1D-DFBB-732A-728F-386295DBA22A}"/>
              </a:ext>
            </a:extLst>
          </p:cNvPr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9199207-55C4-615E-34B4-EC13C9C1C2CE}"/>
              </a:ext>
            </a:extLst>
          </p:cNvPr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C14E1D8-E9B1-314C-9C33-CF07F3A1C337}"/>
              </a:ext>
            </a:extLst>
          </p:cNvPr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241C902-9D8C-1E56-8187-EB5E765F5EF5}"/>
              </a:ext>
            </a:extLst>
          </p:cNvPr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3006571-2E24-C584-243F-838E425A0814}"/>
              </a:ext>
            </a:extLst>
          </p:cNvPr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FBC4D2F-70C9-4029-CA46-CA83F7881ECD}"/>
              </a:ext>
            </a:extLst>
          </p:cNvPr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4964FB3-C39C-2CC5-2D9B-BD333A1EA06D}"/>
              </a:ext>
            </a:extLst>
          </p:cNvPr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B653A27-76DB-7D01-01D8-31240502A4EB}"/>
              </a:ext>
            </a:extLst>
          </p:cNvPr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334E07B-684D-3B46-1AFB-A835103AB8F2}"/>
              </a:ext>
            </a:extLst>
          </p:cNvPr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F17F177-28F0-06AC-6593-86793C6DAB8B}"/>
              </a:ext>
            </a:extLst>
          </p:cNvPr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452DB8A-6380-4E7D-8513-B039C0F14C07}"/>
              </a:ext>
            </a:extLst>
          </p:cNvPr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AF71F5D4-4793-4860-31E2-76A6C6E78E98}"/>
              </a:ext>
            </a:extLst>
          </p:cNvPr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D710E75E-D82E-2087-C8B9-B0687605815E}"/>
              </a:ext>
            </a:extLst>
          </p:cNvPr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E2B56F1-665E-D886-1A9D-EA918BB897A4}"/>
              </a:ext>
            </a:extLst>
          </p:cNvPr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15A6952-0B21-9ABC-0DF8-5EF93E6B2B59}"/>
              </a:ext>
            </a:extLst>
          </p:cNvPr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DFF2FCF-C390-9A22-7A5C-EFAAB442CEED}"/>
              </a:ext>
            </a:extLst>
          </p:cNvPr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D89D823C-F021-ACC2-218C-15021CCF5A88}"/>
              </a:ext>
            </a:extLst>
          </p:cNvPr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3C36D0A-B177-A52B-2898-8686372BF41C}"/>
              </a:ext>
            </a:extLst>
          </p:cNvPr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2CAD550E-EEF3-B7CA-C18A-5044B2472964}"/>
              </a:ext>
            </a:extLst>
          </p:cNvPr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A2734C66-EAF6-4DDE-11C0-91D27B112D9D}"/>
              </a:ext>
            </a:extLst>
          </p:cNvPr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65FA9837-555C-B0F7-4C4C-884219007DEF}"/>
              </a:ext>
            </a:extLst>
          </p:cNvPr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F6F9393C-F28B-0FBF-860E-DF84BF46A329}"/>
              </a:ext>
            </a:extLst>
          </p:cNvPr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4B47ECCF-AB42-D959-6683-E4FB8433839B}"/>
              </a:ext>
            </a:extLst>
          </p:cNvPr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F885B557-BA7A-C484-DA4F-9D50EBEE69EA}"/>
              </a:ext>
            </a:extLst>
          </p:cNvPr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687005BA-B81D-84A8-59EB-098E2DFED7C5}"/>
              </a:ext>
            </a:extLst>
          </p:cNvPr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E66F8E84-2BCA-FF1C-4EC1-9375342F0479}"/>
              </a:ext>
            </a:extLst>
          </p:cNvPr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Intro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944BDDCC-E8AD-2BA4-B8A9-D3908444975A}"/>
              </a:ext>
            </a:extLst>
          </p:cNvPr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What DuckDB is and why it matters</a:t>
            </a: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E92903E2-94F9-B1B9-57CC-05854B0D7569}"/>
              </a:ext>
            </a:extLst>
          </p:cNvPr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21562C26-6F2A-54A9-30DB-0F7D895F4827}"/>
              </a:ext>
            </a:extLst>
          </p:cNvPr>
          <p:cNvSpPr/>
          <p:nvPr/>
        </p:nvSpPr>
        <p:spPr>
          <a:xfrm>
            <a:off x="1657350" y="3163824"/>
            <a:ext cx="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28DB146F-390F-39B7-2B86-0370E3F23888}"/>
              </a:ext>
            </a:extLst>
          </p:cNvPr>
          <p:cNvSpPr/>
          <p:nvPr/>
        </p:nvSpPr>
        <p:spPr>
          <a:xfrm>
            <a:off x="1651000" y="3163824"/>
            <a:ext cx="0" cy="0"/>
          </a:xfrm>
          <a:prstGeom prst="line">
            <a:avLst/>
          </a:prstGeom>
          <a:noFill/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23AF2BE5-884D-022E-2D2B-4E7DAB2150CE}"/>
              </a:ext>
            </a:extLst>
          </p:cNvPr>
          <p:cNvSpPr/>
          <p:nvPr/>
        </p:nvSpPr>
        <p:spPr>
          <a:xfrm>
            <a:off x="1365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09424164-B7E0-F936-3E9A-B4B5FED3630B}"/>
              </a:ext>
            </a:extLst>
          </p:cNvPr>
          <p:cNvSpPr/>
          <p:nvPr/>
        </p:nvSpPr>
        <p:spPr>
          <a:xfrm>
            <a:off x="136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711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9D6A68FE-98FF-67F5-61F0-91F4B7797B8F}"/>
              </a:ext>
            </a:extLst>
          </p:cNvPr>
          <p:cNvSpPr/>
          <p:nvPr/>
        </p:nvSpPr>
        <p:spPr>
          <a:xfrm>
            <a:off x="86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F8552190-FEF3-84FA-B547-76EBDA2D6F9A}"/>
              </a:ext>
            </a:extLst>
          </p:cNvPr>
          <p:cNvSpPr/>
          <p:nvPr/>
        </p:nvSpPr>
        <p:spPr>
          <a:xfrm>
            <a:off x="35877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86925042-6668-4326-84CA-0F582B1CC2A8}"/>
              </a:ext>
            </a:extLst>
          </p:cNvPr>
          <p:cNvSpPr/>
          <p:nvPr/>
        </p:nvSpPr>
        <p:spPr>
          <a:xfrm>
            <a:off x="3587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8D847408-DE11-2FB7-47B0-4F7C5824E2E2}"/>
              </a:ext>
            </a:extLst>
          </p:cNvPr>
          <p:cNvSpPr/>
          <p:nvPr/>
        </p:nvSpPr>
        <p:spPr>
          <a:xfrm>
            <a:off x="3086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Desktop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98D37A7B-98D0-FB68-56AF-B919458618AC}"/>
              </a:ext>
            </a:extLst>
          </p:cNvPr>
          <p:cNvSpPr/>
          <p:nvPr/>
        </p:nvSpPr>
        <p:spPr>
          <a:xfrm>
            <a:off x="58102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06B53942-324E-CF1D-1FAC-8A9E40EB8017}"/>
              </a:ext>
            </a:extLst>
          </p:cNvPr>
          <p:cNvSpPr/>
          <p:nvPr/>
        </p:nvSpPr>
        <p:spPr>
          <a:xfrm>
            <a:off x="5810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017899CC-36F2-8951-C639-F4829C6AB36D}"/>
              </a:ext>
            </a:extLst>
          </p:cNvPr>
          <p:cNvSpPr/>
          <p:nvPr/>
        </p:nvSpPr>
        <p:spPr>
          <a:xfrm>
            <a:off x="5308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Notebook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EE134431-0EC2-79AC-F8D5-2872F71288C7}"/>
              </a:ext>
            </a:extLst>
          </p:cNvPr>
          <p:cNvSpPr/>
          <p:nvPr/>
        </p:nvSpPr>
        <p:spPr>
          <a:xfrm>
            <a:off x="80327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A35631A5-DFA7-7914-08E8-0E7EB81806D4}"/>
              </a:ext>
            </a:extLst>
          </p:cNvPr>
          <p:cNvSpPr/>
          <p:nvPr/>
        </p:nvSpPr>
        <p:spPr>
          <a:xfrm>
            <a:off x="8032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62EB41C9-F73D-E9EA-3F65-73A258F52FED}"/>
              </a:ext>
            </a:extLst>
          </p:cNvPr>
          <p:cNvSpPr/>
          <p:nvPr/>
        </p:nvSpPr>
        <p:spPr>
          <a:xfrm>
            <a:off x="7531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868DFB28-FE9C-CA23-CE7B-DAFD9099E844}"/>
              </a:ext>
            </a:extLst>
          </p:cNvPr>
          <p:cNvSpPr/>
          <p:nvPr/>
        </p:nvSpPr>
        <p:spPr>
          <a:xfrm>
            <a:off x="102552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D72C481D-BA1C-8146-19D6-CC78469D9B0E}"/>
              </a:ext>
            </a:extLst>
          </p:cNvPr>
          <p:cNvSpPr/>
          <p:nvPr/>
        </p:nvSpPr>
        <p:spPr>
          <a:xfrm>
            <a:off x="1025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8484C6D5-CA8C-93C5-515B-2383E9110D7D}"/>
              </a:ext>
            </a:extLst>
          </p:cNvPr>
          <p:cNvSpPr/>
          <p:nvPr/>
        </p:nvSpPr>
        <p:spPr>
          <a:xfrm>
            <a:off x="975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0882E0A3-9C4E-9804-417B-AA549BDDCDCB}"/>
              </a:ext>
            </a:extLst>
          </p:cNvPr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94B6A34F-D512-E40B-E1FC-0DCA5968445A}"/>
              </a:ext>
            </a:extLst>
          </p:cNvPr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2A4CB83B-73B9-3D90-3269-32E9B0BDCCF3}"/>
              </a:ext>
            </a:extLst>
          </p:cNvPr>
          <p:cNvSpPr/>
          <p:nvPr/>
        </p:nvSpPr>
        <p:spPr>
          <a:xfrm>
            <a:off x="19476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Intro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CF5DDACF-F349-10DE-1C3A-E42861911B18}"/>
              </a:ext>
            </a:extLst>
          </p:cNvPr>
          <p:cNvSpPr/>
          <p:nvPr/>
        </p:nvSpPr>
        <p:spPr>
          <a:xfrm>
            <a:off x="19659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What DuckDB is and why it matters</a:t>
            </a: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7A6FA12E-9B5E-AF12-D821-8AB5B985E12D}"/>
              </a:ext>
            </a:extLst>
          </p:cNvPr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Desktop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535EE425-475A-34BA-D973-C23E48AA73A1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AEE4CF07-A7CB-B029-9040-11D12F09C92A}"/>
              </a:ext>
            </a:extLst>
          </p:cNvPr>
          <p:cNvSpPr/>
          <p:nvPr/>
        </p:nvSpPr>
        <p:spPr>
          <a:xfrm>
            <a:off x="713232" y="5925312"/>
            <a:ext cx="1790700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572DD3-6096-4B15-8BE7-3DD256B6550C}"/>
              </a:ext>
            </a:extLst>
          </p:cNvPr>
          <p:cNvSpPr txBox="1"/>
          <p:nvPr/>
        </p:nvSpPr>
        <p:spPr>
          <a:xfrm>
            <a:off x="713740" y="6200140"/>
            <a:ext cx="402336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50">
                <a:solidFill>
                  <a:srgbClr val="64748B"/>
                </a:solidFill>
                <a:latin typeface="Aptos"/>
              </a:rPr>
              <a:t>DuckDB 101: From Desktop to Notebook</a:t>
            </a:r>
          </a:p>
        </p:txBody>
      </p:sp>
    </p:spTree>
    <p:extLst>
      <p:ext uri="{BB962C8B-B14F-4D97-AF65-F5344CB8AC3E}">
        <p14:creationId xmlns:p14="http://schemas.microsoft.com/office/powerpoint/2010/main" val="1028535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DuckDB?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87552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 first mental model: an analytical database that runs inside your process.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77240" y="1600200"/>
            <a:ext cx="54864" cy="16459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8408" y="1645920"/>
            <a:ext cx="466344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SQLite is embedded for apps.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DuckDB is embedded for analytics.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4846320" cy="1097280"/>
          </a:xfrm>
          <a:prstGeom prst="roundRect">
            <a:avLst>
              <a:gd name="adj" fmla="val 6667"/>
            </a:avLst>
          </a:prstGeom>
          <a:noFill/>
          <a:ln w="1905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373368" y="1581912"/>
            <a:ext cx="4443984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In-process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373368" y="1965960"/>
            <a:ext cx="444398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Runs in your app, Python process, notebook, or command-line session. No separate database server is required for the core workflow.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172200" y="2697480"/>
            <a:ext cx="4846320" cy="1097280"/>
          </a:xfrm>
          <a:prstGeom prst="roundRect">
            <a:avLst>
              <a:gd name="adj" fmla="val 6667"/>
            </a:avLst>
          </a:prstGeom>
          <a:noFill/>
          <a:ln w="1905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73368" y="2862072"/>
            <a:ext cx="4443984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Analytical SQL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373368" y="3246120"/>
            <a:ext cx="444398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Optimized for OLAP-style questions: filtering, grouping, joining, scanning columns, and reading data files.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72200" y="3977640"/>
            <a:ext cx="4846320" cy="1097280"/>
          </a:xfrm>
          <a:prstGeom prst="roundRect">
            <a:avLst>
              <a:gd name="adj" fmla="val 6667"/>
            </a:avLst>
          </a:prstGeom>
          <a:noFill/>
          <a:ln w="1905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73368" y="4142232"/>
            <a:ext cx="4443984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File-native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73368" y="4526280"/>
            <a:ext cx="444398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Can query files like CSV and Parquet directly, which makes it great for exploration and lightweight ETL.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490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63DFC6-9755-C7D0-22F0-727DFDA5D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9F6547D0-5D80-8108-41C2-C6586A183250}"/>
              </a:ext>
            </a:extLst>
          </p:cNvPr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0B15C4E-A2EA-572E-57FD-8D85F6FF72A0}"/>
              </a:ext>
            </a:extLst>
          </p:cNvPr>
          <p:cNvSpPr/>
          <p:nvPr/>
        </p:nvSpPr>
        <p:spPr>
          <a:xfrm>
            <a:off x="594360" y="45720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FC6F5D1-2B07-4293-AC78-F13D7A59D4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8074" y="463818"/>
            <a:ext cx="8895546" cy="593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653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 DuckDB Solves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87552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Before DuckDB, running SQL on files meant spinning up infrastructure. Here’s what changed.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01751AB-A423-EC2A-9D5B-E0B9C24FECBB}"/>
              </a:ext>
            </a:extLst>
          </p:cNvPr>
          <p:cNvGrpSpPr/>
          <p:nvPr/>
        </p:nvGrpSpPr>
        <p:grpSpPr>
          <a:xfrm>
            <a:off x="825500" y="1498600"/>
            <a:ext cx="3479800" cy="3048000"/>
            <a:chOff x="825500" y="1498600"/>
            <a:chExt cx="3479800" cy="3048000"/>
          </a:xfrm>
        </p:grpSpPr>
        <p:sp>
          <p:nvSpPr>
            <p:cNvPr id="6" name="Shape 4"/>
            <p:cNvSpPr/>
            <p:nvPr/>
          </p:nvSpPr>
          <p:spPr>
            <a:xfrm>
              <a:off x="825500" y="1498600"/>
              <a:ext cx="3479800" cy="3048000"/>
            </a:xfrm>
            <a:prstGeom prst="roundRect">
              <a:avLst>
                <a:gd name="adj" fmla="val 4848"/>
              </a:avLst>
            </a:prstGeom>
            <a:noFill/>
            <a:ln w="19050">
              <a:solidFill>
                <a:srgbClr val="FFF100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1028700" y="1676400"/>
              <a:ext cx="30734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algn="l">
                <a:buNone/>
              </a:pPr>
              <a:r>
                <a:rPr lang="en-US" sz="1800" b="1" dirty="0">
                  <a:solidFill>
                    <a:srgbClr val="F2E205"/>
                  </a:solidFill>
                  <a:latin typeface="Aptos"/>
                </a:rPr>
                <a:t>Before DuckDB</a:t>
              </a:r>
            </a:p>
          </p:txBody>
        </p:sp>
        <p:sp>
          <p:nvSpPr>
            <p:cNvPr id="8" name="Text 6"/>
            <p:cNvSpPr/>
            <p:nvPr/>
          </p:nvSpPr>
          <p:spPr>
            <a:xfrm>
              <a:off x="1028700" y="2108200"/>
              <a:ext cx="3073400" cy="2311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rmAutofit/>
            </a:bodyPr>
            <a:lstStyle/>
            <a:p>
              <a:pPr marL="171450" indent="-171450" algn="l">
                <a:lnSpc>
                  <a:spcPct val="100000"/>
                </a:lnSpc>
                <a:spcBef>
                  <a:spcPts val="500"/>
                </a:spcBef>
                <a:buFont typeface="Arial"/>
                <a:buChar char="•"/>
              </a:pPr>
              <a:r>
                <a:rPr lang="en-US" sz="1400" dirty="0">
                  <a:solidFill>
                    <a:srgbClr val="FFFFFF"/>
                  </a:solidFill>
                  <a:latin typeface="Aptos"/>
                </a:rPr>
                <a:t>Need a server to run SQL</a:t>
              </a:r>
            </a:p>
            <a:p>
              <a:pPr marL="171450" indent="-171450" algn="l">
                <a:lnSpc>
                  <a:spcPct val="100000"/>
                </a:lnSpc>
                <a:spcBef>
                  <a:spcPts val="500"/>
                </a:spcBef>
                <a:buFont typeface="Arial"/>
                <a:buChar char="•"/>
              </a:pPr>
              <a:r>
                <a:rPr lang="en-US" sz="1400" dirty="0">
                  <a:solidFill>
                    <a:srgbClr val="FFFFFF"/>
                  </a:solidFill>
                  <a:latin typeface="Aptos"/>
                </a:rPr>
                <a:t>Pandas loads the full dataset into memory</a:t>
              </a:r>
            </a:p>
            <a:p>
              <a:pPr marL="171450" indent="-171450" algn="l">
                <a:lnSpc>
                  <a:spcPct val="100000"/>
                </a:lnSpc>
                <a:spcBef>
                  <a:spcPts val="500"/>
                </a:spcBef>
                <a:buFont typeface="Arial"/>
                <a:buChar char="•"/>
              </a:pPr>
              <a:r>
                <a:rPr lang="en-US" sz="1400" dirty="0">
                  <a:solidFill>
                    <a:srgbClr val="FFFFFF"/>
                  </a:solidFill>
                  <a:latin typeface="Aptos"/>
                </a:rPr>
                <a:t>Polar – not SQL</a:t>
              </a:r>
            </a:p>
            <a:p>
              <a:pPr marL="171450" indent="-171450" algn="l">
                <a:lnSpc>
                  <a:spcPct val="100000"/>
                </a:lnSpc>
                <a:spcBef>
                  <a:spcPts val="500"/>
                </a:spcBef>
                <a:buFont typeface="Arial"/>
                <a:buChar char="•"/>
              </a:pPr>
              <a:r>
                <a:rPr lang="en-US" sz="1400" dirty="0">
                  <a:solidFill>
                    <a:srgbClr val="FFFFFF"/>
                  </a:solidFill>
                  <a:latin typeface="Aptos"/>
                </a:rPr>
                <a:t>Spark requires a cluster</a:t>
              </a:r>
            </a:p>
            <a:p>
              <a:pPr marL="171450" indent="-171450" algn="l">
                <a:lnSpc>
                  <a:spcPct val="100000"/>
                </a:lnSpc>
                <a:spcBef>
                  <a:spcPts val="500"/>
                </a:spcBef>
                <a:buFont typeface="Arial"/>
                <a:buChar char="•"/>
              </a:pPr>
              <a:r>
                <a:rPr lang="en-US" sz="1400" dirty="0">
                  <a:solidFill>
                    <a:srgbClr val="FFFFFF"/>
                  </a:solidFill>
                  <a:latin typeface="Aptos"/>
                </a:rPr>
                <a:t>SQLite is row-oriented, not OLAP</a:t>
              </a:r>
            </a:p>
            <a:p>
              <a:pPr marL="171450" indent="-171450" algn="l">
                <a:lnSpc>
                  <a:spcPct val="100000"/>
                </a:lnSpc>
                <a:spcBef>
                  <a:spcPts val="500"/>
                </a:spcBef>
                <a:buFont typeface="Arial"/>
                <a:buChar char="•"/>
              </a:pPr>
              <a:r>
                <a:rPr lang="en-US" sz="1400" dirty="0">
                  <a:solidFill>
                    <a:srgbClr val="FFFFFF"/>
                  </a:solidFill>
                  <a:latin typeface="Aptos"/>
                </a:rPr>
                <a:t>Moving data just to query it is slow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6304C2D-FD2E-14B0-BD5E-FC465EC13E6A}"/>
              </a:ext>
            </a:extLst>
          </p:cNvPr>
          <p:cNvGrpSpPr/>
          <p:nvPr/>
        </p:nvGrpSpPr>
        <p:grpSpPr>
          <a:xfrm>
            <a:off x="4432300" y="1498600"/>
            <a:ext cx="3479800" cy="3048000"/>
            <a:chOff x="4432300" y="1498600"/>
            <a:chExt cx="3479800" cy="3048000"/>
          </a:xfrm>
        </p:grpSpPr>
        <p:sp>
          <p:nvSpPr>
            <p:cNvPr id="9" name="Shape 7"/>
            <p:cNvSpPr/>
            <p:nvPr/>
          </p:nvSpPr>
          <p:spPr>
            <a:xfrm>
              <a:off x="4432300" y="1498600"/>
              <a:ext cx="3479800" cy="3048000"/>
            </a:xfrm>
            <a:prstGeom prst="roundRect">
              <a:avLst>
                <a:gd name="adj" fmla="val 4848"/>
              </a:avLst>
            </a:prstGeom>
            <a:noFill/>
            <a:ln w="19050">
              <a:solidFill>
                <a:srgbClr val="FFF100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4635500" y="1676400"/>
              <a:ext cx="30734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algn="l">
                <a:buNone/>
              </a:pPr>
              <a:r>
                <a:rPr lang="en-US" sz="1800" b="1" dirty="0">
                  <a:solidFill>
                    <a:srgbClr val="F2E205"/>
                  </a:solidFill>
                  <a:latin typeface="Aptos"/>
                </a:rPr>
                <a:t>With DuckDB</a:t>
              </a:r>
            </a:p>
          </p:txBody>
        </p:sp>
        <p:sp>
          <p:nvSpPr>
            <p:cNvPr id="11" name="Text 9"/>
            <p:cNvSpPr/>
            <p:nvPr/>
          </p:nvSpPr>
          <p:spPr>
            <a:xfrm>
              <a:off x="4635500" y="2108200"/>
              <a:ext cx="3073400" cy="2311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rmAutofit/>
            </a:bodyPr>
            <a:lstStyle/>
            <a:p>
              <a:pPr marL="171450" indent="-171450" algn="l">
                <a:lnSpc>
                  <a:spcPct val="100000"/>
                </a:lnSpc>
                <a:spcBef>
                  <a:spcPts val="500"/>
                </a:spcBef>
                <a:buFont typeface="Arial"/>
                <a:buChar char="•"/>
              </a:pPr>
              <a:r>
                <a:rPr lang="en-US" sz="1400" dirty="0">
                  <a:solidFill>
                    <a:srgbClr val="FFFFFF"/>
                  </a:solidFill>
                  <a:latin typeface="Aptos"/>
                </a:rPr>
                <a:t>Run SQL on CSV, Parquet, JSON in place</a:t>
              </a:r>
            </a:p>
            <a:p>
              <a:pPr marL="171450" indent="-171450" algn="l">
                <a:lnSpc>
                  <a:spcPct val="100000"/>
                </a:lnSpc>
                <a:spcBef>
                  <a:spcPts val="500"/>
                </a:spcBef>
                <a:buFont typeface="Arial"/>
                <a:buChar char="•"/>
              </a:pPr>
              <a:r>
                <a:rPr lang="en-US" sz="1400" dirty="0">
                  <a:solidFill>
                    <a:srgbClr val="FFFFFF"/>
                  </a:solidFill>
                  <a:latin typeface="Aptos"/>
                </a:rPr>
                <a:t>Out-of-core execution for larger-than-RAM data</a:t>
              </a:r>
            </a:p>
            <a:p>
              <a:pPr marL="171450" indent="-171450" algn="l">
                <a:lnSpc>
                  <a:spcPct val="100000"/>
                </a:lnSpc>
                <a:spcBef>
                  <a:spcPts val="500"/>
                </a:spcBef>
                <a:buFont typeface="Arial"/>
                <a:buChar char="•"/>
              </a:pPr>
              <a:r>
                <a:rPr lang="en-US" sz="1400" dirty="0">
                  <a:solidFill>
                    <a:srgbClr val="FFFFFF"/>
                  </a:solidFill>
                  <a:latin typeface="Aptos"/>
                </a:rPr>
                <a:t>Often faster than Spark on one machine</a:t>
              </a:r>
            </a:p>
            <a:p>
              <a:pPr marL="171450" indent="-171450" algn="l">
                <a:lnSpc>
                  <a:spcPct val="100000"/>
                </a:lnSpc>
                <a:spcBef>
                  <a:spcPts val="500"/>
                </a:spcBef>
                <a:buFont typeface="Arial"/>
                <a:buChar char="•"/>
              </a:pPr>
              <a:r>
                <a:rPr lang="en-US" sz="1400" dirty="0">
                  <a:solidFill>
                    <a:srgbClr val="FFFFFF"/>
                  </a:solidFill>
                  <a:latin typeface="Aptos"/>
                </a:rPr>
                <a:t>One pip install</a:t>
              </a:r>
            </a:p>
            <a:p>
              <a:pPr marL="171450" indent="-171450" algn="l">
                <a:lnSpc>
                  <a:spcPct val="100000"/>
                </a:lnSpc>
                <a:spcBef>
                  <a:spcPts val="500"/>
                </a:spcBef>
                <a:buFont typeface="Arial"/>
                <a:buChar char="•"/>
              </a:pPr>
              <a:r>
                <a:rPr lang="en-US" sz="1400" dirty="0">
                  <a:solidFill>
                    <a:srgbClr val="FFFFFF"/>
                  </a:solidFill>
                  <a:latin typeface="Aptos"/>
                </a:rPr>
                <a:t>Query files where they live: local, S3, OneLake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6C47570-4374-A99F-B234-3EB3FFAA8223}"/>
              </a:ext>
            </a:extLst>
          </p:cNvPr>
          <p:cNvGrpSpPr/>
          <p:nvPr/>
        </p:nvGrpSpPr>
        <p:grpSpPr>
          <a:xfrm>
            <a:off x="8051800" y="1498600"/>
            <a:ext cx="3479800" cy="3048000"/>
            <a:chOff x="8051800" y="1498600"/>
            <a:chExt cx="3479800" cy="3048000"/>
          </a:xfrm>
        </p:grpSpPr>
        <p:sp>
          <p:nvSpPr>
            <p:cNvPr id="12" name="Shape 10"/>
            <p:cNvSpPr/>
            <p:nvPr/>
          </p:nvSpPr>
          <p:spPr>
            <a:xfrm>
              <a:off x="8051800" y="1498600"/>
              <a:ext cx="3479800" cy="3048000"/>
            </a:xfrm>
            <a:prstGeom prst="roundRect">
              <a:avLst>
                <a:gd name="adj" fmla="val 4848"/>
              </a:avLst>
            </a:prstGeom>
            <a:noFill/>
            <a:ln w="19050">
              <a:solidFill>
                <a:srgbClr val="FFF100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8242300" y="1676400"/>
              <a:ext cx="30734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algn="l">
                <a:buNone/>
              </a:pPr>
              <a:r>
                <a:rPr lang="en-US" sz="1800" b="1" dirty="0">
                  <a:solidFill>
                    <a:srgbClr val="F2E205"/>
                  </a:solidFill>
                  <a:latin typeface="Aptos"/>
                </a:rPr>
                <a:t>Same SQL you already know</a:t>
              </a:r>
            </a:p>
          </p:txBody>
        </p:sp>
        <p:sp>
          <p:nvSpPr>
            <p:cNvPr id="14" name="Text 12"/>
            <p:cNvSpPr/>
            <p:nvPr/>
          </p:nvSpPr>
          <p:spPr>
            <a:xfrm>
              <a:off x="8242300" y="2108200"/>
              <a:ext cx="3073400" cy="2311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rmAutofit/>
            </a:bodyPr>
            <a:lstStyle/>
            <a:p>
              <a:pPr marL="171450" indent="-171450" algn="l">
                <a:lnSpc>
                  <a:spcPct val="100000"/>
                </a:lnSpc>
                <a:spcBef>
                  <a:spcPts val="500"/>
                </a:spcBef>
                <a:buFont typeface="Arial"/>
                <a:buChar char="•"/>
              </a:pPr>
              <a:r>
                <a:rPr lang="en-US" sz="1400" dirty="0">
                  <a:solidFill>
                    <a:srgbClr val="FFFFFF"/>
                  </a:solidFill>
                  <a:latin typeface="Aptos"/>
                </a:rPr>
                <a:t>Window functions, CTEs, PIVOT, UNPIVOT, ASOF joins</a:t>
              </a:r>
            </a:p>
            <a:p>
              <a:pPr marL="171450" indent="-171450" algn="l">
                <a:lnSpc>
                  <a:spcPct val="100000"/>
                </a:lnSpc>
                <a:spcBef>
                  <a:spcPts val="500"/>
                </a:spcBef>
                <a:buFont typeface="Arial"/>
                <a:buChar char="•"/>
              </a:pPr>
              <a:r>
                <a:rPr lang="en-US" sz="1400" dirty="0">
                  <a:solidFill>
                    <a:srgbClr val="FFFFFF"/>
                  </a:solidFill>
                  <a:latin typeface="Aptos"/>
                </a:rPr>
                <a:t>No new query language to learn</a:t>
              </a:r>
            </a:p>
            <a:p>
              <a:pPr marL="171450" indent="-171450" algn="l">
                <a:lnSpc>
                  <a:spcPct val="100000"/>
                </a:lnSpc>
                <a:spcBef>
                  <a:spcPts val="500"/>
                </a:spcBef>
                <a:buFont typeface="Arial"/>
                <a:buChar char="•"/>
              </a:pPr>
              <a:r>
                <a:rPr lang="en-US" sz="1400" dirty="0">
                  <a:solidFill>
                    <a:srgbClr val="FFFFFF"/>
                  </a:solidFill>
                  <a:latin typeface="Aptos"/>
                </a:rPr>
                <a:t>Works in CLI, Python, Jupyter, and Fabric notebooks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65226DA-B324-A6D4-3502-43A0C2588F96}"/>
              </a:ext>
            </a:extLst>
          </p:cNvPr>
          <p:cNvGrpSpPr/>
          <p:nvPr/>
        </p:nvGrpSpPr>
        <p:grpSpPr>
          <a:xfrm>
            <a:off x="1511300" y="5181600"/>
            <a:ext cx="8978900" cy="863600"/>
            <a:chOff x="1511300" y="5181600"/>
            <a:chExt cx="8978900" cy="863600"/>
          </a:xfrm>
        </p:grpSpPr>
        <p:sp>
          <p:nvSpPr>
            <p:cNvPr id="15" name="Shape 13"/>
            <p:cNvSpPr/>
            <p:nvPr/>
          </p:nvSpPr>
          <p:spPr>
            <a:xfrm>
              <a:off x="1511300" y="5181600"/>
              <a:ext cx="50800" cy="863600"/>
            </a:xfrm>
            <a:prstGeom prst="rect">
              <a:avLst/>
            </a:prstGeom>
            <a:solidFill>
              <a:srgbClr val="FFF100"/>
            </a:solidFill>
            <a:ln w="1270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1714500" y="5232400"/>
              <a:ext cx="87757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Use DuckDB before the big engine, not instead of thinking.</a:t>
              </a: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5010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is DuckDB for?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87552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 local analytics engine for people who need fast answers without a platform ceremony.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485900" y="2133600"/>
            <a:ext cx="4457700" cy="0"/>
          </a:xfrm>
          <a:prstGeom prst="line">
            <a:avLst/>
          </a:prstGeom>
          <a:noFill/>
          <a:ln w="1524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762DBB-0CB2-4FCD-703E-37C73D194BF5}"/>
              </a:ext>
            </a:extLst>
          </p:cNvPr>
          <p:cNvGrpSpPr/>
          <p:nvPr/>
        </p:nvGrpSpPr>
        <p:grpSpPr>
          <a:xfrm>
            <a:off x="825500" y="1651000"/>
            <a:ext cx="5207000" cy="1308100"/>
            <a:chOff x="825500" y="1651000"/>
            <a:chExt cx="5207000" cy="1308100"/>
          </a:xfrm>
        </p:grpSpPr>
        <p:sp>
          <p:nvSpPr>
            <p:cNvPr id="6" name="Text 4"/>
            <p:cNvSpPr/>
            <p:nvPr/>
          </p:nvSpPr>
          <p:spPr>
            <a:xfrm>
              <a:off x="825500" y="1651000"/>
              <a:ext cx="546100" cy="45720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💻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CF729BE-0C21-ED29-31ED-D09567238C11}"/>
                </a:ext>
              </a:extLst>
            </p:cNvPr>
            <p:cNvGrpSpPr/>
            <p:nvPr/>
          </p:nvGrpSpPr>
          <p:grpSpPr>
            <a:xfrm>
              <a:off x="1460500" y="1701800"/>
              <a:ext cx="4572000" cy="1257300"/>
              <a:chOff x="1460500" y="1701800"/>
              <a:chExt cx="4572000" cy="1257300"/>
            </a:xfrm>
          </p:grpSpPr>
          <p:sp>
            <p:nvSpPr>
              <p:cNvPr id="7" name="Text 5"/>
              <p:cNvSpPr/>
              <p:nvPr/>
            </p:nvSpPr>
            <p:spPr>
              <a:xfrm>
                <a:off x="1460500" y="1701800"/>
                <a:ext cx="457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Data analysts exploring files locally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</p:txBody>
          </p:sp>
          <p:sp>
            <p:nvSpPr>
              <p:cNvPr id="9" name="Text 7"/>
              <p:cNvSpPr/>
              <p:nvPr/>
            </p:nvSpPr>
            <p:spPr>
              <a:xfrm>
                <a:off x="1460500" y="2222500"/>
                <a:ext cx="44450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AFC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CSV, Parquet, Excel exports, one-off downloads, vendor extracts.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</p:txBody>
          </p:sp>
        </p:grpSp>
      </p:grpSp>
      <p:sp>
        <p:nvSpPr>
          <p:cNvPr id="12" name="Shape 10"/>
          <p:cNvSpPr/>
          <p:nvPr/>
        </p:nvSpPr>
        <p:spPr>
          <a:xfrm>
            <a:off x="1485900" y="4013200"/>
            <a:ext cx="4457700" cy="0"/>
          </a:xfrm>
          <a:prstGeom prst="line">
            <a:avLst/>
          </a:prstGeom>
          <a:noFill/>
          <a:ln w="1524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4342FFC-3694-51A0-00B5-441AF5B98B6A}"/>
              </a:ext>
            </a:extLst>
          </p:cNvPr>
          <p:cNvGrpSpPr/>
          <p:nvPr/>
        </p:nvGrpSpPr>
        <p:grpSpPr>
          <a:xfrm>
            <a:off x="825500" y="3530600"/>
            <a:ext cx="5207000" cy="1308100"/>
            <a:chOff x="825500" y="3530600"/>
            <a:chExt cx="5207000" cy="1308100"/>
          </a:xfrm>
        </p:grpSpPr>
        <p:sp>
          <p:nvSpPr>
            <p:cNvPr id="10" name="Text 8"/>
            <p:cNvSpPr/>
            <p:nvPr/>
          </p:nvSpPr>
          <p:spPr>
            <a:xfrm>
              <a:off x="825500" y="3530600"/>
              <a:ext cx="546100" cy="45720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🐍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1460500" y="3581400"/>
              <a:ext cx="457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Python users who still want SQL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1460500" y="4102100"/>
              <a:ext cx="44450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8FAFC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Stay in SQL instead of fighting pandas or polars syntax — drop into a DataFrame only when you need to.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</p:grpSp>
      <p:sp>
        <p:nvSpPr>
          <p:cNvPr id="16" name="Shape 14"/>
          <p:cNvSpPr/>
          <p:nvPr/>
        </p:nvSpPr>
        <p:spPr>
          <a:xfrm>
            <a:off x="7061200" y="2133600"/>
            <a:ext cx="4279900" cy="0"/>
          </a:xfrm>
          <a:prstGeom prst="line">
            <a:avLst/>
          </a:prstGeom>
          <a:noFill/>
          <a:ln w="1524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E916323-2CF6-B3F8-3C06-CF07026ED94C}"/>
              </a:ext>
            </a:extLst>
          </p:cNvPr>
          <p:cNvGrpSpPr/>
          <p:nvPr/>
        </p:nvGrpSpPr>
        <p:grpSpPr>
          <a:xfrm>
            <a:off x="6400800" y="1651000"/>
            <a:ext cx="5029200" cy="1308100"/>
            <a:chOff x="6400800" y="1651000"/>
            <a:chExt cx="5029200" cy="1308100"/>
          </a:xfrm>
        </p:grpSpPr>
        <p:sp>
          <p:nvSpPr>
            <p:cNvPr id="14" name="Text 12"/>
            <p:cNvSpPr/>
            <p:nvPr/>
          </p:nvSpPr>
          <p:spPr>
            <a:xfrm>
              <a:off x="6400800" y="1651000"/>
              <a:ext cx="546100" cy="45720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🧪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7035800" y="1701800"/>
              <a:ext cx="4394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Engineers prototyping transformations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7035800" y="2222500"/>
              <a:ext cx="43053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8FAFC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Test ETL logic locally before deciding whether it belongs in Spark, dbt, a warehouse, or Fabric.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</p:grpSp>
      <p:sp>
        <p:nvSpPr>
          <p:cNvPr id="20" name="Shape 18"/>
          <p:cNvSpPr/>
          <p:nvPr/>
        </p:nvSpPr>
        <p:spPr>
          <a:xfrm>
            <a:off x="7061200" y="4013200"/>
            <a:ext cx="4279900" cy="0"/>
          </a:xfrm>
          <a:prstGeom prst="line">
            <a:avLst/>
          </a:prstGeom>
          <a:noFill/>
          <a:ln w="1524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342D5E0-4CEA-98DE-55A6-0A9BBAE2138A}"/>
              </a:ext>
            </a:extLst>
          </p:cNvPr>
          <p:cNvGrpSpPr/>
          <p:nvPr/>
        </p:nvGrpSpPr>
        <p:grpSpPr>
          <a:xfrm>
            <a:off x="6400800" y="3530600"/>
            <a:ext cx="5029200" cy="1308100"/>
            <a:chOff x="6400800" y="3530600"/>
            <a:chExt cx="5029200" cy="1308100"/>
          </a:xfrm>
        </p:grpSpPr>
        <p:sp>
          <p:nvSpPr>
            <p:cNvPr id="18" name="Text 16"/>
            <p:cNvSpPr/>
            <p:nvPr/>
          </p:nvSpPr>
          <p:spPr>
            <a:xfrm>
              <a:off x="6400800" y="3530600"/>
              <a:ext cx="546100" cy="45720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🎤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7035800" y="3581400"/>
              <a:ext cx="4394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Speakers, teachers, and demo builders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7035800" y="4102100"/>
              <a:ext cx="43053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8FAFC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Small setup surface area. Great for repeatable demos and hands-on sessions.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F19FFD0-7BF6-44A8-A77C-74B49F592A19}"/>
              </a:ext>
            </a:extLst>
          </p:cNvPr>
          <p:cNvGrpSpPr/>
          <p:nvPr/>
        </p:nvGrpSpPr>
        <p:grpSpPr>
          <a:xfrm>
            <a:off x="3378200" y="5435600"/>
            <a:ext cx="5321300" cy="838200"/>
            <a:chOff x="3378200" y="5435600"/>
            <a:chExt cx="5321300" cy="838200"/>
          </a:xfrm>
        </p:grpSpPr>
        <p:sp>
          <p:nvSpPr>
            <p:cNvPr id="22" name="Shape 20"/>
            <p:cNvSpPr/>
            <p:nvPr/>
          </p:nvSpPr>
          <p:spPr>
            <a:xfrm>
              <a:off x="3378200" y="5435600"/>
              <a:ext cx="50800" cy="838200"/>
            </a:xfrm>
            <a:prstGeom prst="rect">
              <a:avLst/>
            </a:prstGeom>
            <a:solidFill>
              <a:srgbClr val="FFF100"/>
            </a:solidFill>
            <a:ln w="12700">
              <a:solidFill>
                <a:srgbClr val="FFF100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3581400" y="5486400"/>
              <a:ext cx="51181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Not just a database.</a:t>
              </a: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A shortcut to answers.</a:t>
              </a: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8636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is it not for?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87552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DuckDB is powerful, but the best tool is still situational.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DD9C74B-7105-DED8-7DD9-A6309F8E4406}"/>
              </a:ext>
            </a:extLst>
          </p:cNvPr>
          <p:cNvGrpSpPr/>
          <p:nvPr/>
        </p:nvGrpSpPr>
        <p:grpSpPr>
          <a:xfrm>
            <a:off x="825500" y="1600200"/>
            <a:ext cx="3479800" cy="2286000"/>
            <a:chOff x="825500" y="1600200"/>
            <a:chExt cx="3479800" cy="2286000"/>
          </a:xfrm>
        </p:grpSpPr>
        <p:sp>
          <p:nvSpPr>
            <p:cNvPr id="6" name="Shape 4"/>
            <p:cNvSpPr/>
            <p:nvPr/>
          </p:nvSpPr>
          <p:spPr>
            <a:xfrm>
              <a:off x="825500" y="1600200"/>
              <a:ext cx="3479800" cy="2286000"/>
            </a:xfrm>
            <a:prstGeom prst="roundRect">
              <a:avLst>
                <a:gd name="adj" fmla="val 4848"/>
              </a:avLst>
            </a:prstGeom>
            <a:noFill/>
            <a:ln w="19050">
              <a:solidFill>
                <a:srgbClr val="FFF100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1028700" y="1828800"/>
              <a:ext cx="3073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1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Not your high-concurrency OLTP app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1028700" y="2616200"/>
              <a:ext cx="3073400" cy="1193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If you need many users writing transactions all day, reach for Postgres, SQL Server, or another operational database.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5EAD5B8-98EA-9A28-BA4B-71377C94FA67}"/>
              </a:ext>
            </a:extLst>
          </p:cNvPr>
          <p:cNvGrpSpPr/>
          <p:nvPr/>
        </p:nvGrpSpPr>
        <p:grpSpPr>
          <a:xfrm>
            <a:off x="4432300" y="1600200"/>
            <a:ext cx="3479800" cy="2286000"/>
            <a:chOff x="4432300" y="1600200"/>
            <a:chExt cx="3479800" cy="2286000"/>
          </a:xfrm>
        </p:grpSpPr>
        <p:sp>
          <p:nvSpPr>
            <p:cNvPr id="9" name="Shape 7"/>
            <p:cNvSpPr/>
            <p:nvPr/>
          </p:nvSpPr>
          <p:spPr>
            <a:xfrm>
              <a:off x="4432300" y="1600200"/>
              <a:ext cx="3479800" cy="2286000"/>
            </a:xfrm>
            <a:prstGeom prst="roundRect">
              <a:avLst>
                <a:gd name="adj" fmla="val 4848"/>
              </a:avLst>
            </a:prstGeom>
            <a:noFill/>
            <a:ln w="19050">
              <a:solidFill>
                <a:srgbClr val="FFF100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4635500" y="1828800"/>
              <a:ext cx="3073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1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Not a replacement for your warehouse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4635500" y="2616200"/>
              <a:ext cx="3073400" cy="1193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Central security, governance, shared semantic models, concurrency, and BI serving still matter.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3AB70CE-AD48-B751-6227-B50965461C44}"/>
              </a:ext>
            </a:extLst>
          </p:cNvPr>
          <p:cNvGrpSpPr/>
          <p:nvPr/>
        </p:nvGrpSpPr>
        <p:grpSpPr>
          <a:xfrm>
            <a:off x="8051800" y="1600200"/>
            <a:ext cx="3479800" cy="2286000"/>
            <a:chOff x="8051800" y="1600200"/>
            <a:chExt cx="3479800" cy="2286000"/>
          </a:xfrm>
        </p:grpSpPr>
        <p:sp>
          <p:nvSpPr>
            <p:cNvPr id="12" name="Shape 10"/>
            <p:cNvSpPr/>
            <p:nvPr/>
          </p:nvSpPr>
          <p:spPr>
            <a:xfrm>
              <a:off x="8051800" y="1600200"/>
              <a:ext cx="3479800" cy="2286000"/>
            </a:xfrm>
            <a:prstGeom prst="roundRect">
              <a:avLst>
                <a:gd name="adj" fmla="val 4848"/>
              </a:avLst>
            </a:prstGeom>
            <a:noFill/>
            <a:ln w="19050">
              <a:solidFill>
                <a:srgbClr val="FFF100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F69F004-38F9-8AD7-5F19-EDFE0D7CF68B}"/>
                </a:ext>
              </a:extLst>
            </p:cNvPr>
            <p:cNvGrpSpPr/>
            <p:nvPr/>
          </p:nvGrpSpPr>
          <p:grpSpPr>
            <a:xfrm>
              <a:off x="8242300" y="1828800"/>
              <a:ext cx="3073400" cy="1981200"/>
              <a:chOff x="8242300" y="1828800"/>
              <a:chExt cx="3073400" cy="1981200"/>
            </a:xfrm>
          </p:grpSpPr>
          <p:sp>
            <p:nvSpPr>
              <p:cNvPr id="13" name="Text 11"/>
              <p:cNvSpPr/>
              <p:nvPr/>
            </p:nvSpPr>
            <p:spPr>
              <a:xfrm>
                <a:off x="8242300" y="1828800"/>
                <a:ext cx="3073400" cy="66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1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Not a magic replacement for Spark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8242300" y="2616200"/>
                <a:ext cx="3073400" cy="119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DuckDB is single-node; Spark is built for clusters. When data outgrows one machine, Spark is still the big engine.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8B57C3F-5915-0F85-8AE3-FFCF780B0D03}"/>
              </a:ext>
            </a:extLst>
          </p:cNvPr>
          <p:cNvGrpSpPr/>
          <p:nvPr/>
        </p:nvGrpSpPr>
        <p:grpSpPr>
          <a:xfrm>
            <a:off x="1511300" y="4775200"/>
            <a:ext cx="8978900" cy="965200"/>
            <a:chOff x="1511300" y="4775200"/>
            <a:chExt cx="8978900" cy="965200"/>
          </a:xfrm>
        </p:grpSpPr>
        <p:sp>
          <p:nvSpPr>
            <p:cNvPr id="15" name="Shape 13"/>
            <p:cNvSpPr/>
            <p:nvPr/>
          </p:nvSpPr>
          <p:spPr>
            <a:xfrm>
              <a:off x="1511300" y="4775200"/>
              <a:ext cx="50800" cy="965200"/>
            </a:xfrm>
            <a:prstGeom prst="rect">
              <a:avLst/>
            </a:prstGeom>
            <a:solidFill>
              <a:srgbClr val="FFF100"/>
            </a:solidFill>
            <a:ln w="1270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1714500" y="4826000"/>
              <a:ext cx="8775700" cy="863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Use DuckDB before the big engine, not instead of thinking.</a:t>
              </a: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1295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1E51F5-0F5F-8397-4652-3BC8AEB32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895A7E19-4107-1A75-6750-F689E5B3375A}"/>
              </a:ext>
            </a:extLst>
          </p:cNvPr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F02021D-74FA-203B-5918-A58252455099}"/>
              </a:ext>
            </a:extLst>
          </p:cNvPr>
          <p:cNvSpPr/>
          <p:nvPr/>
        </p:nvSpPr>
        <p:spPr>
          <a:xfrm>
            <a:off x="594360" y="45720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DD6BA55-F7E5-7CB2-4A42-92A148CC5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213" y="463818"/>
            <a:ext cx="10537268" cy="593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64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25EED7E-72DF-4C4A-AB2F-203C90D1AD99}"/>
              </a:ext>
            </a:extLst>
          </p:cNvPr>
          <p:cNvSpPr/>
          <p:nvPr/>
        </p:nvSpPr>
        <p:spPr>
          <a:xfrm>
            <a:off x="0" y="25400"/>
            <a:ext cx="12192000" cy="6858000"/>
          </a:xfrm>
          <a:prstGeom prst="rect">
            <a:avLst/>
          </a:prstGeom>
          <a:solidFill>
            <a:srgbClr val="070B1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20A925-AC5C-4B29-8331-FAE6B3767039}"/>
              </a:ext>
            </a:extLst>
          </p:cNvPr>
          <p:cNvSpPr txBox="1"/>
          <p:nvPr/>
        </p:nvSpPr>
        <p:spPr>
          <a:xfrm>
            <a:off x="622300" y="469900"/>
            <a:ext cx="10947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8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Why DuckDB belongs in your toolkit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B81B12-A469-498A-9B1B-1B077CACBE10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F1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C4CCAF0-833B-DA89-5A3A-02F890FCE371}"/>
              </a:ext>
            </a:extLst>
          </p:cNvPr>
          <p:cNvGrpSpPr/>
          <p:nvPr/>
        </p:nvGrpSpPr>
        <p:grpSpPr>
          <a:xfrm>
            <a:off x="622300" y="1524000"/>
            <a:ext cx="3644900" cy="4318000"/>
            <a:chOff x="622300" y="1524000"/>
            <a:chExt cx="3644900" cy="4318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6D187D5-90EF-346D-FC52-6A2B53BA67FA}"/>
                </a:ext>
              </a:extLst>
            </p:cNvPr>
            <p:cNvGrpSpPr/>
            <p:nvPr/>
          </p:nvGrpSpPr>
          <p:grpSpPr>
            <a:xfrm>
              <a:off x="622300" y="1524000"/>
              <a:ext cx="3644900" cy="4318000"/>
              <a:chOff x="622300" y="1524000"/>
              <a:chExt cx="3644900" cy="4318000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2BC70F80-36DA-4802-B983-69A10897EA6E}"/>
                  </a:ext>
                </a:extLst>
              </p:cNvPr>
              <p:cNvSpPr/>
              <p:nvPr/>
            </p:nvSpPr>
            <p:spPr>
              <a:xfrm>
                <a:off x="622300" y="1524000"/>
                <a:ext cx="3644900" cy="4318000"/>
              </a:xfrm>
              <a:prstGeom prst="roundRect">
                <a:avLst/>
              </a:prstGeom>
              <a:noFill/>
              <a:ln w="19050" cap="flat" cmpd="sng" algn="ctr">
                <a:solidFill>
                  <a:srgbClr val="FFF1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US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3A5061D-41CB-43CD-BE8A-9210870BA58C}"/>
                  </a:ext>
                </a:extLst>
              </p:cNvPr>
              <p:cNvSpPr/>
              <p:nvPr/>
            </p:nvSpPr>
            <p:spPr>
              <a:xfrm>
                <a:off x="927100" y="1828800"/>
                <a:ext cx="609600" cy="609600"/>
              </a:xfrm>
              <a:prstGeom prst="ellipse">
                <a:avLst/>
              </a:prstGeom>
              <a:solidFill>
                <a:srgbClr val="FFF100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wrap="none" rtlCol="0" anchor="ctr" anchorCtr="0">
                <a:noAutofit/>
              </a:bodyPr>
              <a:lstStyle/>
              <a:p>
                <a:pPr algn="l"/>
                <a:r>
                  <a:rPr lang="en-US" sz="2200" b="1">
                    <a:solidFill>
                      <a:srgbClr val="07111F"/>
                    </a:solidFill>
                    <a:latin typeface="Calibri"/>
                    <a:ea typeface="Calibri"/>
                    <a:cs typeface="Calibri"/>
                  </a:rPr>
                  <a:t>1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DD1662E-7EB5-4A93-9135-C410CFE8F8FE}"/>
                  </a:ext>
                </a:extLst>
              </p:cNvPr>
              <p:cNvSpPr txBox="1"/>
              <p:nvPr/>
            </p:nvSpPr>
            <p:spPr>
              <a:xfrm>
                <a:off x="927100" y="2717800"/>
                <a:ext cx="3035300" cy="457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2000" b="1">
                    <a:solidFill>
                      <a:srgbClr val="F8FAFC"/>
                    </a:solidFill>
                    <a:latin typeface="Calibri"/>
                    <a:ea typeface="Calibri"/>
                    <a:cs typeface="Calibri"/>
                  </a:rPr>
                  <a:t>Local &amp; free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16AA86-2C2B-41E5-AAB3-7779DC6BDA3A}"/>
                  </a:ext>
                </a:extLst>
              </p:cNvPr>
              <p:cNvSpPr txBox="1"/>
              <p:nvPr/>
            </p:nvSpPr>
            <p:spPr>
              <a:xfrm>
                <a:off x="927100" y="3327400"/>
                <a:ext cx="3035300" cy="1905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dirty="0">
                    <a:solidFill>
                      <a:srgbClr val="CBD5E1"/>
                    </a:solidFill>
                    <a:latin typeface="Calibri"/>
                    <a:ea typeface="Calibri"/>
                    <a:cs typeface="Calibri"/>
                  </a:rPr>
                  <a:t>Runs on your machine. No server, no install ceremony, no licensing. One binary, instant SQL.</a:t>
                </a:r>
              </a:p>
            </p:txBody>
          </p:sp>
        </p:grp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AC14A4B7-7ADC-439C-B41F-DD4D5D610DB5}"/>
                </a:ext>
              </a:extLst>
            </p:cNvPr>
            <p:cNvSpPr/>
            <p:nvPr/>
          </p:nvSpPr>
          <p:spPr>
            <a:xfrm>
              <a:off x="2000250" y="5308600"/>
              <a:ext cx="889000" cy="355600"/>
            </a:xfrm>
            <a:prstGeom prst="roundRect">
              <a:avLst/>
            </a:prstGeom>
            <a:solidFill>
              <a:srgbClr val="FFF100"/>
            </a:solidFill>
            <a:ln w="15875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en-US" sz="1200" b="1" dirty="0">
                  <a:solidFill>
                    <a:srgbClr val="070B16"/>
                  </a:solidFill>
                </a:rPr>
                <a:t>SQL ✓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4AF9D35-69C5-D557-E171-2887E04CFBAE}"/>
              </a:ext>
            </a:extLst>
          </p:cNvPr>
          <p:cNvGrpSpPr/>
          <p:nvPr/>
        </p:nvGrpSpPr>
        <p:grpSpPr>
          <a:xfrm>
            <a:off x="4267200" y="1524000"/>
            <a:ext cx="3644900" cy="4318000"/>
            <a:chOff x="4267200" y="1524000"/>
            <a:chExt cx="3644900" cy="431800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B40E6D8-6454-4BAA-B8A5-7F037F65B9F1}"/>
                </a:ext>
              </a:extLst>
            </p:cNvPr>
            <p:cNvSpPr txBox="1"/>
            <p:nvPr/>
          </p:nvSpPr>
          <p:spPr>
            <a:xfrm>
              <a:off x="4572000" y="2717800"/>
              <a:ext cx="3035300" cy="457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sz="2000" b="1" dirty="0">
                  <a:solidFill>
                    <a:srgbClr val="F8FAFC"/>
                  </a:solidFill>
                  <a:latin typeface="Calibri"/>
                  <a:ea typeface="Calibri"/>
                  <a:cs typeface="Calibri"/>
                </a:rPr>
                <a:t>Reads files directly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A5C7E26-DC9E-0FBA-589A-885FF8E9CA6A}"/>
                </a:ext>
              </a:extLst>
            </p:cNvPr>
            <p:cNvGrpSpPr/>
            <p:nvPr/>
          </p:nvGrpSpPr>
          <p:grpSpPr>
            <a:xfrm>
              <a:off x="4267200" y="1524000"/>
              <a:ext cx="3644900" cy="4318000"/>
              <a:chOff x="4267200" y="1524000"/>
              <a:chExt cx="3644900" cy="4318000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2A135621-68B2-41C5-9959-2319CE587AA2}"/>
                  </a:ext>
                </a:extLst>
              </p:cNvPr>
              <p:cNvSpPr/>
              <p:nvPr/>
            </p:nvSpPr>
            <p:spPr>
              <a:xfrm>
                <a:off x="4267200" y="1524000"/>
                <a:ext cx="3644900" cy="4318000"/>
              </a:xfrm>
              <a:prstGeom prst="roundRect">
                <a:avLst/>
              </a:prstGeom>
              <a:noFill/>
              <a:ln w="19050" cap="flat" cmpd="sng" algn="ctr">
                <a:solidFill>
                  <a:srgbClr val="FFF1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US" dirty="0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B38121F8-DCC5-4306-BB0B-90D384B6F8D5}"/>
                  </a:ext>
                </a:extLst>
              </p:cNvPr>
              <p:cNvSpPr/>
              <p:nvPr/>
            </p:nvSpPr>
            <p:spPr>
              <a:xfrm>
                <a:off x="4572000" y="1828800"/>
                <a:ext cx="609600" cy="609600"/>
              </a:xfrm>
              <a:prstGeom prst="ellipse">
                <a:avLst/>
              </a:prstGeom>
              <a:solidFill>
                <a:srgbClr val="FFF100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wrap="none" rtlCol="0" anchor="ctr" anchorCtr="0">
                <a:noAutofit/>
              </a:bodyPr>
              <a:lstStyle/>
              <a:p>
                <a:pPr algn="l"/>
                <a:r>
                  <a:rPr lang="en-US" sz="2200" b="1">
                    <a:solidFill>
                      <a:srgbClr val="07111F"/>
                    </a:solidFill>
                    <a:latin typeface="Calibri"/>
                    <a:ea typeface="Calibri"/>
                    <a:cs typeface="Calibri"/>
                  </a:rPr>
                  <a:t>2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00A9524-9CA6-4AB2-A15A-0B4C2A90E932}"/>
                  </a:ext>
                </a:extLst>
              </p:cNvPr>
              <p:cNvSpPr txBox="1"/>
              <p:nvPr/>
            </p:nvSpPr>
            <p:spPr>
              <a:xfrm>
                <a:off x="4572000" y="3327400"/>
                <a:ext cx="3035300" cy="1905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>
                    <a:solidFill>
                      <a:srgbClr val="CBD5E1"/>
                    </a:solidFill>
                    <a:latin typeface="Calibri"/>
                    <a:ea typeface="Calibri"/>
                    <a:cs typeface="Calibri"/>
                  </a:rPr>
                  <a:t>Query CSV, Parquet, and JSON in place. The 671 MB flights dataset with 6.8M rows Excel can't open? DuckDB scans it in seconds.</a:t>
                </a:r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B8B6A705-4EA9-493F-BE9A-D432ABE1BFFF}"/>
                  </a:ext>
                </a:extLst>
              </p:cNvPr>
              <p:cNvSpPr/>
              <p:nvPr/>
            </p:nvSpPr>
            <p:spPr>
              <a:xfrm>
                <a:off x="5645150" y="5308600"/>
                <a:ext cx="889000" cy="355600"/>
              </a:xfrm>
              <a:prstGeom prst="roundRect">
                <a:avLst/>
              </a:prstGeom>
              <a:solidFill>
                <a:srgbClr val="FFF100"/>
              </a:solidFill>
              <a:ln w="15875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wrap="none" rtlCol="0" anchor="ctr" anchorCtr="0">
                <a:noAutofit/>
              </a:bodyPr>
              <a:lstStyle/>
              <a:p>
                <a:pPr algn="l"/>
                <a:r>
                  <a:rPr lang="en-US" sz="1200" b="1">
                    <a:solidFill>
                      <a:srgbClr val="070B16"/>
                    </a:solidFill>
                  </a:rPr>
                  <a:t>SQL ✓</a:t>
                </a:r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75181A9-D625-D60A-1F3B-4E8B26567A45}"/>
              </a:ext>
            </a:extLst>
          </p:cNvPr>
          <p:cNvGrpSpPr/>
          <p:nvPr/>
        </p:nvGrpSpPr>
        <p:grpSpPr>
          <a:xfrm>
            <a:off x="7924800" y="1524000"/>
            <a:ext cx="3644900" cy="4318000"/>
            <a:chOff x="7924800" y="1524000"/>
            <a:chExt cx="3644900" cy="431800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46D232B-3620-152C-8FF0-A45EFDC5F649}"/>
                </a:ext>
              </a:extLst>
            </p:cNvPr>
            <p:cNvGrpSpPr/>
            <p:nvPr/>
          </p:nvGrpSpPr>
          <p:grpSpPr>
            <a:xfrm>
              <a:off x="7924800" y="1524000"/>
              <a:ext cx="3644900" cy="4318000"/>
              <a:chOff x="7924800" y="1524000"/>
              <a:chExt cx="3644900" cy="4318000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846A6430-F54A-4DB8-B49A-93EDB3A57B90}"/>
                  </a:ext>
                </a:extLst>
              </p:cNvPr>
              <p:cNvSpPr/>
              <p:nvPr/>
            </p:nvSpPr>
            <p:spPr>
              <a:xfrm>
                <a:off x="7924800" y="1524000"/>
                <a:ext cx="3644900" cy="4318000"/>
              </a:xfrm>
              <a:prstGeom prst="roundRect">
                <a:avLst/>
              </a:prstGeom>
              <a:noFill/>
              <a:ln w="19050" cap="flat" cmpd="sng" algn="ctr">
                <a:solidFill>
                  <a:srgbClr val="FFF1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BE156C3-50B2-46B7-88E6-BC81DA65A430}"/>
                  </a:ext>
                </a:extLst>
              </p:cNvPr>
              <p:cNvSpPr/>
              <p:nvPr/>
            </p:nvSpPr>
            <p:spPr>
              <a:xfrm>
                <a:off x="8229600" y="1828800"/>
                <a:ext cx="609600" cy="609600"/>
              </a:xfrm>
              <a:prstGeom prst="ellipse">
                <a:avLst/>
              </a:prstGeom>
              <a:solidFill>
                <a:srgbClr val="FFF100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wrap="none" rtlCol="0" anchor="ctr" anchorCtr="0">
                <a:noAutofit/>
              </a:bodyPr>
              <a:lstStyle/>
              <a:p>
                <a:pPr algn="l"/>
                <a:r>
                  <a:rPr lang="en-US" sz="2200" b="1">
                    <a:solidFill>
                      <a:srgbClr val="07111F"/>
                    </a:solidFill>
                    <a:latin typeface="Calibri"/>
                    <a:ea typeface="Calibri"/>
                    <a:cs typeface="Calibri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F6BCB5E-129A-43F6-9C1D-9CA11E2A6BB0}"/>
                  </a:ext>
                </a:extLst>
              </p:cNvPr>
              <p:cNvSpPr txBox="1"/>
              <p:nvPr/>
            </p:nvSpPr>
            <p:spPr>
              <a:xfrm>
                <a:off x="8229600" y="2717800"/>
                <a:ext cx="3035300" cy="457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2000" b="1">
                    <a:solidFill>
                      <a:srgbClr val="F8FAFC"/>
                    </a:solidFill>
                    <a:latin typeface="Calibri"/>
                    <a:ea typeface="Calibri"/>
                    <a:cs typeface="Calibri"/>
                  </a:rPr>
                  <a:t>Scales with your workflow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D831AD7-DDE0-47DF-B3DF-03BC95C5958D}"/>
                  </a:ext>
                </a:extLst>
              </p:cNvPr>
              <p:cNvSpPr txBox="1"/>
              <p:nvPr/>
            </p:nvSpPr>
            <p:spPr>
              <a:xfrm>
                <a:off x="8229600" y="3327400"/>
                <a:ext cx="3035300" cy="1905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>
                    <a:solidFill>
                      <a:srgbClr val="CBD5E1"/>
                    </a:solidFill>
                    <a:latin typeface="Calibri"/>
                    <a:ea typeface="Calibri"/>
                    <a:cs typeface="Calibri"/>
                  </a:rPr>
                  <a:t>Same SQL works in CLI, Python, Jupyter, and Fabric notebooks. Learn once, use everywhere.</a:t>
                </a:r>
              </a:p>
            </p:txBody>
          </p:sp>
        </p:grp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A6426FF5-CD0A-458F-AB22-DF14FCFA3571}"/>
                </a:ext>
              </a:extLst>
            </p:cNvPr>
            <p:cNvSpPr/>
            <p:nvPr/>
          </p:nvSpPr>
          <p:spPr>
            <a:xfrm>
              <a:off x="9302750" y="5308600"/>
              <a:ext cx="889000" cy="355600"/>
            </a:xfrm>
            <a:prstGeom prst="roundRect">
              <a:avLst/>
            </a:prstGeom>
            <a:solidFill>
              <a:srgbClr val="FFF100"/>
            </a:solidFill>
            <a:ln w="15875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en-US" sz="1200" b="1">
                  <a:solidFill>
                    <a:srgbClr val="070B16"/>
                  </a:solidFill>
                </a:rPr>
                <a:t>SQL 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9964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F3860DE-1C43-4849-97FD-E2C8271A7B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20A925-AC5C-4B29-8331-FAE6B3767039}"/>
              </a:ext>
            </a:extLst>
          </p:cNvPr>
          <p:cNvSpPr txBox="1"/>
          <p:nvPr/>
        </p:nvSpPr>
        <p:spPr>
          <a:xfrm>
            <a:off x="622300" y="469900"/>
            <a:ext cx="10947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Why should a Power BI person care?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A28C929-DD4F-73D1-8B7B-9710C63E8D6B}"/>
              </a:ext>
            </a:extLst>
          </p:cNvPr>
          <p:cNvGrpSpPr/>
          <p:nvPr/>
        </p:nvGrpSpPr>
        <p:grpSpPr>
          <a:xfrm>
            <a:off x="622300" y="1524000"/>
            <a:ext cx="3644900" cy="4318000"/>
            <a:chOff x="622300" y="1524000"/>
            <a:chExt cx="3644900" cy="431800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2BC70F80-36DA-4802-B983-69A10897EA6E}"/>
                </a:ext>
              </a:extLst>
            </p:cNvPr>
            <p:cNvSpPr/>
            <p:nvPr/>
          </p:nvSpPr>
          <p:spPr>
            <a:xfrm>
              <a:off x="622300" y="1524000"/>
              <a:ext cx="3644900" cy="4318000"/>
            </a:xfrm>
            <a:prstGeom prst="roundRect">
              <a:avLst/>
            </a:prstGeom>
            <a:noFill/>
            <a:ln w="19050" cap="flat" cmpd="sng" algn="ctr">
              <a:solidFill>
                <a:srgbClr val="FFF100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3A5061D-41CB-43CD-BE8A-9210870BA58C}"/>
                </a:ext>
              </a:extLst>
            </p:cNvPr>
            <p:cNvSpPr/>
            <p:nvPr/>
          </p:nvSpPr>
          <p:spPr>
            <a:xfrm>
              <a:off x="927100" y="1828800"/>
              <a:ext cx="609600" cy="609600"/>
            </a:xfrm>
            <a:prstGeom prst="ellipse">
              <a:avLst/>
            </a:prstGeom>
            <a:solidFill>
              <a:srgbClr val="FFF100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rtlCol="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200" b="1" i="0" u="none" strike="noStrike" kern="1200" cap="none" spc="0" normalizeH="0" baseline="0" noProof="0">
                  <a:ln>
                    <a:noFill/>
                  </a:ln>
                  <a:solidFill>
                    <a:srgbClr val="07111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DD1662E-7EB5-4A93-9135-C410CFE8F8FE}"/>
                </a:ext>
              </a:extLst>
            </p:cNvPr>
            <p:cNvSpPr txBox="1"/>
            <p:nvPr/>
          </p:nvSpPr>
          <p:spPr>
            <a:xfrm>
              <a:off x="927100" y="2717800"/>
              <a:ext cx="3035300" cy="457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8FAFC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Inspect before import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716AA86-2C2B-41E5-AAB3-7779DC6BDA3A}"/>
                </a:ext>
              </a:extLst>
            </p:cNvPr>
            <p:cNvSpPr txBox="1"/>
            <p:nvPr/>
          </p:nvSpPr>
          <p:spPr>
            <a:xfrm>
              <a:off x="927100" y="3327400"/>
              <a:ext cx="3035300" cy="22225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700" b="0" i="0" u="none" strike="noStrike" kern="1200" cap="none" spc="0" normalizeH="0" baseline="0" noProof="0" dirty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Look at large CSV and Parquet files before bringing them into Power BI.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700" b="0" i="0" u="none" strike="noStrike" kern="1200" cap="none" spc="0" normalizeH="0" baseline="0" noProof="0" dirty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Profile files that Excel or Power Query may struggle with.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4B020FB-EB08-4875-21DD-EE75365C3AFB}"/>
              </a:ext>
            </a:extLst>
          </p:cNvPr>
          <p:cNvGrpSpPr/>
          <p:nvPr/>
        </p:nvGrpSpPr>
        <p:grpSpPr>
          <a:xfrm>
            <a:off x="4267200" y="1524000"/>
            <a:ext cx="3644900" cy="4318000"/>
            <a:chOff x="4267200" y="1524000"/>
            <a:chExt cx="3644900" cy="431800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2A135621-68B2-41C5-9959-2319CE587AA2}"/>
                </a:ext>
              </a:extLst>
            </p:cNvPr>
            <p:cNvSpPr/>
            <p:nvPr/>
          </p:nvSpPr>
          <p:spPr>
            <a:xfrm>
              <a:off x="4267200" y="1524000"/>
              <a:ext cx="3644900" cy="4318000"/>
            </a:xfrm>
            <a:prstGeom prst="roundRect">
              <a:avLst/>
            </a:prstGeom>
            <a:noFill/>
            <a:ln w="19050" cap="flat" cmpd="sng" algn="ctr">
              <a:solidFill>
                <a:srgbClr val="FFF100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38121F8-DCC5-4306-BB0B-90D384B6F8D5}"/>
                </a:ext>
              </a:extLst>
            </p:cNvPr>
            <p:cNvSpPr/>
            <p:nvPr/>
          </p:nvSpPr>
          <p:spPr>
            <a:xfrm>
              <a:off x="4572000" y="1828800"/>
              <a:ext cx="609600" cy="609600"/>
            </a:xfrm>
            <a:prstGeom prst="ellipse">
              <a:avLst/>
            </a:prstGeom>
            <a:solidFill>
              <a:srgbClr val="FFF100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rtlCol="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200" b="1" i="0" u="none" strike="noStrike" kern="1200" cap="none" spc="0" normalizeH="0" baseline="0" noProof="0">
                  <a:ln>
                    <a:noFill/>
                  </a:ln>
                  <a:solidFill>
                    <a:srgbClr val="07111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B40E6D8-6454-4BAA-B8A5-7F037F65B9F1}"/>
                </a:ext>
              </a:extLst>
            </p:cNvPr>
            <p:cNvSpPr txBox="1"/>
            <p:nvPr/>
          </p:nvSpPr>
          <p:spPr>
            <a:xfrm>
              <a:off x="4572000" y="2717800"/>
              <a:ext cx="3035300" cy="457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000" b="1" i="0" u="none" strike="noStrike" kern="1200" cap="none" spc="0" normalizeH="0" baseline="0" noProof="0">
                  <a:ln>
                    <a:noFill/>
                  </a:ln>
                  <a:solidFill>
                    <a:srgbClr val="F8FAFC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Prototype locally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00A9524-9CA6-4AB2-A15A-0B4C2A90E932}"/>
                </a:ext>
              </a:extLst>
            </p:cNvPr>
            <p:cNvSpPr txBox="1"/>
            <p:nvPr/>
          </p:nvSpPr>
          <p:spPr>
            <a:xfrm>
              <a:off x="4572000" y="3327400"/>
              <a:ext cx="3035300" cy="22225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70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Test SQL transformation logic on your laptop before you commit to a model, pipeline, or warehouse pattern.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0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70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Convert raw files into cleaner Parquet.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879C616-EC3E-BAB8-D7E8-280305112C0F}"/>
              </a:ext>
            </a:extLst>
          </p:cNvPr>
          <p:cNvGrpSpPr/>
          <p:nvPr/>
        </p:nvGrpSpPr>
        <p:grpSpPr>
          <a:xfrm>
            <a:off x="7924800" y="1524000"/>
            <a:ext cx="3644900" cy="4318000"/>
            <a:chOff x="7924800" y="1524000"/>
            <a:chExt cx="3644900" cy="43180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846A6430-F54A-4DB8-B49A-93EDB3A57B90}"/>
                </a:ext>
              </a:extLst>
            </p:cNvPr>
            <p:cNvSpPr/>
            <p:nvPr/>
          </p:nvSpPr>
          <p:spPr>
            <a:xfrm>
              <a:off x="7924800" y="1524000"/>
              <a:ext cx="3644900" cy="4318000"/>
            </a:xfrm>
            <a:prstGeom prst="roundRect">
              <a:avLst/>
            </a:prstGeom>
            <a:noFill/>
            <a:ln w="19050" cap="flat" cmpd="sng" algn="ctr">
              <a:solidFill>
                <a:srgbClr val="FFF100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BE156C3-50B2-46B7-88E6-BC81DA65A430}"/>
                </a:ext>
              </a:extLst>
            </p:cNvPr>
            <p:cNvSpPr/>
            <p:nvPr/>
          </p:nvSpPr>
          <p:spPr>
            <a:xfrm>
              <a:off x="8229600" y="1828800"/>
              <a:ext cx="609600" cy="609600"/>
            </a:xfrm>
            <a:prstGeom prst="ellipse">
              <a:avLst/>
            </a:prstGeom>
            <a:solidFill>
              <a:srgbClr val="FFF100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rtlCol="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200" b="1" i="0" u="none" strike="noStrike" kern="1200" cap="none" spc="0" normalizeH="0" baseline="0" noProof="0">
                  <a:ln>
                    <a:noFill/>
                  </a:ln>
                  <a:solidFill>
                    <a:srgbClr val="07111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F6BCB5E-129A-43F6-9C1D-9CA11E2A6BB0}"/>
                </a:ext>
              </a:extLst>
            </p:cNvPr>
            <p:cNvSpPr txBox="1"/>
            <p:nvPr/>
          </p:nvSpPr>
          <p:spPr>
            <a:xfrm>
              <a:off x="8229600" y="2717800"/>
              <a:ext cx="3035300" cy="457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000" b="1" i="0" u="none" strike="noStrike" kern="1200" cap="none" spc="0" normalizeH="0" baseline="0" noProof="0">
                  <a:ln>
                    <a:noFill/>
                  </a:ln>
                  <a:solidFill>
                    <a:srgbClr val="F8FAFC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Bridge to Fabric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D831AD7-DDE0-47DF-B3DF-03BC95C5958D}"/>
                </a:ext>
              </a:extLst>
            </p:cNvPr>
            <p:cNvSpPr txBox="1"/>
            <p:nvPr/>
          </p:nvSpPr>
          <p:spPr>
            <a:xfrm>
              <a:off x="8229600" y="3327400"/>
              <a:ext cx="3035300" cy="22225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70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Use VS Code notebooks for repeatable local analysis.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0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70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Carry the same exploration pattern forward into Fabric workflows.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8B7A6B1-CCB8-48E3-A820-FCABE7A5F15B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F1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206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69848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DuckDB vs. Power Query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87552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Different tools for different moments in the data workflow.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4524CD8-25F3-7703-3F5B-A9FDA7633E0B}"/>
              </a:ext>
            </a:extLst>
          </p:cNvPr>
          <p:cNvGrpSpPr/>
          <p:nvPr/>
        </p:nvGrpSpPr>
        <p:grpSpPr>
          <a:xfrm>
            <a:off x="868680" y="1600200"/>
            <a:ext cx="4754880" cy="3149600"/>
            <a:chOff x="868680" y="1600200"/>
            <a:chExt cx="4754880" cy="3149600"/>
          </a:xfrm>
        </p:grpSpPr>
        <p:sp>
          <p:nvSpPr>
            <p:cNvPr id="6" name="Shape 4"/>
            <p:cNvSpPr/>
            <p:nvPr/>
          </p:nvSpPr>
          <p:spPr>
            <a:xfrm>
              <a:off x="868680" y="1600200"/>
              <a:ext cx="4754880" cy="3149600"/>
            </a:xfrm>
            <a:prstGeom prst="roundRect">
              <a:avLst>
                <a:gd name="adj" fmla="val 2581"/>
              </a:avLst>
            </a:prstGeom>
            <a:noFill/>
            <a:ln w="19050">
              <a:solidFill>
                <a:srgbClr val="FFF100"/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AEF3BE5-DEA5-D225-74FF-ED704C371529}"/>
                </a:ext>
              </a:extLst>
            </p:cNvPr>
            <p:cNvGrpSpPr/>
            <p:nvPr/>
          </p:nvGrpSpPr>
          <p:grpSpPr>
            <a:xfrm>
              <a:off x="1069848" y="1778000"/>
              <a:ext cx="4352544" cy="2870200"/>
              <a:chOff x="1069848" y="1778000"/>
              <a:chExt cx="4352544" cy="2870200"/>
            </a:xfrm>
          </p:grpSpPr>
          <p:sp>
            <p:nvSpPr>
              <p:cNvPr id="7" name="Text 5"/>
              <p:cNvSpPr/>
              <p:nvPr/>
            </p:nvSpPr>
            <p:spPr>
              <a:xfrm>
                <a:off x="1069848" y="1778000"/>
                <a:ext cx="4352544" cy="381000"/>
              </a:xfrm>
              <a:prstGeom prst="rect">
                <a:avLst/>
              </a:prstGeom>
              <a:noFill/>
              <a:ln>
                <a:solidFill/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1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Use DuckDB when...</a:t>
                </a: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" name="Text 6"/>
              <p:cNvSpPr/>
              <p:nvPr/>
            </p:nvSpPr>
            <p:spPr>
              <a:xfrm>
                <a:off x="1069848" y="2311400"/>
                <a:ext cx="4352544" cy="2336800"/>
              </a:xfrm>
              <a:prstGeom prst="rect">
                <a:avLst/>
              </a:prstGeom>
              <a:noFill/>
              <a:ln>
                <a:solidFill/>
              </a:ln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228600" marR="0" lvl="0" indent="-228600" algn="l" defTabSz="914400" rtl="0" eaLnBrk="1" fontAlgn="auto" latinLnBrk="0" hangingPunct="1">
                  <a:lnSpc>
                    <a:spcPct val="120000"/>
                  </a:lnSpc>
                  <a:spcAft>
                    <a:spcPts val="600"/>
                  </a:spcAft>
                  <a:buClrTx/>
                  <a:buSzTx/>
                  <a:buFontTx/>
                  <a:tabLst/>
                  <a:defRPr/>
                </a:pP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Data is too large for Power Query</a:t>
                </a:r>
                <a:endPara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228600" marR="0" lvl="0" indent="-228600" algn="l" defTabSz="914400" rtl="0" eaLnBrk="1" fontAlgn="auto" latinLnBrk="0" hangingPunct="1">
                  <a:lnSpc>
                    <a:spcPct val="120000"/>
                  </a:lnSpc>
                  <a:spcAft>
                    <a:spcPts val="600"/>
                  </a:spcAft>
                  <a:buClrTx/>
                  <a:buSzTx/>
                  <a:buFontTx/>
                  <a:tabLst/>
                  <a:defRPr/>
                </a:pP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You want SQL over CSV or Parquet</a:t>
                </a:r>
                <a:endPara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228600" marR="0" lvl="0" indent="-228600" algn="l" defTabSz="914400" rtl="0" eaLnBrk="1" fontAlgn="auto" latinLnBrk="0" hangingPunct="1">
                  <a:lnSpc>
                    <a:spcPct val="120000"/>
                  </a:lnSpc>
                  <a:spcAft>
                    <a:spcPts val="600"/>
                  </a:spcAft>
                  <a:buClrTx/>
                  <a:buSzTx/>
                  <a:buFontTx/>
                  <a:tabLst/>
                  <a:defRPr/>
                </a:pP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Profiling files before import</a:t>
                </a:r>
                <a:endPara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228600" marR="0" lvl="0" indent="-228600" algn="l" defTabSz="914400" rtl="0" eaLnBrk="1" fontAlgn="auto" latinLnBrk="0" hangingPunct="1">
                  <a:lnSpc>
                    <a:spcPct val="120000"/>
                  </a:lnSpc>
                  <a:spcAft>
                    <a:spcPts val="600"/>
                  </a:spcAft>
                  <a:buClrTx/>
                  <a:buSzTx/>
                  <a:buFontTx/>
                  <a:tabLst/>
                  <a:defRPr/>
                </a:pP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Prototyping ETL logic locally</a:t>
                </a:r>
                <a:endPara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228600" marR="0" lvl="0" indent="-228600" algn="l" defTabSz="914400" rtl="0" eaLnBrk="1" fontAlgn="auto" latinLnBrk="0" hangingPunct="1">
                  <a:lnSpc>
                    <a:spcPct val="120000"/>
                  </a:lnSpc>
                  <a:spcAft>
                    <a:spcPts val="600"/>
                  </a:spcAft>
                  <a:buClrTx/>
                  <a:buSzTx/>
                  <a:buFontTx/>
                  <a:tabLst/>
                  <a:defRPr/>
                </a:pP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Exporting clean Parquet for downstream</a:t>
                </a:r>
                <a:endPara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11E44F1-0B24-929D-5B60-E237E4560F89}"/>
              </a:ext>
            </a:extLst>
          </p:cNvPr>
          <p:cNvGrpSpPr/>
          <p:nvPr/>
        </p:nvGrpSpPr>
        <p:grpSpPr>
          <a:xfrm>
            <a:off x="6537960" y="1600200"/>
            <a:ext cx="4754880" cy="3149600"/>
            <a:chOff x="6537960" y="1600200"/>
            <a:chExt cx="4754880" cy="3149600"/>
          </a:xfrm>
        </p:grpSpPr>
        <p:sp>
          <p:nvSpPr>
            <p:cNvPr id="9" name="Shape 7"/>
            <p:cNvSpPr/>
            <p:nvPr/>
          </p:nvSpPr>
          <p:spPr>
            <a:xfrm>
              <a:off x="6537960" y="1600200"/>
              <a:ext cx="4754880" cy="3149600"/>
            </a:xfrm>
            <a:prstGeom prst="roundRect">
              <a:avLst>
                <a:gd name="adj" fmla="val 2581"/>
              </a:avLst>
            </a:prstGeom>
            <a:noFill/>
            <a:ln w="19050">
              <a:solidFill>
                <a:srgbClr val="FFF100"/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C09B94B-334E-F053-256D-078AA86B1E86}"/>
                </a:ext>
              </a:extLst>
            </p:cNvPr>
            <p:cNvGrpSpPr/>
            <p:nvPr/>
          </p:nvGrpSpPr>
          <p:grpSpPr>
            <a:xfrm>
              <a:off x="6739128" y="1778000"/>
              <a:ext cx="4352544" cy="2870200"/>
              <a:chOff x="6739128" y="1778000"/>
              <a:chExt cx="4352544" cy="2870200"/>
            </a:xfrm>
          </p:grpSpPr>
          <p:sp>
            <p:nvSpPr>
              <p:cNvPr id="10" name="Text 8"/>
              <p:cNvSpPr/>
              <p:nvPr/>
            </p:nvSpPr>
            <p:spPr>
              <a:xfrm>
                <a:off x="6739128" y="1778000"/>
                <a:ext cx="4352544" cy="381000"/>
              </a:xfrm>
              <a:prstGeom prst="rect">
                <a:avLst/>
              </a:prstGeom>
              <a:noFill/>
              <a:ln>
                <a:solidFill/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1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Use Power Query when...</a:t>
                </a: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" name="Text 9"/>
              <p:cNvSpPr/>
              <p:nvPr/>
            </p:nvSpPr>
            <p:spPr>
              <a:xfrm>
                <a:off x="6739128" y="2311400"/>
                <a:ext cx="4352544" cy="2336800"/>
              </a:xfrm>
              <a:prstGeom prst="rect">
                <a:avLst/>
              </a:prstGeom>
              <a:noFill/>
              <a:ln>
                <a:solidFill/>
              </a:ln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228600" marR="0" lvl="0" indent="-228600" algn="l" defTabSz="914400" rtl="0" eaLnBrk="1" fontAlgn="auto" latinLnBrk="0" hangingPunct="1">
                  <a:lnSpc>
                    <a:spcPct val="120000"/>
                  </a:lnSpc>
                  <a:spcAft>
                    <a:spcPts val="600"/>
                  </a:spcAft>
                  <a:buClrTx/>
                  <a:buSzTx/>
                  <a:buFontTx/>
                  <a:tabLst/>
                  <a:defRPr/>
                </a:pP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Loading data into a Power BI model</a:t>
                </a:r>
                <a:endPara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228600" marR="0" lvl="0" indent="-228600" algn="l" defTabSz="914400" rtl="0" eaLnBrk="1" fontAlgn="auto" latinLnBrk="0" hangingPunct="1">
                  <a:lnSpc>
                    <a:spcPct val="120000"/>
                  </a:lnSpc>
                  <a:spcAft>
                    <a:spcPts val="600"/>
                  </a:spcAft>
                  <a:buClrTx/>
                  <a:buSzTx/>
                  <a:buFontTx/>
                  <a:tabLst/>
                  <a:defRPr/>
                </a:pP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M transforms and Power BI dataflows</a:t>
                </a:r>
                <a:endPara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228600" marR="0" lvl="0" indent="-228600" algn="l" defTabSz="914400" rtl="0" eaLnBrk="1" fontAlgn="auto" latinLnBrk="0" hangingPunct="1">
                  <a:lnSpc>
                    <a:spcPct val="120000"/>
                  </a:lnSpc>
                  <a:spcAft>
                    <a:spcPts val="600"/>
                  </a:spcAft>
                  <a:buClrTx/>
                  <a:buSzTx/>
                  <a:buFontTx/>
                  <a:tabLst/>
                  <a:defRPr/>
                </a:pP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Governed refresh in Power BI Service</a:t>
                </a:r>
                <a:endPara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228600" marR="0" lvl="0" indent="-228600" algn="l" defTabSz="914400" rtl="0" eaLnBrk="1" fontAlgn="auto" latinLnBrk="0" hangingPunct="1">
                  <a:lnSpc>
                    <a:spcPct val="120000"/>
                  </a:lnSpc>
                  <a:spcAft>
                    <a:spcPts val="600"/>
                  </a:spcAft>
                  <a:buClrTx/>
                  <a:buSzTx/>
                  <a:buFontTx/>
                  <a:tabLst/>
                  <a:defRPr/>
                </a:pP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Building reports without code</a:t>
                </a:r>
                <a:endPara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228600" marR="0" lvl="0" indent="-228600" algn="l" defTabSz="914400" rtl="0" eaLnBrk="1" fontAlgn="auto" latinLnBrk="0" hangingPunct="1">
                  <a:lnSpc>
                    <a:spcPct val="120000"/>
                  </a:lnSpc>
                  <a:spcAft>
                    <a:spcPts val="600"/>
                  </a:spcAft>
                  <a:buClrTx/>
                  <a:buSzTx/>
                  <a:buFontTx/>
                  <a:tabLst/>
                  <a:defRPr/>
                </a:pP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Team-managed semantic models</a:t>
                </a:r>
                <a:endPara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3E0955F-2C40-7F7F-604D-4D5353F137B3}"/>
              </a:ext>
            </a:extLst>
          </p:cNvPr>
          <p:cNvGrpSpPr/>
          <p:nvPr/>
        </p:nvGrpSpPr>
        <p:grpSpPr>
          <a:xfrm>
            <a:off x="863600" y="5181600"/>
            <a:ext cx="9093200" cy="787400"/>
            <a:chOff x="863600" y="5181600"/>
            <a:chExt cx="9093200" cy="787400"/>
          </a:xfrm>
        </p:grpSpPr>
        <p:sp>
          <p:nvSpPr>
            <p:cNvPr id="12" name="Shape 10"/>
            <p:cNvSpPr/>
            <p:nvPr/>
          </p:nvSpPr>
          <p:spPr>
            <a:xfrm>
              <a:off x="863600" y="5181600"/>
              <a:ext cx="54864" cy="787400"/>
            </a:xfrm>
            <a:prstGeom prst="rect">
              <a:avLst/>
            </a:prstGeom>
            <a:solidFill>
              <a:srgbClr val="FFF100"/>
            </a:solidFill>
            <a:ln w="12700">
              <a:solidFill>
                <a:srgbClr val="FFF100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1066800" y="5232400"/>
              <a:ext cx="8890000" cy="685800"/>
            </a:xfrm>
            <a:prstGeom prst="rect">
              <a:avLst/>
            </a:prstGeom>
            <a:noFill/>
            <a:ln>
              <a:solidFill/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DuckDB is for exploration and prep. Power Query is for the model.</a:t>
              </a:r>
              <a:endPara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2648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DFF75D-60E8-CE5D-A531-EA710E2E2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F1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Where DuckDB fits for Power BI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77824"/>
            <a:ext cx="812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5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 it before Power BI/Fabric to inspect, shape, and hand off files — not as another platform to manage.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475488"/>
            <a:ext cx="2148840" cy="411480"/>
          </a:xfrm>
          <a:prstGeom prst="roundRect">
            <a:avLst/>
          </a:prstGeom>
          <a:solidFill>
            <a:srgbClr val="1A2540"/>
          </a:solidFill>
          <a:ln w="12700" cap="flat" cmpd="sng" algn="ctr">
            <a:solidFill>
              <a:srgbClr val="FFF10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70848" y="585216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Power BI + Fabric lens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0972800" cy="16916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2057400" cy="1143000"/>
          </a:xfrm>
          <a:prstGeom prst="roundRect">
            <a:avLst/>
          </a:prstGeom>
          <a:noFill/>
          <a:ln w="19050" cap="flat" cmpd="sng" algn="ctr">
            <a:solidFill>
              <a:srgbClr val="FFF10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41832" y="1801368"/>
            <a:ext cx="173736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Raw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16712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CSV / Parquet /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965960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600200"/>
            <a:ext cx="2057400" cy="1143000"/>
          </a:xfrm>
          <a:prstGeom prst="roundRect">
            <a:avLst/>
          </a:prstGeom>
          <a:noFill/>
          <a:ln w="19050" cap="flat" cmpd="sng" algn="ctr">
            <a:solidFill>
              <a:srgbClr val="FFF10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76472" y="1801368"/>
            <a:ext cx="173736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DuckDB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216712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local SQL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1965960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1600200"/>
            <a:ext cx="2057400" cy="1143000"/>
          </a:xfrm>
          <a:prstGeom prst="roundRect">
            <a:avLst/>
          </a:prstGeom>
          <a:noFill/>
          <a:ln w="19050" cap="flat" cmpd="sng" algn="ctr">
            <a:solidFill>
              <a:srgbClr val="FFF10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11112" y="1801368"/>
            <a:ext cx="173736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Clean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216712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Parquet + validated 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1965960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1600200"/>
            <a:ext cx="2057400" cy="1143000"/>
          </a:xfrm>
          <a:prstGeom prst="roundRect">
            <a:avLst/>
          </a:prstGeom>
          <a:noFill/>
          <a:ln w="19050" cap="flat" cmpd="sng" algn="ctr">
            <a:solidFill>
              <a:srgbClr val="FFF10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445752" y="1801368"/>
            <a:ext cx="173736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Power BI / Fabric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5752" y="216712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model, report, or notebook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274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practical pattern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733800"/>
            <a:ext cx="1060704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DuckDB is the small engine you reach for when files are messy, too big for comfort, or need a quick repeatable check.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" y="4241800"/>
            <a:ext cx="384048" cy="384048"/>
          </a:xfrm>
          <a:prstGeom prst="ellipse">
            <a:avLst/>
          </a:prstGeom>
          <a:solidFill>
            <a:srgbClr val="FFF1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216400"/>
            <a:ext cx="2743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Before import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546600"/>
            <a:ext cx="283464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/>
              </a:rPr>
              <a:t>Profile large CSV/Parquet files before they become a Power Query problem.</a:t>
            </a:r>
          </a:p>
        </p:txBody>
      </p:sp>
      <p:sp>
        <p:nvSpPr>
          <p:cNvPr id="29" name="Oval 28"/>
          <p:cNvSpPr/>
          <p:nvPr/>
        </p:nvSpPr>
        <p:spPr>
          <a:xfrm>
            <a:off x="4434840" y="4241800"/>
            <a:ext cx="384048" cy="384048"/>
          </a:xfrm>
          <a:prstGeom prst="ellipse">
            <a:avLst/>
          </a:prstGeom>
          <a:solidFill>
            <a:srgbClr val="FFF1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216400"/>
            <a:ext cx="2743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During exploration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4546600"/>
            <a:ext cx="283464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/>
              </a:rPr>
              <a:t>Use SQL + Python in a local VS Code notebook; uv keeps it repeatable.</a:t>
            </a:r>
          </a:p>
        </p:txBody>
      </p:sp>
      <p:sp>
        <p:nvSpPr>
          <p:cNvPr id="32" name="Oval 31"/>
          <p:cNvSpPr/>
          <p:nvPr/>
        </p:nvSpPr>
        <p:spPr>
          <a:xfrm>
            <a:off x="8183879" y="4241800"/>
            <a:ext cx="384048" cy="384048"/>
          </a:xfrm>
          <a:prstGeom prst="ellipse">
            <a:avLst/>
          </a:prstGeom>
          <a:solidFill>
            <a:srgbClr val="FFF1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799" y="4216400"/>
            <a:ext cx="2743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Before handoff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799" y="4546600"/>
            <a:ext cx="283464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/>
              </a:rPr>
              <a:t>Export clean Parquet or validated logic, then hand off to Power BI or Fabric.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5562600"/>
            <a:ext cx="8255000" cy="431800"/>
          </a:xfrm>
          <a:prstGeom prst="roundRect">
            <a:avLst/>
          </a:prstGeom>
          <a:solidFill>
            <a:srgbClr val="1A254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5664200"/>
            <a:ext cx="787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Demo path: Local DuckDB → Files as Tables → VS Code Notebook → Power BI + Fabric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35640" y="59893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271434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DFF75D-60E8-CE5D-A531-EA710E2E2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8A17A63-092E-4C95-98EA-41043F90F3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B845D7-0510-7E36-9648-8E8734149AFE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1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683B80-D5EE-1CD8-8D75-EA73AC735897}"/>
              </a:ext>
            </a:extLst>
          </p:cNvPr>
          <p:cNvSpPr txBox="1"/>
          <p:nvPr/>
        </p:nvSpPr>
        <p:spPr>
          <a:xfrm>
            <a:off x="502920" y="475000"/>
            <a:ext cx="7600000" cy="4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Where would you use DuckDB?</a:t>
            </a: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93CB8AE2-03CF-3BA2-5D68-C005B809E7B2}"/>
              </a:ext>
            </a:extLst>
          </p:cNvPr>
          <p:cNvCxnSpPr/>
          <p:nvPr/>
        </p:nvCxnSpPr>
        <p:spPr>
          <a:xfrm>
            <a:off x="502920" y="1330000"/>
            <a:ext cx="11155680" cy="0"/>
          </a:xfrm>
          <a:prstGeom prst="line">
            <a:avLst/>
          </a:prstGeom>
          <a:ln w="15240" cap="flat" cmpd="sng" algn="ctr">
            <a:solidFill>
              <a:srgbClr val="FFF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F54DA6A-E17D-8D7B-1630-050C8F3D42A3}"/>
              </a:ext>
            </a:extLst>
          </p:cNvPr>
          <p:cNvGrpSpPr/>
          <p:nvPr/>
        </p:nvGrpSpPr>
        <p:grpSpPr>
          <a:xfrm>
            <a:off x="508000" y="1752600"/>
            <a:ext cx="5334000" cy="2184400"/>
            <a:chOff x="508000" y="1752600"/>
            <a:chExt cx="5334000" cy="21844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2C70719-2C08-4848-B546-7D39EADBEC1C}"/>
                </a:ext>
              </a:extLst>
            </p:cNvPr>
            <p:cNvSpPr/>
            <p:nvPr/>
          </p:nvSpPr>
          <p:spPr>
            <a:xfrm>
              <a:off x="812800" y="2717800"/>
              <a:ext cx="4724400" cy="12700"/>
            </a:xfrm>
            <a:prstGeom prst="rect">
              <a:avLst/>
            </a:prstGeom>
            <a:solidFill>
              <a:srgbClr val="FFF100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D6914D2-4CE4-62B4-607C-4EC4EB24309F}"/>
                </a:ext>
              </a:extLst>
            </p:cNvPr>
            <p:cNvGrpSpPr/>
            <p:nvPr/>
          </p:nvGrpSpPr>
          <p:grpSpPr>
            <a:xfrm>
              <a:off x="508000" y="1752600"/>
              <a:ext cx="5334000" cy="2184400"/>
              <a:chOff x="508000" y="1752600"/>
              <a:chExt cx="5334000" cy="2184400"/>
            </a:xfrm>
          </p:grpSpPr>
          <p:sp>
            <p:nvSpPr>
              <p:cNvPr id="3" name="ToolCard_Obsidian">
                <a:extLst>
                  <a:ext uri="{FF2B5EF4-FFF2-40B4-BE49-F238E27FC236}">
                    <a16:creationId xmlns:a16="http://schemas.microsoft.com/office/drawing/2014/main" id="{787BAA70-85D5-49AA-855A-1297977459C9}"/>
                  </a:ext>
                </a:extLst>
              </p:cNvPr>
              <p:cNvSpPr/>
              <p:nvPr/>
            </p:nvSpPr>
            <p:spPr>
              <a:xfrm>
                <a:off x="508000" y="1752600"/>
                <a:ext cx="5334000" cy="2184400"/>
              </a:xfrm>
              <a:prstGeom prst="roundRect">
                <a:avLst/>
              </a:prstGeom>
              <a:noFill/>
              <a:ln w="19050" cap="flat" cmpd="sng" algn="ctr">
                <a:solidFill>
                  <a:srgbClr val="FFF100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660712C-5234-4B7A-9847-14AF2D36B9BA}"/>
                  </a:ext>
                </a:extLst>
              </p:cNvPr>
              <p:cNvSpPr txBox="1"/>
              <p:nvPr/>
            </p:nvSpPr>
            <p:spPr>
              <a:xfrm>
                <a:off x="812800" y="2006600"/>
                <a:ext cx="3302000" cy="635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Local </a:t>
                </a:r>
                <a:r>
                  <a:rPr kumimoji="0" sz="2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DuckDB</a:t>
                </a:r>
                <a:endParaRPr kumimoji="0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140B4C3-1CA7-450A-BCE9-FC3004C601A8}"/>
                  </a:ext>
                </a:extLst>
              </p:cNvPr>
              <p:cNvSpPr txBox="1"/>
              <p:nvPr/>
            </p:nvSpPr>
            <p:spPr>
              <a:xfrm>
                <a:off x="812800" y="2895600"/>
                <a:ext cx="4724400" cy="965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5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Start with a local engine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CCCCCC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Open DuckDB from the CLI, an in-memory database, or a small .duckdb file. No server or cluster needed.</a:t>
                </a:r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95A0584-D0A9-56AE-8275-CB8BC228B3E4}"/>
              </a:ext>
            </a:extLst>
          </p:cNvPr>
          <p:cNvGrpSpPr/>
          <p:nvPr/>
        </p:nvGrpSpPr>
        <p:grpSpPr>
          <a:xfrm>
            <a:off x="6350000" y="1752600"/>
            <a:ext cx="5334000" cy="2184400"/>
            <a:chOff x="6350000" y="1752600"/>
            <a:chExt cx="5334000" cy="2184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999608C-6FED-4753-A1A4-6EB01C2FC048}"/>
                </a:ext>
              </a:extLst>
            </p:cNvPr>
            <p:cNvSpPr/>
            <p:nvPr/>
          </p:nvSpPr>
          <p:spPr>
            <a:xfrm>
              <a:off x="6654800" y="2717800"/>
              <a:ext cx="4724400" cy="12700"/>
            </a:xfrm>
            <a:prstGeom prst="rect">
              <a:avLst/>
            </a:prstGeom>
            <a:solidFill>
              <a:srgbClr val="FFF100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7DD9548-F8F1-C32B-DD34-ECF20A10F496}"/>
                </a:ext>
              </a:extLst>
            </p:cNvPr>
            <p:cNvGrpSpPr/>
            <p:nvPr/>
          </p:nvGrpSpPr>
          <p:grpSpPr>
            <a:xfrm>
              <a:off x="6350000" y="1752600"/>
              <a:ext cx="5334000" cy="2184400"/>
              <a:chOff x="6350000" y="1752600"/>
              <a:chExt cx="5334000" cy="2184400"/>
            </a:xfrm>
          </p:grpSpPr>
          <p:sp>
            <p:nvSpPr>
              <p:cNvPr id="12" name="ToolCard_Excalidraw">
                <a:extLst>
                  <a:ext uri="{FF2B5EF4-FFF2-40B4-BE49-F238E27FC236}">
                    <a16:creationId xmlns:a16="http://schemas.microsoft.com/office/drawing/2014/main" id="{742F1329-2C34-4A62-A157-6DAF29A06345}"/>
                  </a:ext>
                </a:extLst>
              </p:cNvPr>
              <p:cNvSpPr/>
              <p:nvPr/>
            </p:nvSpPr>
            <p:spPr>
              <a:xfrm>
                <a:off x="6350000" y="1752600"/>
                <a:ext cx="5334000" cy="2184400"/>
              </a:xfrm>
              <a:prstGeom prst="roundRect">
                <a:avLst/>
              </a:prstGeom>
              <a:noFill/>
              <a:ln w="19050" cap="flat" cmpd="sng" algn="ctr">
                <a:solidFill>
                  <a:srgbClr val="FFF100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D7F989F-4250-4B81-A3A9-7EBACB1C9F15}"/>
                  </a:ext>
                </a:extLst>
              </p:cNvPr>
              <p:cNvSpPr txBox="1"/>
              <p:nvPr/>
            </p:nvSpPr>
            <p:spPr>
              <a:xfrm>
                <a:off x="6654800" y="2006600"/>
                <a:ext cx="3302000" cy="635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Files as Tables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FC0D0A4-9883-4D12-AC80-5B3EFAE9D0FB}"/>
                  </a:ext>
                </a:extLst>
              </p:cNvPr>
              <p:cNvSpPr txBox="1"/>
              <p:nvPr/>
            </p:nvSpPr>
            <p:spPr>
              <a:xfrm>
                <a:off x="6654800" y="2895600"/>
                <a:ext cx="4724400" cy="965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Query data where it already lives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CCCC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Use SQL directly against CSV, Parquet, JSON, and folders before deciding what to import or convert.</a:t>
                </a:r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0A1EA27-7BD9-03B8-2D4E-E7606B760770}"/>
              </a:ext>
            </a:extLst>
          </p:cNvPr>
          <p:cNvGrpSpPr/>
          <p:nvPr/>
        </p:nvGrpSpPr>
        <p:grpSpPr>
          <a:xfrm>
            <a:off x="508000" y="4089400"/>
            <a:ext cx="5334000" cy="2006600"/>
            <a:chOff x="508000" y="4089400"/>
            <a:chExt cx="5334000" cy="2006600"/>
          </a:xfrm>
        </p:grpSpPr>
        <p:sp>
          <p:nvSpPr>
            <p:cNvPr id="17" name="ToolCard_VS Code">
              <a:extLst>
                <a:ext uri="{FF2B5EF4-FFF2-40B4-BE49-F238E27FC236}">
                  <a16:creationId xmlns:a16="http://schemas.microsoft.com/office/drawing/2014/main" id="{26414278-C125-4173-A8BF-5653FB07252B}"/>
                </a:ext>
              </a:extLst>
            </p:cNvPr>
            <p:cNvSpPr/>
            <p:nvPr/>
          </p:nvSpPr>
          <p:spPr>
            <a:xfrm>
              <a:off x="508000" y="4089400"/>
              <a:ext cx="5334000" cy="2006600"/>
            </a:xfrm>
            <a:prstGeom prst="roundRect">
              <a:avLst/>
            </a:prstGeom>
            <a:noFill/>
            <a:ln w="19050" cap="flat" cmpd="sng" algn="ctr">
              <a:solidFill>
                <a:srgbClr val="FFF100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946567C-41B6-4B5C-9C56-905EA684A9F8}"/>
                </a:ext>
              </a:extLst>
            </p:cNvPr>
            <p:cNvSpPr txBox="1"/>
            <p:nvPr/>
          </p:nvSpPr>
          <p:spPr>
            <a:xfrm>
              <a:off x="812800" y="4318000"/>
              <a:ext cx="3302000" cy="6350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VS Code Notebook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230E4CA-50FC-4093-A348-442EB197D502}"/>
                </a:ext>
              </a:extLst>
            </p:cNvPr>
            <p:cNvSpPr/>
            <p:nvPr/>
          </p:nvSpPr>
          <p:spPr>
            <a:xfrm>
              <a:off x="812800" y="5029200"/>
              <a:ext cx="4724400" cy="12700"/>
            </a:xfrm>
            <a:prstGeom prst="rect">
              <a:avLst/>
            </a:prstGeom>
            <a:solidFill>
              <a:srgbClr val="FFF100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E69CCDC-4AB5-439D-9093-2C2809AB9FB5}"/>
                </a:ext>
              </a:extLst>
            </p:cNvPr>
            <p:cNvSpPr txBox="1"/>
            <p:nvPr/>
          </p:nvSpPr>
          <p:spPr>
            <a:xfrm>
              <a:off x="812800" y="5207000"/>
              <a:ext cx="4724400" cy="8128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5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Make exploration repeatable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CCCCCC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Use Jupyter in VS Code with uv so SQL, Python, charts, and documentation live in the same local workflow.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00B5AA6-34C1-D1BC-47F2-F1177EE03AA3}"/>
              </a:ext>
            </a:extLst>
          </p:cNvPr>
          <p:cNvGrpSpPr/>
          <p:nvPr/>
        </p:nvGrpSpPr>
        <p:grpSpPr>
          <a:xfrm>
            <a:off x="6350000" y="4089400"/>
            <a:ext cx="5334000" cy="2006600"/>
            <a:chOff x="6350000" y="4089400"/>
            <a:chExt cx="5334000" cy="20066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A5DF5B1-2AAD-49EF-AFE6-CD6B6AA7B3AB}"/>
                </a:ext>
              </a:extLst>
            </p:cNvPr>
            <p:cNvSpPr/>
            <p:nvPr/>
          </p:nvSpPr>
          <p:spPr>
            <a:xfrm>
              <a:off x="6654800" y="5029200"/>
              <a:ext cx="4724400" cy="12700"/>
            </a:xfrm>
            <a:prstGeom prst="rect">
              <a:avLst/>
            </a:prstGeom>
            <a:solidFill>
              <a:srgbClr val="FFF100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C23B8C0-5E1F-2416-1BE9-D52989598598}"/>
                </a:ext>
              </a:extLst>
            </p:cNvPr>
            <p:cNvGrpSpPr/>
            <p:nvPr/>
          </p:nvGrpSpPr>
          <p:grpSpPr>
            <a:xfrm>
              <a:off x="6350000" y="4089400"/>
              <a:ext cx="5334000" cy="2006600"/>
              <a:chOff x="6350000" y="4089400"/>
              <a:chExt cx="5334000" cy="2006600"/>
            </a:xfrm>
          </p:grpSpPr>
          <p:sp>
            <p:nvSpPr>
              <p:cNvPr id="22" name="ToolCard_PowerToys">
                <a:extLst>
                  <a:ext uri="{FF2B5EF4-FFF2-40B4-BE49-F238E27FC236}">
                    <a16:creationId xmlns:a16="http://schemas.microsoft.com/office/drawing/2014/main" id="{B723651B-9692-4F81-9623-631C35062672}"/>
                  </a:ext>
                </a:extLst>
              </p:cNvPr>
              <p:cNvSpPr/>
              <p:nvPr/>
            </p:nvSpPr>
            <p:spPr>
              <a:xfrm>
                <a:off x="6350000" y="4089400"/>
                <a:ext cx="5334000" cy="2006600"/>
              </a:xfrm>
              <a:prstGeom prst="roundRect">
                <a:avLst/>
              </a:prstGeom>
              <a:noFill/>
              <a:ln w="19050" cap="flat" cmpd="sng" algn="ctr">
                <a:solidFill>
                  <a:srgbClr val="FFF100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0D4BFBE-6B1E-4B49-8D21-A6F86C9AB6D7}"/>
                  </a:ext>
                </a:extLst>
              </p:cNvPr>
              <p:cNvSpPr txBox="1"/>
              <p:nvPr/>
            </p:nvSpPr>
            <p:spPr>
              <a:xfrm>
                <a:off x="6654800" y="4318000"/>
                <a:ext cx="3302000" cy="635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Power BI + Fabric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F8A143E-BC92-4578-B465-F5B6310BCA97}"/>
                  </a:ext>
                </a:extLst>
              </p:cNvPr>
              <p:cNvSpPr txBox="1"/>
              <p:nvPr/>
            </p:nvSpPr>
            <p:spPr>
              <a:xfrm>
                <a:off x="6654800" y="5207000"/>
                <a:ext cx="4724400" cy="8128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Bridge back to the Microsoft stack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CCCC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Run DuckDB in Fabric Python notebooks: read Lakehouse files, do light SQL transforms, skip Spark when you don't need it.</a:t>
                </a:r>
              </a:p>
            </p:txBody>
          </p:sp>
        </p:grpSp>
      </p:grpSp>
      <p:sp>
        <p:nvSpPr>
          <p:cNvPr id="27" name="TextBox 26"/>
          <p:cNvSpPr txBox="1"/>
          <p:nvPr/>
        </p:nvSpPr>
        <p:spPr>
          <a:xfrm>
            <a:off x="502920" y="925000"/>
            <a:ext cx="9800000" cy="3300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lightweight analytics engine for local exploration, files, notebooks, and the Microsoft data stack.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8000" y="6248400"/>
            <a:ext cx="11176000" cy="5080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all" spc="20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mental model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Start local, query files, then move the pattern into notebooks and Fabric.</a:t>
            </a:r>
          </a:p>
        </p:txBody>
      </p:sp>
    </p:spTree>
    <p:extLst>
      <p:ext uri="{BB962C8B-B14F-4D97-AF65-F5344CB8AC3E}">
        <p14:creationId xmlns:p14="http://schemas.microsoft.com/office/powerpoint/2010/main" val="146161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3FDDD5-42C6-C636-2981-C78FB8F93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1FE1E41-5F00-A537-EBEA-F05F32BEC4E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FE360E2-92ED-48BD-AB90-00718D9D95F0}"/>
              </a:ext>
            </a:extLst>
          </p:cNvPr>
          <p:cNvSpPr/>
          <p:nvPr/>
        </p:nvSpPr>
        <p:spPr>
          <a:xfrm>
            <a:off x="3879850" y="3143250"/>
            <a:ext cx="6667500" cy="38100"/>
          </a:xfrm>
          <a:prstGeom prst="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F1EA874-1F0E-BBBF-4A2E-B19A8FD40E5F}"/>
              </a:ext>
            </a:extLst>
          </p:cNvPr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5CCA261-166C-C176-9BA6-B6AB794D6508}"/>
              </a:ext>
            </a:extLst>
          </p:cNvPr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3BC0F5E-06C4-142D-6AB5-AB6B89FB2861}"/>
              </a:ext>
            </a:extLst>
          </p:cNvPr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515A5E9-AEC7-4EA0-6FBF-AD30E66118A7}"/>
              </a:ext>
            </a:extLst>
          </p:cNvPr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D587FBC-0CBA-10E2-8DD9-F9F4BAD200F2}"/>
              </a:ext>
            </a:extLst>
          </p:cNvPr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EAC6EA0-0688-DA41-2A7E-8B88D48C8F17}"/>
              </a:ext>
            </a:extLst>
          </p:cNvPr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D503D0C-17D7-3F64-41EF-365113E93C5C}"/>
              </a:ext>
            </a:extLst>
          </p:cNvPr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5E5522E-1527-07C7-9312-1CCE0EF3A329}"/>
              </a:ext>
            </a:extLst>
          </p:cNvPr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1844685-24DC-A072-21E1-18D228449425}"/>
              </a:ext>
            </a:extLst>
          </p:cNvPr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5E0293E-CC79-738A-28FB-C8B817003254}"/>
              </a:ext>
            </a:extLst>
          </p:cNvPr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92F9321-0623-758B-C4C1-51D2BB30356F}"/>
              </a:ext>
            </a:extLst>
          </p:cNvPr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D88BCFB-5A7C-BCD5-D00F-73BAA243C780}"/>
              </a:ext>
            </a:extLst>
          </p:cNvPr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DBB2CD5-9B36-E28B-3A66-B27ED66148B3}"/>
              </a:ext>
            </a:extLst>
          </p:cNvPr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9C82E93-BB81-B4DD-7343-C164A934799A}"/>
              </a:ext>
            </a:extLst>
          </p:cNvPr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4024BBD-9174-535B-3860-528FA12BDF7E}"/>
              </a:ext>
            </a:extLst>
          </p:cNvPr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2A7B185-75EE-29DF-EC9E-FE40BB3A32A1}"/>
              </a:ext>
            </a:extLst>
          </p:cNvPr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571BC66-EB3B-F503-7500-50D5A74BDA69}"/>
              </a:ext>
            </a:extLst>
          </p:cNvPr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9B82BED-0342-E72A-EAC2-0C4AAF32A387}"/>
              </a:ext>
            </a:extLst>
          </p:cNvPr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DC50E87-03DC-9996-F01F-4E523C435B3F}"/>
              </a:ext>
            </a:extLst>
          </p:cNvPr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FC12110-9892-894C-AF94-6618D4EA31E7}"/>
              </a:ext>
            </a:extLst>
          </p:cNvPr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713B0BC-E9B2-159C-2986-9AD85DD3FEA3}"/>
              </a:ext>
            </a:extLst>
          </p:cNvPr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8D9A6E2D-6276-238C-CE69-16B3F90DA94B}"/>
              </a:ext>
            </a:extLst>
          </p:cNvPr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5B4C4E4-1B5A-E6BD-8F2D-0FE5C3B5376E}"/>
              </a:ext>
            </a:extLst>
          </p:cNvPr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DA062434-5AAB-3F53-C41F-031ED5DF2536}"/>
              </a:ext>
            </a:extLst>
          </p:cNvPr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2EB1AE32-8E91-F42E-5928-2AEA70A3E7CD}"/>
              </a:ext>
            </a:extLst>
          </p:cNvPr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414CC11-1BF4-ECC0-5329-A7D7021D90D3}"/>
              </a:ext>
            </a:extLst>
          </p:cNvPr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ADCB9649-0202-D056-FB3D-5B2256574D26}"/>
              </a:ext>
            </a:extLst>
          </p:cNvPr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54004900-7E71-6FD1-5B76-5643BEADF64E}"/>
              </a:ext>
            </a:extLst>
          </p:cNvPr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FBA4910A-40B3-7D0E-2BB9-278E22079FB8}"/>
              </a:ext>
            </a:extLst>
          </p:cNvPr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58EF87D5-163C-9812-7D72-24B42408A1E7}"/>
              </a:ext>
            </a:extLst>
          </p:cNvPr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89E0B6B3-81CD-F713-5914-16025FAB2E8C}"/>
              </a:ext>
            </a:extLst>
          </p:cNvPr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Desktop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47E07F65-6FD7-C10C-EE7E-A7BE1DA0E3D5}"/>
              </a:ext>
            </a:extLst>
          </p:cNvPr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Running DuckDB locally — CLI and GUI</a:t>
            </a: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D80D7DF9-8D4D-7D38-AA7B-D597B420F0B7}"/>
              </a:ext>
            </a:extLst>
          </p:cNvPr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F40C6E5A-0F9D-49FF-6B7C-1CB7D23B2E3D}"/>
              </a:ext>
            </a:extLst>
          </p:cNvPr>
          <p:cNvSpPr/>
          <p:nvPr/>
        </p:nvSpPr>
        <p:spPr>
          <a:xfrm>
            <a:off x="1657350" y="3163824"/>
            <a:ext cx="2222500" cy="0"/>
          </a:xfrm>
          <a:prstGeom prst="line">
            <a:avLst/>
          </a:prstGeom>
          <a:noFill/>
          <a:ln w="28575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E3D025BF-C0AD-1F56-B4C7-F39CF5A680E0}"/>
              </a:ext>
            </a:extLst>
          </p:cNvPr>
          <p:cNvSpPr/>
          <p:nvPr/>
        </p:nvSpPr>
        <p:spPr>
          <a:xfrm>
            <a:off x="1651000" y="3163824"/>
            <a:ext cx="0" cy="0"/>
          </a:xfrm>
          <a:prstGeom prst="line">
            <a:avLst/>
          </a:prstGeom>
          <a:noFill/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2E856515-1287-7B9B-B06C-928A6CC4324A}"/>
              </a:ext>
            </a:extLst>
          </p:cNvPr>
          <p:cNvSpPr/>
          <p:nvPr/>
        </p:nvSpPr>
        <p:spPr>
          <a:xfrm>
            <a:off x="1365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0178CFF0-227C-FF8F-5151-C8069CCAD5CA}"/>
              </a:ext>
            </a:extLst>
          </p:cNvPr>
          <p:cNvSpPr/>
          <p:nvPr/>
        </p:nvSpPr>
        <p:spPr>
          <a:xfrm>
            <a:off x="136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2698C94C-1EE0-7215-2809-61DA95BBCFF5}"/>
              </a:ext>
            </a:extLst>
          </p:cNvPr>
          <p:cNvSpPr/>
          <p:nvPr/>
        </p:nvSpPr>
        <p:spPr>
          <a:xfrm>
            <a:off x="86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EBBFE525-B502-AC35-E1BD-410CC5946914}"/>
              </a:ext>
            </a:extLst>
          </p:cNvPr>
          <p:cNvSpPr/>
          <p:nvPr/>
        </p:nvSpPr>
        <p:spPr>
          <a:xfrm>
            <a:off x="35877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ADAC8482-988D-7425-BF16-A10FE33AADCB}"/>
              </a:ext>
            </a:extLst>
          </p:cNvPr>
          <p:cNvSpPr/>
          <p:nvPr/>
        </p:nvSpPr>
        <p:spPr>
          <a:xfrm>
            <a:off x="3587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711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C8423488-06D8-59C2-C4E8-66813BCAEF17}"/>
              </a:ext>
            </a:extLst>
          </p:cNvPr>
          <p:cNvSpPr/>
          <p:nvPr/>
        </p:nvSpPr>
        <p:spPr>
          <a:xfrm>
            <a:off x="3086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50" b="1" dirty="0">
                <a:solidFill>
                  <a:srgbClr val="F8FAFC"/>
                </a:solidFill>
                <a:latin typeface="Aptos" pitchFamily="34" charset="0"/>
              </a:rPr>
              <a:t>Desktop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0DAD9804-0157-4CFC-7B36-020C6E8D1F08}"/>
              </a:ext>
            </a:extLst>
          </p:cNvPr>
          <p:cNvSpPr/>
          <p:nvPr/>
        </p:nvSpPr>
        <p:spPr>
          <a:xfrm>
            <a:off x="58102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4BB6459D-D6E1-3FFF-E467-46C9214A6AC2}"/>
              </a:ext>
            </a:extLst>
          </p:cNvPr>
          <p:cNvSpPr/>
          <p:nvPr/>
        </p:nvSpPr>
        <p:spPr>
          <a:xfrm>
            <a:off x="5810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538FA550-A83A-831E-890A-0037437B9E87}"/>
              </a:ext>
            </a:extLst>
          </p:cNvPr>
          <p:cNvSpPr/>
          <p:nvPr/>
        </p:nvSpPr>
        <p:spPr>
          <a:xfrm>
            <a:off x="5308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Notebook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3DC35C85-17E2-CF31-6D0A-F57EE111D734}"/>
              </a:ext>
            </a:extLst>
          </p:cNvPr>
          <p:cNvSpPr/>
          <p:nvPr/>
        </p:nvSpPr>
        <p:spPr>
          <a:xfrm>
            <a:off x="80327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21A7678C-E3E9-C40F-CC5A-D9A00C0E3599}"/>
              </a:ext>
            </a:extLst>
          </p:cNvPr>
          <p:cNvSpPr/>
          <p:nvPr/>
        </p:nvSpPr>
        <p:spPr>
          <a:xfrm>
            <a:off x="8032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C5DB571E-8A55-984D-23E5-C72B6B2277BF}"/>
              </a:ext>
            </a:extLst>
          </p:cNvPr>
          <p:cNvSpPr/>
          <p:nvPr/>
        </p:nvSpPr>
        <p:spPr>
          <a:xfrm>
            <a:off x="7531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B7D4BC49-42B6-2545-C9A0-E894F38DBA54}"/>
              </a:ext>
            </a:extLst>
          </p:cNvPr>
          <p:cNvSpPr/>
          <p:nvPr/>
        </p:nvSpPr>
        <p:spPr>
          <a:xfrm>
            <a:off x="102552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BB4D2D16-3AEF-06C2-BA42-A0E019C92D68}"/>
              </a:ext>
            </a:extLst>
          </p:cNvPr>
          <p:cNvSpPr/>
          <p:nvPr/>
        </p:nvSpPr>
        <p:spPr>
          <a:xfrm>
            <a:off x="1025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FC53E512-0F1A-2970-D906-C74BDB243AA2}"/>
              </a:ext>
            </a:extLst>
          </p:cNvPr>
          <p:cNvSpPr/>
          <p:nvPr/>
        </p:nvSpPr>
        <p:spPr>
          <a:xfrm>
            <a:off x="975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97A96B66-0247-9D53-6DE4-323E5E6E3198}"/>
              </a:ext>
            </a:extLst>
          </p:cNvPr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1286E5B4-822E-6110-0637-0CB77F9D4FD3}"/>
              </a:ext>
            </a:extLst>
          </p:cNvPr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9752D72B-E781-B625-CCBC-D65CD618E3F7}"/>
              </a:ext>
            </a:extLst>
          </p:cNvPr>
          <p:cNvSpPr/>
          <p:nvPr/>
        </p:nvSpPr>
        <p:spPr>
          <a:xfrm>
            <a:off x="19476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Desktop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3B9B686C-481F-768D-ADEC-287156503F5D}"/>
              </a:ext>
            </a:extLst>
          </p:cNvPr>
          <p:cNvSpPr/>
          <p:nvPr/>
        </p:nvSpPr>
        <p:spPr>
          <a:xfrm>
            <a:off x="19659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Running DuckDB locally — CLI and GUI</a:t>
            </a: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E68D581E-C050-74D5-A5F6-3B74482F3F7F}"/>
              </a:ext>
            </a:extLst>
          </p:cNvPr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Notebook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22F6D616-4DA0-E77E-D794-6199C082A817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F7F66079-55BC-55D9-E2CB-A01A39E5360D}"/>
              </a:ext>
            </a:extLst>
          </p:cNvPr>
          <p:cNvSpPr/>
          <p:nvPr/>
        </p:nvSpPr>
        <p:spPr>
          <a:xfrm>
            <a:off x="713232" y="5925312"/>
            <a:ext cx="3581400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F97A22-A558-4938-AD37-0C87F75F89E0}"/>
              </a:ext>
            </a:extLst>
          </p:cNvPr>
          <p:cNvSpPr txBox="1"/>
          <p:nvPr/>
        </p:nvSpPr>
        <p:spPr>
          <a:xfrm>
            <a:off x="713740" y="6200140"/>
            <a:ext cx="402336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50">
                <a:solidFill>
                  <a:srgbClr val="64748B"/>
                </a:solidFill>
                <a:latin typeface="Aptos"/>
              </a:rPr>
              <a:t>DuckDB 101: From Desktop to Notebook</a:t>
            </a:r>
          </a:p>
        </p:txBody>
      </p:sp>
    </p:spTree>
    <p:extLst>
      <p:ext uri="{BB962C8B-B14F-4D97-AF65-F5344CB8AC3E}">
        <p14:creationId xmlns:p14="http://schemas.microsoft.com/office/powerpoint/2010/main" val="38016905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3F5890-8A8F-42CC-9C4D-E741BC7FBEA1}"/>
              </a:ext>
            </a:extLst>
          </p:cNvPr>
          <p:cNvSpPr txBox="1"/>
          <p:nvPr/>
        </p:nvSpPr>
        <p:spPr>
          <a:xfrm>
            <a:off x="622300" y="469900"/>
            <a:ext cx="10947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8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Install, launch, and run your first query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4E961C-160D-4606-B27D-AC45BAB33463}"/>
              </a:ext>
            </a:extLst>
          </p:cNvPr>
          <p:cNvSpPr/>
          <p:nvPr/>
        </p:nvSpPr>
        <p:spPr>
          <a:xfrm>
            <a:off x="622300" y="1117600"/>
            <a:ext cx="762000" cy="38100"/>
          </a:xfrm>
          <a:prstGeom prst="rect">
            <a:avLst/>
          </a:prstGeom>
          <a:solidFill>
            <a:srgbClr val="FFF1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2CE0D6-8989-477F-B580-AEF5B739BDE4}"/>
              </a:ext>
            </a:extLst>
          </p:cNvPr>
          <p:cNvSpPr txBox="1"/>
          <p:nvPr/>
        </p:nvSpPr>
        <p:spPr>
          <a:xfrm>
            <a:off x="622300" y="1270000"/>
            <a:ext cx="6667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FFF100"/>
                </a:solidFill>
                <a:latin typeface="Calibri"/>
                <a:ea typeface="Calibri"/>
                <a:cs typeface="Calibri"/>
              </a:rPr>
              <a:t>WINDOWS · MAC · LINUX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E2E289C-719C-4AAD-BD18-9F030C5426C7}"/>
              </a:ext>
            </a:extLst>
          </p:cNvPr>
          <p:cNvSpPr/>
          <p:nvPr/>
        </p:nvSpPr>
        <p:spPr>
          <a:xfrm>
            <a:off x="622300" y="1625600"/>
            <a:ext cx="6667500" cy="1168400"/>
          </a:xfrm>
          <a:prstGeom prst="roundRect">
            <a:avLst/>
          </a:prstGeom>
          <a:solidFill>
            <a:srgbClr val="0D0D0D"/>
          </a:solidFill>
          <a:ln w="12700" cap="flat" cmpd="sng" algn="ctr">
            <a:solidFill>
              <a:srgbClr val="1E2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14A37A-9AE0-4B2A-85E3-AC8623A75554}"/>
              </a:ext>
            </a:extLst>
          </p:cNvPr>
          <p:cNvSpPr txBox="1"/>
          <p:nvPr/>
        </p:nvSpPr>
        <p:spPr>
          <a:xfrm>
            <a:off x="825500" y="1676400"/>
            <a:ext cx="62611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dirty="0">
                <a:solidFill>
                  <a:srgbClr val="F8FAFC"/>
                </a:solidFill>
                <a:latin typeface="Consolas"/>
              </a:rPr>
              <a:t># Windows
</a:t>
            </a:r>
            <a:r>
              <a:rPr lang="en-US" sz="1300" dirty="0" err="1">
                <a:solidFill>
                  <a:srgbClr val="F8FAFC"/>
                </a:solidFill>
                <a:latin typeface="Consolas"/>
              </a:rPr>
              <a:t>winget</a:t>
            </a:r>
            <a:r>
              <a:rPr lang="en-US" sz="1300" dirty="0">
                <a:solidFill>
                  <a:srgbClr val="F8FAFC"/>
                </a:solidFill>
                <a:latin typeface="Consolas"/>
              </a:rPr>
              <a:t> install </a:t>
            </a:r>
            <a:r>
              <a:rPr lang="en-US" sz="1300" dirty="0" err="1">
                <a:solidFill>
                  <a:srgbClr val="F8FAFC"/>
                </a:solidFill>
                <a:latin typeface="Consolas"/>
              </a:rPr>
              <a:t>DuckDB.cli</a:t>
            </a:r>
            <a:r>
              <a:rPr lang="en-US" sz="1300" dirty="0">
                <a:solidFill>
                  <a:srgbClr val="F8FAFC"/>
                </a:solidFill>
                <a:latin typeface="Consolas"/>
              </a:rPr>
              <a:t>
# Mac
brew install </a:t>
            </a:r>
            <a:r>
              <a:rPr lang="en-US" sz="1300" dirty="0" err="1">
                <a:solidFill>
                  <a:srgbClr val="F8FAFC"/>
                </a:solidFill>
                <a:latin typeface="Consolas"/>
              </a:rPr>
              <a:t>duckdb</a:t>
            </a:r>
            <a:endParaRPr lang="en-US" sz="1300" dirty="0">
              <a:solidFill>
                <a:srgbClr val="F8FAFC"/>
              </a:solidFill>
              <a:latin typeface="Consola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5EDBF6-39D0-45FE-B991-8C8511343DFC}"/>
              </a:ext>
            </a:extLst>
          </p:cNvPr>
          <p:cNvSpPr txBox="1"/>
          <p:nvPr/>
        </p:nvSpPr>
        <p:spPr>
          <a:xfrm>
            <a:off x="622300" y="2997200"/>
            <a:ext cx="6667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FFF100"/>
                </a:solidFill>
                <a:latin typeface="Calibri"/>
                <a:ea typeface="Calibri"/>
                <a:cs typeface="Calibri"/>
              </a:rPr>
              <a:t>LAUNCH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E2CF3FD-090B-4985-A445-B8A54D1399AC}"/>
              </a:ext>
            </a:extLst>
          </p:cNvPr>
          <p:cNvSpPr/>
          <p:nvPr/>
        </p:nvSpPr>
        <p:spPr>
          <a:xfrm>
            <a:off x="622300" y="3302000"/>
            <a:ext cx="6667500" cy="558800"/>
          </a:xfrm>
          <a:prstGeom prst="roundRect">
            <a:avLst/>
          </a:prstGeom>
          <a:solidFill>
            <a:srgbClr val="0D0D0D"/>
          </a:solidFill>
          <a:ln w="12700" cap="flat" cmpd="sng" algn="ctr">
            <a:solidFill>
              <a:srgbClr val="1E2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6F79FF-6470-4CE0-B66B-20B3A0B28093}"/>
              </a:ext>
            </a:extLst>
          </p:cNvPr>
          <p:cNvSpPr txBox="1"/>
          <p:nvPr/>
        </p:nvSpPr>
        <p:spPr>
          <a:xfrm>
            <a:off x="825500" y="3429000"/>
            <a:ext cx="62611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FF100"/>
                </a:solidFill>
                <a:latin typeface="Consolas"/>
              </a:rPr>
              <a:t>duckdb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384172-734E-4C58-A306-CA9E56B85D2B}"/>
              </a:ext>
            </a:extLst>
          </p:cNvPr>
          <p:cNvSpPr txBox="1"/>
          <p:nvPr/>
        </p:nvSpPr>
        <p:spPr>
          <a:xfrm>
            <a:off x="622300" y="4064000"/>
            <a:ext cx="6667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FFF100"/>
                </a:solidFill>
                <a:latin typeface="Calibri"/>
                <a:ea typeface="Calibri"/>
                <a:cs typeface="Calibri"/>
              </a:rPr>
              <a:t>FIRST QUERY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9789819-9D96-41BF-8C9B-EADC09E46BAC}"/>
              </a:ext>
            </a:extLst>
          </p:cNvPr>
          <p:cNvSpPr/>
          <p:nvPr/>
        </p:nvSpPr>
        <p:spPr>
          <a:xfrm>
            <a:off x="622300" y="4368800"/>
            <a:ext cx="6667500" cy="762000"/>
          </a:xfrm>
          <a:prstGeom prst="roundRect">
            <a:avLst/>
          </a:prstGeom>
          <a:solidFill>
            <a:srgbClr val="0D0D0D"/>
          </a:solidFill>
          <a:ln w="12700" cap="flat" cmpd="sng" algn="ctr">
            <a:solidFill>
              <a:srgbClr val="1E2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374E18-7948-4D03-8A82-C89B19C143C0}"/>
              </a:ext>
            </a:extLst>
          </p:cNvPr>
          <p:cNvSpPr txBox="1"/>
          <p:nvPr/>
        </p:nvSpPr>
        <p:spPr>
          <a:xfrm>
            <a:off x="825500" y="4470400"/>
            <a:ext cx="62611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dirty="0">
                <a:solidFill>
                  <a:srgbClr val="F8FAFC"/>
                </a:solidFill>
                <a:latin typeface="Consolas"/>
              </a:rPr>
              <a:t>SELECT '</a:t>
            </a:r>
            <a:r>
              <a:rPr lang="en-US" sz="1300" dirty="0" err="1">
                <a:solidFill>
                  <a:srgbClr val="F8FAFC"/>
                </a:solidFill>
                <a:latin typeface="Consolas"/>
              </a:rPr>
              <a:t>DuckDB</a:t>
            </a:r>
            <a:r>
              <a:rPr lang="en-US" sz="1300" dirty="0">
                <a:solidFill>
                  <a:srgbClr val="F8FAFC"/>
                </a:solidFill>
                <a:latin typeface="Consolas"/>
              </a:rPr>
              <a:t> is running' AS demo;
-- Don't forget the semicolon!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1580E1E-D458-3FF9-407E-71F1073ED672}"/>
              </a:ext>
            </a:extLst>
          </p:cNvPr>
          <p:cNvGrpSpPr/>
          <p:nvPr/>
        </p:nvGrpSpPr>
        <p:grpSpPr>
          <a:xfrm>
            <a:off x="7620000" y="1524000"/>
            <a:ext cx="3949700" cy="3606800"/>
            <a:chOff x="7620000" y="1524000"/>
            <a:chExt cx="3949700" cy="360680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07B9F6E-F960-4AC3-BDB7-B6C4EBA98451}"/>
                </a:ext>
              </a:extLst>
            </p:cNvPr>
            <p:cNvSpPr/>
            <p:nvPr/>
          </p:nvSpPr>
          <p:spPr>
            <a:xfrm>
              <a:off x="7620000" y="1524000"/>
              <a:ext cx="3949700" cy="3606800"/>
            </a:xfrm>
            <a:prstGeom prst="roundRect">
              <a:avLst/>
            </a:prstGeom>
            <a:solidFill>
              <a:srgbClr val="0F172A"/>
            </a:solidFill>
            <a:ln w="25400" cap="flat" cmpd="sng" algn="ctr">
              <a:solidFill>
                <a:srgbClr val="FF6900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E1AF12E-1BF4-45B8-B214-3E871F168AF9}"/>
                </a:ext>
              </a:extLst>
            </p:cNvPr>
            <p:cNvSpPr txBox="1"/>
            <p:nvPr/>
          </p:nvSpPr>
          <p:spPr>
            <a:xfrm>
              <a:off x="7874000" y="1752600"/>
              <a:ext cx="34417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en-US" sz="1100" b="1" dirty="0">
                  <a:solidFill>
                    <a:srgbClr val="FF6900"/>
                  </a:solidFill>
                  <a:latin typeface="Calibri"/>
                  <a:ea typeface="Calibri"/>
                  <a:cs typeface="Calibri"/>
                </a:rPr>
                <a:t>⚠  WATCH OUT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C2AF5B9-8DE4-43DE-8DD9-77EDB436CC69}"/>
                </a:ext>
              </a:extLst>
            </p:cNvPr>
            <p:cNvSpPr txBox="1"/>
            <p:nvPr/>
          </p:nvSpPr>
          <p:spPr>
            <a:xfrm>
              <a:off x="7874000" y="2133600"/>
              <a:ext cx="34417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en-US" sz="2200" b="1">
                  <a:solidFill>
                    <a:srgbClr val="F8FAFC"/>
                  </a:solidFill>
                  <a:latin typeface="Calibri"/>
                  <a:ea typeface="Calibri"/>
                  <a:cs typeface="Calibri"/>
                </a:rPr>
                <a:t>Exit thrashing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99EE477-B529-43DA-9676-13651F2ADE1D}"/>
                </a:ext>
              </a:extLst>
            </p:cNvPr>
            <p:cNvSpPr txBox="1"/>
            <p:nvPr/>
          </p:nvSpPr>
          <p:spPr>
            <a:xfrm>
              <a:off x="7874000" y="2641600"/>
              <a:ext cx="3441700" cy="2286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sz="1400" dirty="0">
                  <a:solidFill>
                    <a:srgbClr val="CBD5E1"/>
                  </a:solidFill>
                  <a:latin typeface="Calibri"/>
                  <a:ea typeface="Calibri"/>
                  <a:cs typeface="Calibri"/>
                </a:rPr>
                <a:t>`quit` and `exit` don't work. </a:t>
              </a:r>
              <a:r>
                <a:rPr lang="en-US" sz="1400" dirty="0" err="1">
                  <a:solidFill>
                    <a:srgbClr val="CBD5E1"/>
                  </a:solidFill>
                  <a:latin typeface="Calibri"/>
                  <a:ea typeface="Calibri"/>
                  <a:cs typeface="Calibri"/>
                </a:rPr>
                <a:t>DuckDB</a:t>
              </a:r>
              <a:r>
                <a:rPr lang="en-US" sz="1400" dirty="0">
                  <a:solidFill>
                    <a:srgbClr val="CBD5E1"/>
                  </a:solidFill>
                  <a:latin typeface="Calibri"/>
                  <a:ea typeface="Calibri"/>
                  <a:cs typeface="Calibri"/>
                </a:rPr>
                <a:t> uses dot-commands for shell control:
.exit  or  .quit
.help
.databases
.tables</a:t>
              </a:r>
            </a:p>
          </p:txBody>
        </p:sp>
      </p:grp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7EC585C-19EF-A38A-AECE-CD005E1DF4BC}"/>
              </a:ext>
            </a:extLst>
          </p:cNvPr>
          <p:cNvSpPr/>
          <p:nvPr/>
        </p:nvSpPr>
        <p:spPr>
          <a:xfrm>
            <a:off x="622300" y="5417887"/>
            <a:ext cx="5261142" cy="645026"/>
          </a:xfrm>
          <a:prstGeom prst="roundRect">
            <a:avLst/>
          </a:prstGeom>
          <a:solidFill>
            <a:srgbClr val="0F172A"/>
          </a:solidFill>
          <a:ln w="25400" cap="flat" cmpd="sng" algn="ctr">
            <a:solidFill>
              <a:srgbClr val="FF69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r>
              <a:rPr lang="en-US" dirty="0">
                <a:solidFill>
                  <a:srgbClr val="F8FAFC"/>
                </a:solidFill>
                <a:latin typeface="Consolas"/>
              </a:rPr>
              <a:t>Don't forget the semicolon!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77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8DA2BF-AB47-42B3-8BFE-07C2538E1398}"/>
              </a:ext>
            </a:extLst>
          </p:cNvPr>
          <p:cNvSpPr txBox="1"/>
          <p:nvPr/>
        </p:nvSpPr>
        <p:spPr>
          <a:xfrm>
            <a:off x="622300" y="469900"/>
            <a:ext cx="10947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Query files directly — no loading required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E9ED30-1826-4FD2-921E-24C295AE1636}"/>
              </a:ext>
            </a:extLst>
          </p:cNvPr>
          <p:cNvSpPr/>
          <p:nvPr/>
        </p:nvSpPr>
        <p:spPr>
          <a:xfrm>
            <a:off x="622300" y="1117600"/>
            <a:ext cx="762000" cy="38100"/>
          </a:xfrm>
          <a:prstGeom prst="rect">
            <a:avLst/>
          </a:prstGeom>
          <a:solidFill>
            <a:srgbClr val="FFF1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47B2824-46CF-4173-8100-20A0B16870A6}"/>
              </a:ext>
            </a:extLst>
          </p:cNvPr>
          <p:cNvSpPr/>
          <p:nvPr/>
        </p:nvSpPr>
        <p:spPr>
          <a:xfrm>
            <a:off x="622300" y="1397000"/>
            <a:ext cx="10947400" cy="914400"/>
          </a:xfrm>
          <a:prstGeom prst="roundRect">
            <a:avLst/>
          </a:prstGeom>
          <a:solidFill>
            <a:srgbClr val="0F172A"/>
          </a:solidFill>
          <a:ln w="12700" cap="flat" cmpd="sng" algn="ctr">
            <a:solidFill>
              <a:srgbClr val="1E2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1E5F79-C405-4E51-B56D-E6452EEBEC5C}"/>
              </a:ext>
            </a:extLst>
          </p:cNvPr>
          <p:cNvSpPr txBox="1"/>
          <p:nvPr/>
        </p:nvSpPr>
        <p:spPr>
          <a:xfrm>
            <a:off x="825500" y="1549400"/>
            <a:ext cx="6096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/>
              <a:t>🦆 ✈️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F6FD07-0A98-4289-8AEE-C47A063FFA4F}"/>
              </a:ext>
            </a:extLst>
          </p:cNvPr>
          <p:cNvSpPr txBox="1"/>
          <p:nvPr/>
        </p:nvSpPr>
        <p:spPr>
          <a:xfrm>
            <a:off x="1524000" y="1549400"/>
            <a:ext cx="635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 dirty="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flights_2023.csv — 671 MB, 6.8M rows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4E347B-24EE-42F6-B42B-54372AC20FBB}"/>
              </a:ext>
            </a:extLst>
          </p:cNvPr>
          <p:cNvSpPr txBox="1"/>
          <p:nvPr/>
        </p:nvSpPr>
        <p:spPr>
          <a:xfrm>
            <a:off x="1524000" y="1905000"/>
            <a:ext cx="762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Excel can't open it. DuckDB scans it in seconds — straight from the file.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E52288-AD27-40D6-89E9-5A21B83B213F}"/>
              </a:ext>
            </a:extLst>
          </p:cNvPr>
          <p:cNvSpPr txBox="1"/>
          <p:nvPr/>
        </p:nvSpPr>
        <p:spPr>
          <a:xfrm>
            <a:off x="622300" y="2540000"/>
            <a:ext cx="317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FFF100"/>
                </a:solidFill>
                <a:latin typeface="Calibri"/>
                <a:ea typeface="Calibri"/>
                <a:cs typeface="Calibri"/>
              </a:rPr>
              <a:t>SELECT FROM A CSV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9BBE815-9E10-4BBF-A15F-014A6885B4AC}"/>
              </a:ext>
            </a:extLst>
          </p:cNvPr>
          <p:cNvSpPr/>
          <p:nvPr/>
        </p:nvSpPr>
        <p:spPr>
          <a:xfrm>
            <a:off x="622300" y="2819400"/>
            <a:ext cx="6375400" cy="558800"/>
          </a:xfrm>
          <a:prstGeom prst="roundRect">
            <a:avLst/>
          </a:prstGeom>
          <a:solidFill>
            <a:srgbClr val="0D0D0D"/>
          </a:solidFill>
          <a:ln w="12700" cap="flat" cmpd="sng" algn="ctr">
            <a:solidFill>
              <a:srgbClr val="1E2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086600-9D9E-4D7D-8DDA-85EE8456588D}"/>
              </a:ext>
            </a:extLst>
          </p:cNvPr>
          <p:cNvSpPr txBox="1"/>
          <p:nvPr/>
        </p:nvSpPr>
        <p:spPr>
          <a:xfrm>
            <a:off x="825500" y="2946400"/>
            <a:ext cx="596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F8FAFC"/>
                </a:solidFill>
                <a:latin typeface="Consolas"/>
              </a:rPr>
              <a:t>SELECT * FROM 'flights_2023.csv' LIMIT 10;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028312-76F6-4373-BCAB-A85F0FA5A47C}"/>
              </a:ext>
            </a:extLst>
          </p:cNvPr>
          <p:cNvSpPr txBox="1"/>
          <p:nvPr/>
        </p:nvSpPr>
        <p:spPr>
          <a:xfrm>
            <a:off x="7302500" y="2895600"/>
            <a:ext cx="4267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No CREATE TABLE. No import. Just point at the file.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9F0B59-EEE4-48ED-8A5F-E0093912C666}"/>
              </a:ext>
            </a:extLst>
          </p:cNvPr>
          <p:cNvSpPr txBox="1"/>
          <p:nvPr/>
        </p:nvSpPr>
        <p:spPr>
          <a:xfrm>
            <a:off x="622300" y="3810000"/>
            <a:ext cx="317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FFF100"/>
                </a:solidFill>
                <a:latin typeface="Calibri"/>
                <a:ea typeface="Calibri"/>
                <a:cs typeface="Calibri"/>
              </a:rPr>
              <a:t>DESCRIBE THE SCHEMA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DE05CD0-FFB6-4316-957C-35DFBABE0544}"/>
              </a:ext>
            </a:extLst>
          </p:cNvPr>
          <p:cNvSpPr/>
          <p:nvPr/>
        </p:nvSpPr>
        <p:spPr>
          <a:xfrm>
            <a:off x="622300" y="4089400"/>
            <a:ext cx="6375400" cy="558800"/>
          </a:xfrm>
          <a:prstGeom prst="roundRect">
            <a:avLst/>
          </a:prstGeom>
          <a:solidFill>
            <a:srgbClr val="0D0D0D"/>
          </a:solidFill>
          <a:ln w="12700" cap="flat" cmpd="sng" algn="ctr">
            <a:solidFill>
              <a:srgbClr val="1E2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D516AE-8861-4F6A-9DEE-C640DB8D5E34}"/>
              </a:ext>
            </a:extLst>
          </p:cNvPr>
          <p:cNvSpPr txBox="1"/>
          <p:nvPr/>
        </p:nvSpPr>
        <p:spPr>
          <a:xfrm>
            <a:off x="825500" y="4216400"/>
            <a:ext cx="596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F8FAFC"/>
                </a:solidFill>
                <a:latin typeface="Consolas"/>
              </a:rPr>
              <a:t>DESCRIBE SELECT * FROM 'flights_2023.csv';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35D2F1-6C56-4452-A7EB-032E1522815B}"/>
              </a:ext>
            </a:extLst>
          </p:cNvPr>
          <p:cNvSpPr txBox="1"/>
          <p:nvPr/>
        </p:nvSpPr>
        <p:spPr>
          <a:xfrm>
            <a:off x="7302500" y="4165600"/>
            <a:ext cx="4267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Inspect columns and types without loading data.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34BFEB-D3BB-4DA3-89B8-A920AAFF4162}"/>
              </a:ext>
            </a:extLst>
          </p:cNvPr>
          <p:cNvSpPr txBox="1"/>
          <p:nvPr/>
        </p:nvSpPr>
        <p:spPr>
          <a:xfrm>
            <a:off x="622300" y="5080000"/>
            <a:ext cx="317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FFF100"/>
                </a:solidFill>
                <a:latin typeface="Calibri"/>
                <a:ea typeface="Calibri"/>
                <a:cs typeface="Calibri"/>
              </a:rPr>
              <a:t>SUMMARIZE EVERYTHING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C55B772-69C4-4B79-BE10-27BB658D956C}"/>
              </a:ext>
            </a:extLst>
          </p:cNvPr>
          <p:cNvSpPr/>
          <p:nvPr/>
        </p:nvSpPr>
        <p:spPr>
          <a:xfrm>
            <a:off x="622300" y="5359400"/>
            <a:ext cx="6375400" cy="558800"/>
          </a:xfrm>
          <a:prstGeom prst="roundRect">
            <a:avLst/>
          </a:prstGeom>
          <a:solidFill>
            <a:srgbClr val="0D0D0D"/>
          </a:solidFill>
          <a:ln w="12700" cap="flat" cmpd="sng" algn="ctr">
            <a:solidFill>
              <a:srgbClr val="1E2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F66590-62A0-445C-9FE9-2407BF8434D5}"/>
              </a:ext>
            </a:extLst>
          </p:cNvPr>
          <p:cNvSpPr txBox="1"/>
          <p:nvPr/>
        </p:nvSpPr>
        <p:spPr>
          <a:xfrm>
            <a:off x="825500" y="5486400"/>
            <a:ext cx="596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F8FAFC"/>
                </a:solidFill>
                <a:latin typeface="Consolas"/>
              </a:rPr>
              <a:t>SUMMARIZE SELECT * FROM 'flights_2023.csv';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C87412-9206-4E1A-83D2-214B514B81E6}"/>
              </a:ext>
            </a:extLst>
          </p:cNvPr>
          <p:cNvSpPr txBox="1"/>
          <p:nvPr/>
        </p:nvSpPr>
        <p:spPr>
          <a:xfrm>
            <a:off x="7302500" y="5435600"/>
            <a:ext cx="4267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Stats for every column in one command — DuckDB's secret weapon.</a:t>
            </a:r>
          </a:p>
        </p:txBody>
      </p:sp>
    </p:spTree>
    <p:extLst>
      <p:ext uri="{BB962C8B-B14F-4D97-AF65-F5344CB8AC3E}">
        <p14:creationId xmlns:p14="http://schemas.microsoft.com/office/powerpoint/2010/main" val="3443295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C89AE9-8C79-4FB9-B04D-06EF04CD6A47}"/>
              </a:ext>
            </a:extLst>
          </p:cNvPr>
          <p:cNvSpPr txBox="1"/>
          <p:nvPr/>
        </p:nvSpPr>
        <p:spPr>
          <a:xfrm>
            <a:off x="622300" y="469900"/>
            <a:ext cx="10947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Same SQL, three interfaces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B9F53C-0443-42F4-B8F3-F1A76C4562AB}"/>
              </a:ext>
            </a:extLst>
          </p:cNvPr>
          <p:cNvSpPr/>
          <p:nvPr/>
        </p:nvSpPr>
        <p:spPr>
          <a:xfrm>
            <a:off x="622300" y="1117600"/>
            <a:ext cx="762000" cy="38100"/>
          </a:xfrm>
          <a:prstGeom prst="rect">
            <a:avLst/>
          </a:prstGeom>
          <a:solidFill>
            <a:srgbClr val="FFF1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057B2C-5E29-4647-B9EF-13990175DB0B}"/>
              </a:ext>
            </a:extLst>
          </p:cNvPr>
          <p:cNvSpPr txBox="1"/>
          <p:nvPr/>
        </p:nvSpPr>
        <p:spPr>
          <a:xfrm>
            <a:off x="622300" y="1219200"/>
            <a:ext cx="10947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CLI for speed → Python script for repeatability → Notebook for exploration. One uv environment owns it all.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E11225F-9E5F-4A82-90CD-64720F62D9F4}"/>
              </a:ext>
            </a:extLst>
          </p:cNvPr>
          <p:cNvSpPr/>
          <p:nvPr/>
        </p:nvSpPr>
        <p:spPr>
          <a:xfrm>
            <a:off x="622300" y="1778000"/>
            <a:ext cx="3429000" cy="4064000"/>
          </a:xfrm>
          <a:prstGeom prst="roundRect">
            <a:avLst/>
          </a:prstGeom>
          <a:solidFill>
            <a:srgbClr val="0F172A"/>
          </a:solidFill>
          <a:ln w="12700" cap="flat" cmpd="sng" algn="ctr">
            <a:solidFill>
              <a:srgbClr val="1E2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7A3640-EC5E-42E7-91B1-5FC7B2F9C6F3}"/>
              </a:ext>
            </a:extLst>
          </p:cNvPr>
          <p:cNvSpPr txBox="1"/>
          <p:nvPr/>
        </p:nvSpPr>
        <p:spPr>
          <a:xfrm>
            <a:off x="876300" y="2006600"/>
            <a:ext cx="292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FFF100"/>
                </a:solidFill>
                <a:latin typeface="Calibri"/>
                <a:ea typeface="Calibri"/>
                <a:cs typeface="Calibri"/>
              </a:rPr>
              <a:t>STEP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510135-2079-4FFD-97A6-BC049D94BEE2}"/>
              </a:ext>
            </a:extLst>
          </p:cNvPr>
          <p:cNvSpPr txBox="1"/>
          <p:nvPr/>
        </p:nvSpPr>
        <p:spPr>
          <a:xfrm>
            <a:off x="876300" y="2311400"/>
            <a:ext cx="2921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CLI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78EE20-0BD8-4BEF-B037-A522AC156AAD}"/>
              </a:ext>
            </a:extLst>
          </p:cNvPr>
          <p:cNvSpPr txBox="1"/>
          <p:nvPr/>
        </p:nvSpPr>
        <p:spPr>
          <a:xfrm>
            <a:off x="876300" y="2819400"/>
            <a:ext cx="2921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Pure SQL.
Fastest path to first query.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5228740-2C91-4F1B-BE65-689F1A8F3A58}"/>
              </a:ext>
            </a:extLst>
          </p:cNvPr>
          <p:cNvSpPr/>
          <p:nvPr/>
        </p:nvSpPr>
        <p:spPr>
          <a:xfrm>
            <a:off x="876300" y="3759200"/>
            <a:ext cx="2921000" cy="1778000"/>
          </a:xfrm>
          <a:prstGeom prst="roundRect">
            <a:avLst/>
          </a:prstGeom>
          <a:solidFill>
            <a:srgbClr val="0D0D0D"/>
          </a:solidFill>
          <a:ln w="12700" cap="flat" cmpd="sng" algn="ctr">
            <a:solidFill>
              <a:srgbClr val="1E2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0D0D67-8A78-4EF8-ABCD-E62D7F71864F}"/>
              </a:ext>
            </a:extLst>
          </p:cNvPr>
          <p:cNvSpPr txBox="1"/>
          <p:nvPr/>
        </p:nvSpPr>
        <p:spPr>
          <a:xfrm>
            <a:off x="1028700" y="3911600"/>
            <a:ext cx="26162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F8FAFC"/>
                </a:solidFill>
                <a:latin typeface="Consolas"/>
              </a:rPr>
              <a:t>duckdb
SELECT * FROM 'flights_2023.csv';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2F028BC-747C-4949-8760-3CA4ED924FF5}"/>
              </a:ext>
            </a:extLst>
          </p:cNvPr>
          <p:cNvSpPr/>
          <p:nvPr/>
        </p:nvSpPr>
        <p:spPr>
          <a:xfrm>
            <a:off x="4381500" y="1778000"/>
            <a:ext cx="3429000" cy="4064000"/>
          </a:xfrm>
          <a:prstGeom prst="roundRect">
            <a:avLst/>
          </a:prstGeom>
          <a:solidFill>
            <a:srgbClr val="0F172A"/>
          </a:solidFill>
          <a:ln w="12700" cap="flat" cmpd="sng" algn="ctr">
            <a:solidFill>
              <a:srgbClr val="1E2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2684D8-8FB1-45E3-B562-098D9212681F}"/>
              </a:ext>
            </a:extLst>
          </p:cNvPr>
          <p:cNvSpPr txBox="1"/>
          <p:nvPr/>
        </p:nvSpPr>
        <p:spPr>
          <a:xfrm>
            <a:off x="4635500" y="2006600"/>
            <a:ext cx="292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FFF100"/>
                </a:solidFill>
                <a:latin typeface="Calibri"/>
                <a:ea typeface="Calibri"/>
                <a:cs typeface="Calibri"/>
              </a:rPr>
              <a:t>STEP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AE09F3-4676-4AC0-ACC7-CDD95307AE20}"/>
              </a:ext>
            </a:extLst>
          </p:cNvPr>
          <p:cNvSpPr txBox="1"/>
          <p:nvPr/>
        </p:nvSpPr>
        <p:spPr>
          <a:xfrm>
            <a:off x="4635500" y="2311400"/>
            <a:ext cx="2921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Python (uv)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CE2A0E-4DB3-4D5A-895D-D2A5BFA1D96F}"/>
              </a:ext>
            </a:extLst>
          </p:cNvPr>
          <p:cNvSpPr txBox="1"/>
          <p:nvPr/>
        </p:nvSpPr>
        <p:spPr>
          <a:xfrm>
            <a:off x="4635500" y="2819400"/>
            <a:ext cx="2921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Project owns its environment.
No pip drift.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01AFF6F-BE38-4687-9210-8B902EB2D781}"/>
              </a:ext>
            </a:extLst>
          </p:cNvPr>
          <p:cNvSpPr/>
          <p:nvPr/>
        </p:nvSpPr>
        <p:spPr>
          <a:xfrm>
            <a:off x="4635500" y="3759200"/>
            <a:ext cx="2921000" cy="1778000"/>
          </a:xfrm>
          <a:prstGeom prst="roundRect">
            <a:avLst/>
          </a:prstGeom>
          <a:solidFill>
            <a:srgbClr val="0D0D0D"/>
          </a:solidFill>
          <a:ln w="12700" cap="flat" cmpd="sng" algn="ctr">
            <a:solidFill>
              <a:srgbClr val="1E2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30FBC8-056D-436B-9542-BA331C8198F6}"/>
              </a:ext>
            </a:extLst>
          </p:cNvPr>
          <p:cNvSpPr txBox="1"/>
          <p:nvPr/>
        </p:nvSpPr>
        <p:spPr>
          <a:xfrm>
            <a:off x="4787900" y="3911600"/>
            <a:ext cx="26162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F8FAFC"/>
                </a:solidFill>
                <a:latin typeface="Consolas"/>
              </a:rPr>
              <a:t>uv init
uv add duckdb pandas
uv run python main.py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B75419D-6F4A-4BB0-97CD-1A0503E65280}"/>
              </a:ext>
            </a:extLst>
          </p:cNvPr>
          <p:cNvSpPr/>
          <p:nvPr/>
        </p:nvSpPr>
        <p:spPr>
          <a:xfrm>
            <a:off x="8140700" y="1778000"/>
            <a:ext cx="3429000" cy="4064000"/>
          </a:xfrm>
          <a:prstGeom prst="roundRect">
            <a:avLst/>
          </a:prstGeom>
          <a:solidFill>
            <a:srgbClr val="0F172A"/>
          </a:solidFill>
          <a:ln w="12700" cap="flat" cmpd="sng" algn="ctr">
            <a:solidFill>
              <a:srgbClr val="1E2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4F2846-5EED-4212-B3FE-3EED60D09E75}"/>
              </a:ext>
            </a:extLst>
          </p:cNvPr>
          <p:cNvSpPr txBox="1"/>
          <p:nvPr/>
        </p:nvSpPr>
        <p:spPr>
          <a:xfrm>
            <a:off x="8394700" y="2006600"/>
            <a:ext cx="292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FF6900"/>
                </a:solidFill>
                <a:latin typeface="Calibri"/>
                <a:ea typeface="Calibri"/>
                <a:cs typeface="Calibri"/>
              </a:rPr>
              <a:t>STEP 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3DA761-7685-4A31-8D87-E61C0E3672FD}"/>
              </a:ext>
            </a:extLst>
          </p:cNvPr>
          <p:cNvSpPr txBox="1"/>
          <p:nvPr/>
        </p:nvSpPr>
        <p:spPr>
          <a:xfrm>
            <a:off x="8394700" y="2311400"/>
            <a:ext cx="2921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Notebook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50AB76-3DE1-47D1-B8B8-64089A21896D}"/>
              </a:ext>
            </a:extLst>
          </p:cNvPr>
          <p:cNvSpPr txBox="1"/>
          <p:nvPr/>
        </p:nvSpPr>
        <p:spPr>
          <a:xfrm>
            <a:off x="8394700" y="2819400"/>
            <a:ext cx="2921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Same kernel, interactive.
VS Code or Jupyter.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577A4D2-7CE7-4A27-BE4D-C3A8D6C6FDF9}"/>
              </a:ext>
            </a:extLst>
          </p:cNvPr>
          <p:cNvSpPr/>
          <p:nvPr/>
        </p:nvSpPr>
        <p:spPr>
          <a:xfrm>
            <a:off x="8394700" y="3759200"/>
            <a:ext cx="2921000" cy="1778000"/>
          </a:xfrm>
          <a:prstGeom prst="roundRect">
            <a:avLst/>
          </a:prstGeom>
          <a:solidFill>
            <a:srgbClr val="0D0D0D"/>
          </a:solidFill>
          <a:ln w="12700" cap="flat" cmpd="sng" algn="ctr">
            <a:solidFill>
              <a:srgbClr val="1E2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C87998-0D2C-43E2-B2F0-AA1DCAA4B5B5}"/>
              </a:ext>
            </a:extLst>
          </p:cNvPr>
          <p:cNvSpPr txBox="1"/>
          <p:nvPr/>
        </p:nvSpPr>
        <p:spPr>
          <a:xfrm>
            <a:off x="8547100" y="3911600"/>
            <a:ext cx="26162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F8FAFC"/>
                </a:solidFill>
                <a:latin typeface="Consolas"/>
              </a:rPr>
              <a:t>uv add jupyter ipykernel
code .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7778E909-6B1E-420B-A58A-DAFE0982966D}"/>
              </a:ext>
            </a:extLst>
          </p:cNvPr>
          <p:cNvSpPr/>
          <p:nvPr/>
        </p:nvSpPr>
        <p:spPr>
          <a:xfrm>
            <a:off x="4025900" y="3708400"/>
            <a:ext cx="203200" cy="203200"/>
          </a:xfrm>
          <a:prstGeom prst="rightArrow">
            <a:avLst/>
          </a:prstGeom>
          <a:solidFill>
            <a:srgbClr val="FFF1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40F9D7C7-9122-4C1C-B9B2-8FF444FB4565}"/>
              </a:ext>
            </a:extLst>
          </p:cNvPr>
          <p:cNvSpPr/>
          <p:nvPr/>
        </p:nvSpPr>
        <p:spPr>
          <a:xfrm>
            <a:off x="7785100" y="3708400"/>
            <a:ext cx="203200" cy="203200"/>
          </a:xfrm>
          <a:prstGeom prst="rightArrow">
            <a:avLst/>
          </a:prstGeom>
          <a:solidFill>
            <a:srgbClr val="FFF1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4E7C6B-441C-4E7F-9BA3-62FC462E2387}"/>
              </a:ext>
            </a:extLst>
          </p:cNvPr>
          <p:cNvSpPr txBox="1"/>
          <p:nvPr/>
        </p:nvSpPr>
        <p:spPr>
          <a:xfrm>
            <a:off x="622300" y="6032500"/>
            <a:ext cx="10947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FFF100"/>
                </a:solidFill>
                <a:latin typeface="Calibri"/>
                <a:ea typeface="Calibri"/>
                <a:cs typeface="Calibri"/>
              </a:rPr>
              <a:t>The notebook isn't a different system — it's another interface to the same environment.</a:t>
            </a:r>
          </a:p>
        </p:txBody>
      </p:sp>
    </p:spTree>
    <p:extLst>
      <p:ext uri="{BB962C8B-B14F-4D97-AF65-F5344CB8AC3E}">
        <p14:creationId xmlns:p14="http://schemas.microsoft.com/office/powerpoint/2010/main" val="13363864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DuckDB Extensions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87552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Install with INSTALL extension_name; LOAD extension_name; — or let DuckDB auto-load on first use.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0" name="Gen 100"/>
          <p:cNvSpPr/>
          <p:nvPr/>
        </p:nvSpPr>
        <p:spPr>
          <a:xfrm>
            <a:off x="731520" y="2057400"/>
            <a:ext cx="4846320" cy="1097280"/>
          </a:xfrm>
          <a:prstGeom prst="roundRect">
            <a:avLst>
              <a:gd name="adj" fmla="val 6667"/>
            </a:avLst>
          </a:prstGeom>
          <a:noFill/>
          <a:ln w="1905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1" name="Gen 101"/>
          <p:cNvSpPr/>
          <p:nvPr/>
        </p:nvSpPr>
        <p:spPr>
          <a:xfrm>
            <a:off x="932688" y="2221992"/>
            <a:ext cx="4443984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httpfs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2" name="Gen 102"/>
          <p:cNvSpPr/>
          <p:nvPr/>
        </p:nvSpPr>
        <p:spPr>
          <a:xfrm>
            <a:off x="932688" y="2606040"/>
            <a:ext cx="444398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Query files over HTTP/S and S3 — no download step. Essential for remote data.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0" name="Gen 110"/>
          <p:cNvSpPr/>
          <p:nvPr/>
        </p:nvSpPr>
        <p:spPr>
          <a:xfrm>
            <a:off x="731520" y="3337560"/>
            <a:ext cx="4846320" cy="1097280"/>
          </a:xfrm>
          <a:prstGeom prst="roundRect">
            <a:avLst>
              <a:gd name="adj" fmla="val 6667"/>
            </a:avLst>
          </a:prstGeom>
          <a:noFill/>
          <a:ln w="1905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1" name="Gen 111"/>
          <p:cNvSpPr/>
          <p:nvPr/>
        </p:nvSpPr>
        <p:spPr>
          <a:xfrm>
            <a:off x="932688" y="3502152"/>
            <a:ext cx="4443984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azure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2" name="Gen 112"/>
          <p:cNvSpPr/>
          <p:nvPr/>
        </p:nvSpPr>
        <p:spPr>
          <a:xfrm>
            <a:off x="932688" y="3886200"/>
            <a:ext cx="444398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Azure Blob Storage, ADLS, and OneLake — query Fabric files with the same SQL.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4846320" cy="1097280"/>
          </a:xfrm>
          <a:prstGeom prst="roundRect">
            <a:avLst>
              <a:gd name="adj" fmla="val 6667"/>
            </a:avLst>
          </a:prstGeom>
          <a:noFill/>
          <a:ln w="1905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373368" y="1581912"/>
            <a:ext cx="4443984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excel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373368" y="1965960"/>
            <a:ext cx="444398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Read .xlsx files directly. SELECT * FROM 'my_file.xlsx' just works — no conversion needed.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172200" y="2697480"/>
            <a:ext cx="4846320" cy="1097280"/>
          </a:xfrm>
          <a:prstGeom prst="roundRect">
            <a:avLst>
              <a:gd name="adj" fmla="val 6667"/>
            </a:avLst>
          </a:prstGeom>
          <a:noFill/>
          <a:ln w="1905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73368" y="2862072"/>
            <a:ext cx="4443984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delta / iceberg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373368" y="3246120"/>
            <a:ext cx="444398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Native Delta Lake and Apache Iceberg table support. Read lakehouse tables without Spark.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72200" y="3977640"/>
            <a:ext cx="4846320" cy="1097280"/>
          </a:xfrm>
          <a:prstGeom prst="roundRect">
            <a:avLst>
              <a:gd name="adj" fmla="val 6667"/>
            </a:avLst>
          </a:prstGeom>
          <a:noFill/>
          <a:ln w="1905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73368" y="4142232"/>
            <a:ext cx="4443984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spatial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73368" y="4526280"/>
            <a:ext cx="444398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Geometry types, spatial joins, and PostGIS-compatible functions for geospatial analysis.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67613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15256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DuckDB’s Built-in UI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1792" y="644411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1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duckdb --ui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— opens at localhost:4213. Runs fully local; your data never leaves the machine.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99" name="UI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40342"/>
            <a:ext cx="10997506" cy="5714093"/>
          </a:xfrm>
          <a:prstGeom prst="rect">
            <a:avLst/>
          </a:prstGeom>
          <a:ln w="9525">
            <a:solidFill>
              <a:srgbClr val="1E2A3F"/>
            </a:solidFill>
          </a:ln>
        </p:spPr>
      </p:pic>
    </p:spTree>
    <p:extLst>
      <p:ext uri="{BB962C8B-B14F-4D97-AF65-F5344CB8AC3E}">
        <p14:creationId xmlns:p14="http://schemas.microsoft.com/office/powerpoint/2010/main" val="4358686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6CB5A4-1ECD-475B-9850-6373658F73A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ADBD21-1494-4D53-8263-1AEDB8DE6C99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F1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2C6DA9-793E-441C-A691-6B8B244AA1EE}"/>
              </a:ext>
            </a:extLst>
          </p:cNvPr>
          <p:cNvSpPr txBox="1"/>
          <p:nvPr/>
        </p:nvSpPr>
        <p:spPr>
          <a:xfrm>
            <a:off x="1016000" y="2540000"/>
            <a:ext cx="1016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2400" b="1">
                <a:solidFill>
                  <a:srgbClr val="FFF100"/>
                </a:solidFill>
                <a:latin typeface="Aptos"/>
              </a:rPr>
              <a:t>DEMO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C15D77-A636-491D-B623-62EA4DA97A3C}"/>
              </a:ext>
            </a:extLst>
          </p:cNvPr>
          <p:cNvSpPr txBox="1"/>
          <p:nvPr/>
        </p:nvSpPr>
        <p:spPr>
          <a:xfrm>
            <a:off x="1016000" y="3111500"/>
            <a:ext cx="10160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7200" b="1">
                <a:solidFill>
                  <a:srgbClr val="F8FAFC"/>
                </a:solidFill>
                <a:latin typeface="Aptos Display"/>
              </a:rPr>
              <a:t>Desktop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1A832B-23C1-418D-8CAB-953092811EEC}"/>
              </a:ext>
            </a:extLst>
          </p:cNvPr>
          <p:cNvSpPr/>
          <p:nvPr/>
        </p:nvSpPr>
        <p:spPr>
          <a:xfrm>
            <a:off x="5461000" y="4699000"/>
            <a:ext cx="1270000" cy="38100"/>
          </a:xfrm>
          <a:prstGeom prst="rect">
            <a:avLst/>
          </a:prstGeom>
          <a:solidFill>
            <a:srgbClr val="FFF1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4114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B5E467-C0CE-47B6-6FB3-0C1302E2E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F22A9C5-83F6-376E-7773-B756F92AEBE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554A7B6-1E5B-4672-AD58-2B5AFA27298C}"/>
              </a:ext>
            </a:extLst>
          </p:cNvPr>
          <p:cNvSpPr/>
          <p:nvPr/>
        </p:nvSpPr>
        <p:spPr>
          <a:xfrm>
            <a:off x="6102350" y="3143250"/>
            <a:ext cx="4445000" cy="38100"/>
          </a:xfrm>
          <a:prstGeom prst="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A484430-334B-3AB1-BD2A-26A49D799CA8}"/>
              </a:ext>
            </a:extLst>
          </p:cNvPr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C925420-1AAC-CC9D-057A-E5D10067704C}"/>
              </a:ext>
            </a:extLst>
          </p:cNvPr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FF8E291-E612-5A15-D207-3F89094E7C2A}"/>
              </a:ext>
            </a:extLst>
          </p:cNvPr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91C333A-5333-A632-DB88-91780F481975}"/>
              </a:ext>
            </a:extLst>
          </p:cNvPr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0DC8802-4E2F-77A9-F5F1-721BDC493D58}"/>
              </a:ext>
            </a:extLst>
          </p:cNvPr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CF742C9-E9C3-9732-7831-09D332006DBF}"/>
              </a:ext>
            </a:extLst>
          </p:cNvPr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EF27705-9A0A-2C94-882A-056DE3169E97}"/>
              </a:ext>
            </a:extLst>
          </p:cNvPr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5F32DBE-2CE2-B005-0A84-45AE20C93F0C}"/>
              </a:ext>
            </a:extLst>
          </p:cNvPr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932D3C1-8ECA-C742-45BE-84215B84BAA8}"/>
              </a:ext>
            </a:extLst>
          </p:cNvPr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E57FD25-ACF9-2257-E297-7679A24F95EE}"/>
              </a:ext>
            </a:extLst>
          </p:cNvPr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FDD2ECE-7189-5550-7616-9A33F86B8219}"/>
              </a:ext>
            </a:extLst>
          </p:cNvPr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DC03A70-6F5A-95E3-0165-E891AF43DD66}"/>
              </a:ext>
            </a:extLst>
          </p:cNvPr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676F602-7019-0F4F-E424-A9D444E20BC2}"/>
              </a:ext>
            </a:extLst>
          </p:cNvPr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3836734-8FAB-386A-97BF-DAA325C2B5DD}"/>
              </a:ext>
            </a:extLst>
          </p:cNvPr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40B19F2-8EA9-89A3-2255-335924C2FEAF}"/>
              </a:ext>
            </a:extLst>
          </p:cNvPr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4D3A308-6461-F2A8-8EA9-61F5E5E585FF}"/>
              </a:ext>
            </a:extLst>
          </p:cNvPr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6691133-8B61-88C1-0AE5-F9D4A3B31AB2}"/>
              </a:ext>
            </a:extLst>
          </p:cNvPr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A2626E0-091C-622B-2B7A-2543AE42A953}"/>
              </a:ext>
            </a:extLst>
          </p:cNvPr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434E2DB-D6A7-F85C-69CF-4D98612A302F}"/>
              </a:ext>
            </a:extLst>
          </p:cNvPr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D09097A6-4381-D512-AC50-07050C11C174}"/>
              </a:ext>
            </a:extLst>
          </p:cNvPr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4DDE52F-9A77-431B-B0A7-9D71883913D6}"/>
              </a:ext>
            </a:extLst>
          </p:cNvPr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43C914F0-A349-2437-30B3-14AF92075FE7}"/>
              </a:ext>
            </a:extLst>
          </p:cNvPr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E337981-032B-0774-3D87-1B0A45C4DD9A}"/>
              </a:ext>
            </a:extLst>
          </p:cNvPr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C207E7D1-1599-B7C2-CA77-4A46253DD1CC}"/>
              </a:ext>
            </a:extLst>
          </p:cNvPr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97AA0025-C976-97A9-7F95-73B7A24CCA29}"/>
              </a:ext>
            </a:extLst>
          </p:cNvPr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865F04B1-E209-328F-9A3D-C24E8599FD7D}"/>
              </a:ext>
            </a:extLst>
          </p:cNvPr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22DAA9C-BA3E-E289-144B-E59F8ADD8634}"/>
              </a:ext>
            </a:extLst>
          </p:cNvPr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350354AD-6948-D28E-D963-3E3EBF7FF7BD}"/>
              </a:ext>
            </a:extLst>
          </p:cNvPr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6A281D03-A3E3-0AEF-3903-A57559B5A7CC}"/>
              </a:ext>
            </a:extLst>
          </p:cNvPr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59CDA3EB-09F6-5ECB-D547-B289A206187C}"/>
              </a:ext>
            </a:extLst>
          </p:cNvPr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E8CE8524-0100-DCB2-11D2-661286897F16}"/>
              </a:ext>
            </a:extLst>
          </p:cNvPr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18DEDCAD-4120-D98C-9B6F-D9BA0A9A5A1E}"/>
              </a:ext>
            </a:extLst>
          </p:cNvPr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71C65F3C-BF13-5CE6-50E5-48E1B7B5DFCC}"/>
              </a:ext>
            </a:extLst>
          </p:cNvPr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Notebook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97728423-5D88-3E8D-2364-ECDCD7F471B1}"/>
              </a:ext>
            </a:extLst>
          </p:cNvPr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Interactive querying in VS Code</a:t>
            </a: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6E2B2652-787D-0D4E-DFEC-8902805D8CD0}"/>
              </a:ext>
            </a:extLst>
          </p:cNvPr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C5AC4A65-1C71-A49A-3AF8-62601FF6A1EC}"/>
              </a:ext>
            </a:extLst>
          </p:cNvPr>
          <p:cNvSpPr/>
          <p:nvPr/>
        </p:nvSpPr>
        <p:spPr>
          <a:xfrm>
            <a:off x="1657350" y="3163824"/>
            <a:ext cx="4445000" cy="0"/>
          </a:xfrm>
          <a:prstGeom prst="line">
            <a:avLst/>
          </a:prstGeom>
          <a:noFill/>
          <a:ln w="28575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35F111A4-E50C-AFAC-81BB-B8BBDE00FF25}"/>
              </a:ext>
            </a:extLst>
          </p:cNvPr>
          <p:cNvSpPr/>
          <p:nvPr/>
        </p:nvSpPr>
        <p:spPr>
          <a:xfrm>
            <a:off x="1651000" y="3163824"/>
            <a:ext cx="0" cy="0"/>
          </a:xfrm>
          <a:prstGeom prst="line">
            <a:avLst/>
          </a:prstGeom>
          <a:noFill/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5FC598D7-6D82-2FE4-A7AA-794D31F5E8A0}"/>
              </a:ext>
            </a:extLst>
          </p:cNvPr>
          <p:cNvSpPr/>
          <p:nvPr/>
        </p:nvSpPr>
        <p:spPr>
          <a:xfrm>
            <a:off x="1365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41807BD1-3885-7128-8944-83AC3D2F080F}"/>
              </a:ext>
            </a:extLst>
          </p:cNvPr>
          <p:cNvSpPr/>
          <p:nvPr/>
        </p:nvSpPr>
        <p:spPr>
          <a:xfrm>
            <a:off x="136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4FF189C3-155D-1172-5CEF-E5B5C1EBE287}"/>
              </a:ext>
            </a:extLst>
          </p:cNvPr>
          <p:cNvSpPr/>
          <p:nvPr/>
        </p:nvSpPr>
        <p:spPr>
          <a:xfrm>
            <a:off x="86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D6FB664B-AEB3-9293-41FE-311BEB87278D}"/>
              </a:ext>
            </a:extLst>
          </p:cNvPr>
          <p:cNvSpPr/>
          <p:nvPr/>
        </p:nvSpPr>
        <p:spPr>
          <a:xfrm>
            <a:off x="35877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B4559F0D-3AA5-37C4-5EDF-7CF3BEB1D8E9}"/>
              </a:ext>
            </a:extLst>
          </p:cNvPr>
          <p:cNvSpPr/>
          <p:nvPr/>
        </p:nvSpPr>
        <p:spPr>
          <a:xfrm>
            <a:off x="3587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491E16DD-0175-5D72-0046-B1F53A34CDD8}"/>
              </a:ext>
            </a:extLst>
          </p:cNvPr>
          <p:cNvSpPr/>
          <p:nvPr/>
        </p:nvSpPr>
        <p:spPr>
          <a:xfrm>
            <a:off x="3086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Desktop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FDEA20C0-842E-5ABA-A6DC-71DAEDF1527F}"/>
              </a:ext>
            </a:extLst>
          </p:cNvPr>
          <p:cNvSpPr/>
          <p:nvPr/>
        </p:nvSpPr>
        <p:spPr>
          <a:xfrm>
            <a:off x="5810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7CA17F0B-8FB8-DCDE-92C6-F915150F0274}"/>
              </a:ext>
            </a:extLst>
          </p:cNvPr>
          <p:cNvSpPr/>
          <p:nvPr/>
        </p:nvSpPr>
        <p:spPr>
          <a:xfrm>
            <a:off x="5810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711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6603908B-E714-74B1-8B17-CEC8E6790FB5}"/>
              </a:ext>
            </a:extLst>
          </p:cNvPr>
          <p:cNvSpPr/>
          <p:nvPr/>
        </p:nvSpPr>
        <p:spPr>
          <a:xfrm>
            <a:off x="5308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Notebook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D92AF575-43F8-E123-C625-5F54E67C5196}"/>
              </a:ext>
            </a:extLst>
          </p:cNvPr>
          <p:cNvSpPr/>
          <p:nvPr/>
        </p:nvSpPr>
        <p:spPr>
          <a:xfrm>
            <a:off x="80327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8227BE9C-AA3B-D1F6-58AC-84953BFD2EC7}"/>
              </a:ext>
            </a:extLst>
          </p:cNvPr>
          <p:cNvSpPr/>
          <p:nvPr/>
        </p:nvSpPr>
        <p:spPr>
          <a:xfrm>
            <a:off x="8032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2E415A3A-31E0-CC46-E58F-3850D791CB70}"/>
              </a:ext>
            </a:extLst>
          </p:cNvPr>
          <p:cNvSpPr/>
          <p:nvPr/>
        </p:nvSpPr>
        <p:spPr>
          <a:xfrm>
            <a:off x="7531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250D0210-4285-4721-B0C2-1EB7B1FA3119}"/>
              </a:ext>
            </a:extLst>
          </p:cNvPr>
          <p:cNvSpPr/>
          <p:nvPr/>
        </p:nvSpPr>
        <p:spPr>
          <a:xfrm>
            <a:off x="102552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1A4C0F36-937E-E9A1-8888-D194E5F8748D}"/>
              </a:ext>
            </a:extLst>
          </p:cNvPr>
          <p:cNvSpPr/>
          <p:nvPr/>
        </p:nvSpPr>
        <p:spPr>
          <a:xfrm>
            <a:off x="1025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61573B25-96B9-1A7D-12CB-8C9E454552C8}"/>
              </a:ext>
            </a:extLst>
          </p:cNvPr>
          <p:cNvSpPr/>
          <p:nvPr/>
        </p:nvSpPr>
        <p:spPr>
          <a:xfrm>
            <a:off x="975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BF421FA4-FC3E-1F28-46D7-619237A282E6}"/>
              </a:ext>
            </a:extLst>
          </p:cNvPr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327AC313-1302-0D4B-2B31-D4C24D1BF222}"/>
              </a:ext>
            </a:extLst>
          </p:cNvPr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B9CD2FB2-6D1A-52C7-D1EE-BC5762723EAE}"/>
              </a:ext>
            </a:extLst>
          </p:cNvPr>
          <p:cNvSpPr/>
          <p:nvPr/>
        </p:nvSpPr>
        <p:spPr>
          <a:xfrm>
            <a:off x="19476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Notebook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A1738D95-DC1A-CA65-F693-5BA6A67CA4BC}"/>
              </a:ext>
            </a:extLst>
          </p:cNvPr>
          <p:cNvSpPr/>
          <p:nvPr/>
        </p:nvSpPr>
        <p:spPr>
          <a:xfrm>
            <a:off x="19659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Interactive querying in VS Code</a:t>
            </a: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5260CF04-B9E5-8B5F-6173-3F583BCED91E}"/>
              </a:ext>
            </a:extLst>
          </p:cNvPr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Fabric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2789809A-729D-EFDB-4523-58E0A5CBE8B3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764688DA-02B8-6D85-48A7-42C519A79140}"/>
              </a:ext>
            </a:extLst>
          </p:cNvPr>
          <p:cNvSpPr/>
          <p:nvPr/>
        </p:nvSpPr>
        <p:spPr>
          <a:xfrm>
            <a:off x="713232" y="5925312"/>
            <a:ext cx="5372100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35EDB1-04E8-4876-9B56-AE865218EBF9}"/>
              </a:ext>
            </a:extLst>
          </p:cNvPr>
          <p:cNvSpPr txBox="1"/>
          <p:nvPr/>
        </p:nvSpPr>
        <p:spPr>
          <a:xfrm>
            <a:off x="713740" y="6200140"/>
            <a:ext cx="402336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50">
                <a:solidFill>
                  <a:srgbClr val="64748B"/>
                </a:solidFill>
                <a:latin typeface="Aptos"/>
              </a:rPr>
              <a:t>DuckDB 101: From Desktop to Notebook</a:t>
            </a:r>
          </a:p>
        </p:txBody>
      </p:sp>
    </p:spTree>
    <p:extLst>
      <p:ext uri="{BB962C8B-B14F-4D97-AF65-F5344CB8AC3E}">
        <p14:creationId xmlns:p14="http://schemas.microsoft.com/office/powerpoint/2010/main" val="16449494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69848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notebooks?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87552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</a:rPr>
              <a:t>A notebook is not a new system. It is another interface to the same environment.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4754880" cy="2540000"/>
          </a:xfrm>
          <a:prstGeom prst="roundRect">
            <a:avLst>
              <a:gd name="adj" fmla="val 5517"/>
            </a:avLst>
          </a:prstGeom>
          <a:noFill/>
          <a:ln w="19050">
            <a:solidFill>
              <a:srgbClr val="FFF1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24128" y="1764792"/>
            <a:ext cx="4352544" cy="24688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100"/>
                </a:solidFill>
              </a:rPr>
              <a:t>Scripts are great for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24128" y="2146300"/>
            <a:ext cx="4352544" cy="18415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>
              <a:lnSpc>
                <a:spcPct val="120000"/>
              </a:lnSpc>
              <a:spcAft>
                <a:spcPts val="400"/>
              </a:spcAft>
              <a:buFont typeface="Arial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Repeatable, automated execution</a:t>
            </a:r>
          </a:p>
          <a:p>
            <a:pPr marL="228600" indent="-228600">
              <a:lnSpc>
                <a:spcPct val="120000"/>
              </a:lnSpc>
              <a:spcAft>
                <a:spcPts val="400"/>
              </a:spcAft>
              <a:buFont typeface="Arial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Clean, version-controlled logic</a:t>
            </a:r>
          </a:p>
          <a:p>
            <a:pPr marL="228600" indent="-228600">
              <a:lnSpc>
                <a:spcPct val="120000"/>
              </a:lnSpc>
              <a:spcAft>
                <a:spcPts val="400"/>
              </a:spcAft>
              <a:buFont typeface="Arial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Production pipelines and scheduled jobs</a:t>
            </a:r>
          </a:p>
          <a:p>
            <a:pPr marL="228600" indent="-228600">
              <a:lnSpc>
                <a:spcPct val="120000"/>
              </a:lnSpc>
              <a:spcAft>
                <a:spcPts val="400"/>
              </a:spcAft>
              <a:buFont typeface="Arial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Reproducible runs from a known state</a:t>
            </a:r>
          </a:p>
        </p:txBody>
      </p:sp>
      <p:sp>
        <p:nvSpPr>
          <p:cNvPr id="9" name="Shape 7"/>
          <p:cNvSpPr/>
          <p:nvPr/>
        </p:nvSpPr>
        <p:spPr>
          <a:xfrm>
            <a:off x="6400800" y="1600200"/>
            <a:ext cx="4754880" cy="2540000"/>
          </a:xfrm>
          <a:prstGeom prst="roundRect">
            <a:avLst>
              <a:gd name="adj" fmla="val 5517"/>
            </a:avLst>
          </a:prstGeom>
          <a:noFill/>
          <a:ln w="19050">
            <a:solidFill>
              <a:srgbClr val="FFF1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601968" y="1764792"/>
            <a:ext cx="4352544" cy="24688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100"/>
                </a:solidFill>
              </a:rPr>
              <a:t>Notebooks are great for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01968" y="2146300"/>
            <a:ext cx="4352544" cy="18415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>
              <a:lnSpc>
                <a:spcPct val="120000"/>
              </a:lnSpc>
              <a:spcAft>
                <a:spcPts val="400"/>
              </a:spcAft>
              <a:buFont typeface="Arial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Step-by-step exploration of files and data</a:t>
            </a:r>
          </a:p>
          <a:p>
            <a:pPr marL="228600" indent="-228600">
              <a:lnSpc>
                <a:spcPct val="120000"/>
              </a:lnSpc>
              <a:spcAft>
                <a:spcPts val="400"/>
              </a:spcAft>
              <a:buFont typeface="Arial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Teaching, demos, and live walkthroughs</a:t>
            </a:r>
          </a:p>
          <a:p>
            <a:pPr marL="228600" indent="-228600">
              <a:lnSpc>
                <a:spcPct val="120000"/>
              </a:lnSpc>
              <a:spcAft>
                <a:spcPts val="400"/>
              </a:spcAft>
              <a:buFont typeface="Arial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Visible results next to the SQL that made them</a:t>
            </a:r>
          </a:p>
          <a:p>
            <a:pPr marL="228600" indent="-228600">
              <a:lnSpc>
                <a:spcPct val="120000"/>
              </a:lnSpc>
              <a:spcAft>
                <a:spcPts val="400"/>
              </a:spcAft>
              <a:buFont typeface="Arial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Quick iteration when shape and intent are still evolving</a:t>
            </a:r>
          </a:p>
        </p:txBody>
      </p:sp>
      <p:sp>
        <p:nvSpPr>
          <p:cNvPr id="12" name="Shape 10"/>
          <p:cNvSpPr/>
          <p:nvPr/>
        </p:nvSpPr>
        <p:spPr>
          <a:xfrm>
            <a:off x="1463040" y="4572000"/>
            <a:ext cx="54864" cy="82550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664208" y="4622800"/>
            <a:ext cx="8961120" cy="736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Same environment. Same DuckDB. Different interaction model.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1592798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4D0AA1-4F52-4F80-BB9D-7F7535BCDB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99B053-AB8E-4389-9679-C1108E1E0F1A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F1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CFC6DD-7931-45BD-B979-D4C458A11B02}"/>
              </a:ext>
            </a:extLst>
          </p:cNvPr>
          <p:cNvSpPr txBox="1"/>
          <p:nvPr/>
        </p:nvSpPr>
        <p:spPr>
          <a:xfrm>
            <a:off x="1016000" y="2540000"/>
            <a:ext cx="1016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2400" b="1">
                <a:solidFill>
                  <a:srgbClr val="FFF100"/>
                </a:solidFill>
                <a:latin typeface="Aptos"/>
              </a:rPr>
              <a:t>DEMO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B5EB8F-7B06-46B0-9F98-3E2704BBE386}"/>
              </a:ext>
            </a:extLst>
          </p:cNvPr>
          <p:cNvSpPr txBox="1"/>
          <p:nvPr/>
        </p:nvSpPr>
        <p:spPr>
          <a:xfrm>
            <a:off x="1016000" y="3111500"/>
            <a:ext cx="10160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7200" b="1">
                <a:solidFill>
                  <a:srgbClr val="F8FAFC"/>
                </a:solidFill>
                <a:latin typeface="Aptos Display"/>
              </a:rPr>
              <a:t>Notebook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9CD3F7-2A39-40DD-918C-0CFB3E5F2A63}"/>
              </a:ext>
            </a:extLst>
          </p:cNvPr>
          <p:cNvSpPr/>
          <p:nvPr/>
        </p:nvSpPr>
        <p:spPr>
          <a:xfrm>
            <a:off x="5461000" y="4699000"/>
            <a:ext cx="1270000" cy="38100"/>
          </a:xfrm>
          <a:prstGeom prst="rect">
            <a:avLst/>
          </a:prstGeom>
          <a:solidFill>
            <a:srgbClr val="FFF1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674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BD329A-F09D-7839-3CC2-9BEDBB2BB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48A51DE-0961-8955-A2C8-600E585FE36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C10F78E-F4D1-42ED-8924-253D123875AA}"/>
              </a:ext>
            </a:extLst>
          </p:cNvPr>
          <p:cNvSpPr/>
          <p:nvPr/>
        </p:nvSpPr>
        <p:spPr>
          <a:xfrm>
            <a:off x="8324850" y="3143250"/>
            <a:ext cx="2222500" cy="38100"/>
          </a:xfrm>
          <a:prstGeom prst="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9169E00-457F-0B00-BE21-69047F77EC38}"/>
              </a:ext>
            </a:extLst>
          </p:cNvPr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C4A53B4-9471-6DAD-8134-AAF6C4DDF8D4}"/>
              </a:ext>
            </a:extLst>
          </p:cNvPr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5534110-CE92-AC19-EEDC-09B3BE395B04}"/>
              </a:ext>
            </a:extLst>
          </p:cNvPr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C7CD0DF-877B-E32F-1F57-6E8574F687BF}"/>
              </a:ext>
            </a:extLst>
          </p:cNvPr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4C3A29C-9F2F-D1F1-40A6-42FD4866C161}"/>
              </a:ext>
            </a:extLst>
          </p:cNvPr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C889630-33E0-9DD9-E228-D4502990F732}"/>
              </a:ext>
            </a:extLst>
          </p:cNvPr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6C56997-FE93-814B-6686-7FDA25AF6926}"/>
              </a:ext>
            </a:extLst>
          </p:cNvPr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9306CDA-2308-794F-75A8-E62C376345E2}"/>
              </a:ext>
            </a:extLst>
          </p:cNvPr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558C471-7E94-B353-470B-951E530F5DE6}"/>
              </a:ext>
            </a:extLst>
          </p:cNvPr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462EA20-C19E-1B96-370F-5D89EADE21EE}"/>
              </a:ext>
            </a:extLst>
          </p:cNvPr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80F637E-E13C-4382-FF48-CDC30C1E5270}"/>
              </a:ext>
            </a:extLst>
          </p:cNvPr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93A698F-1400-7756-08E3-4F3C4857C4BE}"/>
              </a:ext>
            </a:extLst>
          </p:cNvPr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46EA368-DADA-75A7-001F-992288621F72}"/>
              </a:ext>
            </a:extLst>
          </p:cNvPr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C954763-5B7A-2055-0355-8EB4700B00D0}"/>
              </a:ext>
            </a:extLst>
          </p:cNvPr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4A97A1B-A60E-013E-94FA-A5D7EEC38953}"/>
              </a:ext>
            </a:extLst>
          </p:cNvPr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12403E8-43C2-EDCC-2058-CD5CD2024283}"/>
              </a:ext>
            </a:extLst>
          </p:cNvPr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2780F0F-45C2-E04A-176F-673B0768BBF6}"/>
              </a:ext>
            </a:extLst>
          </p:cNvPr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7369EDC-6487-06C3-4226-8D76DD0EDB75}"/>
              </a:ext>
            </a:extLst>
          </p:cNvPr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6C054CC-2399-F913-B500-6EE17A3A8B9C}"/>
              </a:ext>
            </a:extLst>
          </p:cNvPr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173D657D-F25F-2F6B-44EC-167A10F12DA1}"/>
              </a:ext>
            </a:extLst>
          </p:cNvPr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833D89D-0166-1C91-0CAC-6344222174EC}"/>
              </a:ext>
            </a:extLst>
          </p:cNvPr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33382B2B-1BAD-9EBB-BBA6-FED5291C7E72}"/>
              </a:ext>
            </a:extLst>
          </p:cNvPr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68DBD4BD-95BD-37F9-1575-C4EAEFCBA138}"/>
              </a:ext>
            </a:extLst>
          </p:cNvPr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2FEE6BDC-EB53-F674-34E3-AE7BDEFABD5F}"/>
              </a:ext>
            </a:extLst>
          </p:cNvPr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50CD8E7-44AD-DDF7-1956-76FA030ADEA7}"/>
              </a:ext>
            </a:extLst>
          </p:cNvPr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F3D69D1A-C0DB-0A6E-2C02-82B528FF14F9}"/>
              </a:ext>
            </a:extLst>
          </p:cNvPr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E38CDD2D-02EF-AEE6-B9E4-921E783E560E}"/>
              </a:ext>
            </a:extLst>
          </p:cNvPr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B7D11E93-0F9C-9BE7-0ADB-A2FAF89EBAD8}"/>
              </a:ext>
            </a:extLst>
          </p:cNvPr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E0299D56-D472-C49D-2D30-3B159B66A896}"/>
              </a:ext>
            </a:extLst>
          </p:cNvPr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8DD1AC6D-B5A6-8E2D-2314-50AB29EB0B20}"/>
              </a:ext>
            </a:extLst>
          </p:cNvPr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477DC7E7-1D8F-8A63-D840-C21AC7BD3A57}"/>
              </a:ext>
            </a:extLst>
          </p:cNvPr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9628D2B3-3252-45F0-D6B5-B86245855C2A}"/>
              </a:ext>
            </a:extLst>
          </p:cNvPr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AF4202FD-73C3-264F-67CC-4F5ABF422878}"/>
              </a:ext>
            </a:extLst>
          </p:cNvPr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Fabric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2A0FC006-1F44-C14C-18AC-17B5940307DB}"/>
              </a:ext>
            </a:extLst>
          </p:cNvPr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Fabric Notebook — plus a note on Power BI</a:t>
            </a: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9223FC7A-B30A-08C3-C9EE-F4AD419C3DEA}"/>
              </a:ext>
            </a:extLst>
          </p:cNvPr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C1AD30A2-3096-0D24-2E67-B5459004E2D1}"/>
              </a:ext>
            </a:extLst>
          </p:cNvPr>
          <p:cNvSpPr/>
          <p:nvPr/>
        </p:nvSpPr>
        <p:spPr>
          <a:xfrm>
            <a:off x="1657350" y="3163824"/>
            <a:ext cx="6667500" cy="0"/>
          </a:xfrm>
          <a:prstGeom prst="line">
            <a:avLst/>
          </a:prstGeom>
          <a:noFill/>
          <a:ln w="28575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CF73EBA4-C5D0-51C4-2A6E-972EF64599A8}"/>
              </a:ext>
            </a:extLst>
          </p:cNvPr>
          <p:cNvSpPr/>
          <p:nvPr/>
        </p:nvSpPr>
        <p:spPr>
          <a:xfrm>
            <a:off x="1651000" y="3163824"/>
            <a:ext cx="0" cy="0"/>
          </a:xfrm>
          <a:prstGeom prst="line">
            <a:avLst/>
          </a:prstGeom>
          <a:noFill/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51A78CE2-4F11-F619-1321-1020BC036ED5}"/>
              </a:ext>
            </a:extLst>
          </p:cNvPr>
          <p:cNvSpPr/>
          <p:nvPr/>
        </p:nvSpPr>
        <p:spPr>
          <a:xfrm>
            <a:off x="1365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AC901D6A-7E08-AA20-A11F-15392E53EEBB}"/>
              </a:ext>
            </a:extLst>
          </p:cNvPr>
          <p:cNvSpPr/>
          <p:nvPr/>
        </p:nvSpPr>
        <p:spPr>
          <a:xfrm>
            <a:off x="136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AD52089F-49A0-A80B-43B8-D250FC51F26A}"/>
              </a:ext>
            </a:extLst>
          </p:cNvPr>
          <p:cNvSpPr/>
          <p:nvPr/>
        </p:nvSpPr>
        <p:spPr>
          <a:xfrm>
            <a:off x="86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EC06488D-367A-3441-5A28-A847BEF6547F}"/>
              </a:ext>
            </a:extLst>
          </p:cNvPr>
          <p:cNvSpPr/>
          <p:nvPr/>
        </p:nvSpPr>
        <p:spPr>
          <a:xfrm>
            <a:off x="35877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9F2C5295-006C-4B66-B181-3D2FA4AD7A9C}"/>
              </a:ext>
            </a:extLst>
          </p:cNvPr>
          <p:cNvSpPr/>
          <p:nvPr/>
        </p:nvSpPr>
        <p:spPr>
          <a:xfrm>
            <a:off x="3587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5E8AC2C0-E344-7C64-65C0-09C10A89C49C}"/>
              </a:ext>
            </a:extLst>
          </p:cNvPr>
          <p:cNvSpPr/>
          <p:nvPr/>
        </p:nvSpPr>
        <p:spPr>
          <a:xfrm>
            <a:off x="3086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Desktop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72FE39FA-1718-3836-E0BE-CDF66EF254B3}"/>
              </a:ext>
            </a:extLst>
          </p:cNvPr>
          <p:cNvSpPr/>
          <p:nvPr/>
        </p:nvSpPr>
        <p:spPr>
          <a:xfrm>
            <a:off x="5810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682991AF-7F24-EE4D-535A-EA5B18313308}"/>
              </a:ext>
            </a:extLst>
          </p:cNvPr>
          <p:cNvSpPr/>
          <p:nvPr/>
        </p:nvSpPr>
        <p:spPr>
          <a:xfrm>
            <a:off x="5810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11B87D7F-EF00-A39B-B779-841C619C10BB}"/>
              </a:ext>
            </a:extLst>
          </p:cNvPr>
          <p:cNvSpPr/>
          <p:nvPr/>
        </p:nvSpPr>
        <p:spPr>
          <a:xfrm>
            <a:off x="5308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Notebook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9297A0AA-07DC-8F2B-E7CF-F917878A6749}"/>
              </a:ext>
            </a:extLst>
          </p:cNvPr>
          <p:cNvSpPr/>
          <p:nvPr/>
        </p:nvSpPr>
        <p:spPr>
          <a:xfrm>
            <a:off x="80327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860404D2-9536-7213-B065-8C803784C0A0}"/>
              </a:ext>
            </a:extLst>
          </p:cNvPr>
          <p:cNvSpPr/>
          <p:nvPr/>
        </p:nvSpPr>
        <p:spPr>
          <a:xfrm>
            <a:off x="8032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711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79B74608-D8F8-532D-A301-AE508D7E1972}"/>
              </a:ext>
            </a:extLst>
          </p:cNvPr>
          <p:cNvSpPr/>
          <p:nvPr/>
        </p:nvSpPr>
        <p:spPr>
          <a:xfrm>
            <a:off x="7531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796D63DE-4F11-1768-5CDD-D13DC9C936E1}"/>
              </a:ext>
            </a:extLst>
          </p:cNvPr>
          <p:cNvSpPr/>
          <p:nvPr/>
        </p:nvSpPr>
        <p:spPr>
          <a:xfrm>
            <a:off x="102552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308EA870-D6F6-CAB4-0813-89EB3D6CC3F3}"/>
              </a:ext>
            </a:extLst>
          </p:cNvPr>
          <p:cNvSpPr/>
          <p:nvPr/>
        </p:nvSpPr>
        <p:spPr>
          <a:xfrm>
            <a:off x="1025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CF093BCB-9D08-13CF-7924-7B82EE17748D}"/>
              </a:ext>
            </a:extLst>
          </p:cNvPr>
          <p:cNvSpPr/>
          <p:nvPr/>
        </p:nvSpPr>
        <p:spPr>
          <a:xfrm>
            <a:off x="975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1AFBC58E-DEE9-2B22-0908-7E9EF1FBE0F5}"/>
              </a:ext>
            </a:extLst>
          </p:cNvPr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5CCCF7DC-3520-9C53-F9DE-51F17BBECEA2}"/>
              </a:ext>
            </a:extLst>
          </p:cNvPr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DE382F47-702D-C6D6-60FE-AA8AB57934C0}"/>
              </a:ext>
            </a:extLst>
          </p:cNvPr>
          <p:cNvSpPr/>
          <p:nvPr/>
        </p:nvSpPr>
        <p:spPr>
          <a:xfrm>
            <a:off x="19476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Fabric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5B2222B4-5291-BC4A-D7F7-89EFCA9CAB43}"/>
              </a:ext>
            </a:extLst>
          </p:cNvPr>
          <p:cNvSpPr/>
          <p:nvPr/>
        </p:nvSpPr>
        <p:spPr>
          <a:xfrm>
            <a:off x="19659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Fabric Notebook — plus a note on Power BI</a:t>
            </a: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2118FF7B-F986-5C83-7EE5-E550A14B5408}"/>
              </a:ext>
            </a:extLst>
          </p:cNvPr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Wrap-Up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BCD88D1D-4B18-D9D6-D305-66C046331C7B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669E08B3-7255-F039-A435-D0A3924D39AF}"/>
              </a:ext>
            </a:extLst>
          </p:cNvPr>
          <p:cNvSpPr/>
          <p:nvPr/>
        </p:nvSpPr>
        <p:spPr>
          <a:xfrm>
            <a:off x="713232" y="5925312"/>
            <a:ext cx="8953500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45D83E-8177-4383-8E73-CAC5C3C2729D}"/>
              </a:ext>
            </a:extLst>
          </p:cNvPr>
          <p:cNvSpPr txBox="1"/>
          <p:nvPr/>
        </p:nvSpPr>
        <p:spPr>
          <a:xfrm>
            <a:off x="713740" y="6200140"/>
            <a:ext cx="402336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50">
                <a:solidFill>
                  <a:srgbClr val="64748B"/>
                </a:solidFill>
                <a:latin typeface="Aptos"/>
              </a:rPr>
              <a:t>DuckDB 101: From Desktop to Notebook</a:t>
            </a:r>
          </a:p>
        </p:txBody>
      </p:sp>
    </p:spTree>
    <p:extLst>
      <p:ext uri="{BB962C8B-B14F-4D97-AF65-F5344CB8AC3E}">
        <p14:creationId xmlns:p14="http://schemas.microsoft.com/office/powerpoint/2010/main" val="2260351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985"/>
            <a:endParaRPr sz="15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985"/>
            <a:endParaRPr sz="15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501" y="495300"/>
            <a:ext cx="322678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380985"/>
            <a:r>
              <a:rPr sz="3000" b="1">
                <a:solidFill>
                  <a:srgbClr val="FFFFFF"/>
                </a:solidFill>
                <a:latin typeface="Calibri"/>
              </a:rPr>
              <a:t>Power BI + DuckDB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28700"/>
            <a:ext cx="5393336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380985"/>
            <a:r>
              <a:rPr sz="1333">
                <a:solidFill>
                  <a:srgbClr val="F8FAFC"/>
                </a:solidFill>
                <a:latin typeface="Calibri"/>
              </a:rPr>
              <a:t>Use DuckDB before the model — not necessarily as the model’s live source.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43256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985"/>
            <a:endParaRPr sz="15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09600" y="1714500"/>
            <a:ext cx="4038600" cy="3810000"/>
          </a:xfrm>
          <a:prstGeom prst="roundRect">
            <a:avLst/>
          </a:prstGeom>
          <a:solidFill>
            <a:srgbClr val="070B16"/>
          </a:solidFill>
          <a:ln w="15240">
            <a:solidFill>
              <a:srgbClr val="FFF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985"/>
            <a:endParaRPr sz="15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8200" y="1943100"/>
            <a:ext cx="3581400" cy="374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80985"/>
            <a:r>
              <a:rPr sz="1900" b="1">
                <a:solidFill>
                  <a:srgbClr val="FFF100"/>
                </a:solidFill>
                <a:latin typeface="Calibri"/>
              </a:rPr>
              <a:t>Power BI 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438400"/>
            <a:ext cx="3581400" cy="96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80985"/>
            <a:r>
              <a:rPr sz="1600">
                <a:solidFill>
                  <a:srgbClr val="FFFFFF"/>
                </a:solidFill>
                <a:latin typeface="Calibri"/>
              </a:rPr>
              <a:t>DuckDB is usually most valuable as a prep, profiling, and validation tool before Power BI imports the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530600"/>
            <a:ext cx="35814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80985">
              <a:spcAft>
                <a:spcPts val="667"/>
              </a:spcAft>
              <a:defRPr sz="1600">
                <a:solidFill>
                  <a:srgbClr val="F8FAFC"/>
                </a:solidFill>
              </a:defRPr>
            </a:pPr>
            <a:r>
              <a:rPr sz="1700">
                <a:solidFill>
                  <a:srgbClr val="F8FAFC"/>
                </a:solidFill>
                <a:latin typeface="Calibri"/>
              </a:rPr>
              <a:t>Inspect large CSV / Parquet files</a:t>
            </a:r>
          </a:p>
          <a:p>
            <a:pPr defTabSz="380985">
              <a:spcAft>
                <a:spcPts val="667"/>
              </a:spcAft>
              <a:defRPr sz="1600">
                <a:solidFill>
                  <a:srgbClr val="F8FAFC"/>
                </a:solidFill>
              </a:defRPr>
            </a:pPr>
            <a:r>
              <a:rPr sz="1700">
                <a:solidFill>
                  <a:srgbClr val="F8FAFC"/>
                </a:solidFill>
                <a:latin typeface="Calibri"/>
              </a:rPr>
              <a:t>Prototype SQL transformations locally</a:t>
            </a:r>
          </a:p>
          <a:p>
            <a:pPr defTabSz="380985">
              <a:spcAft>
                <a:spcPts val="667"/>
              </a:spcAft>
              <a:defRPr sz="1600">
                <a:solidFill>
                  <a:srgbClr val="F8FAFC"/>
                </a:solidFill>
              </a:defRPr>
            </a:pPr>
            <a:r>
              <a:rPr sz="1700">
                <a:solidFill>
                  <a:srgbClr val="F8FAFC"/>
                </a:solidFill>
                <a:latin typeface="Calibri"/>
              </a:rPr>
              <a:t>Export cleaner, typed Parquet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5105400"/>
            <a:ext cx="3810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80985"/>
            <a:r>
              <a:rPr sz="1400" b="1">
                <a:solidFill>
                  <a:srgbClr val="FFF100"/>
                </a:solidFill>
                <a:latin typeface="Calibri"/>
              </a:rPr>
              <a:t>Practical message: DuckDB before Power BI.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43500" y="1778000"/>
            <a:ext cx="1498600" cy="1371600"/>
          </a:xfrm>
          <a:prstGeom prst="roundRect">
            <a:avLst/>
          </a:prstGeom>
          <a:solidFill>
            <a:srgbClr val="1A2540"/>
          </a:solidFill>
          <a:ln w="15240">
            <a:solidFill>
              <a:srgbClr val="1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985"/>
            <a:endParaRPr sz="15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57800" y="1981200"/>
            <a:ext cx="1270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80985"/>
            <a:r>
              <a:rPr sz="1500" b="1">
                <a:solidFill>
                  <a:srgbClr val="FFFFFF"/>
                </a:solidFill>
                <a:latin typeface="Calibri"/>
              </a:rPr>
              <a:t>Raw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362200"/>
            <a:ext cx="12700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80985"/>
            <a:r>
              <a:rPr sz="1200">
                <a:solidFill>
                  <a:srgbClr val="F8FAFC"/>
                </a:solidFill>
                <a:latin typeface="Calibri"/>
              </a:rPr>
              <a:t>CSV / JSON / Parquet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80200" y="2463800"/>
            <a:ext cx="76200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794500" y="1778000"/>
            <a:ext cx="1498600" cy="1371600"/>
          </a:xfrm>
          <a:prstGeom prst="roundRect">
            <a:avLst/>
          </a:prstGeom>
          <a:solidFill>
            <a:srgbClr val="1A2540"/>
          </a:solidFill>
          <a:ln w="15240">
            <a:solidFill>
              <a:srgbClr val="FFF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985"/>
            <a:endParaRPr sz="15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08800" y="1981200"/>
            <a:ext cx="1270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80985"/>
            <a:r>
              <a:rPr sz="1500" b="1">
                <a:solidFill>
                  <a:srgbClr val="FFF100"/>
                </a:solidFill>
                <a:latin typeface="Calibri"/>
              </a:rPr>
              <a:t>DuckDB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8800" y="2362200"/>
            <a:ext cx="12700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80985"/>
            <a:r>
              <a:rPr sz="1200">
                <a:solidFill>
                  <a:srgbClr val="F8FAFC"/>
                </a:solidFill>
                <a:latin typeface="Calibri"/>
              </a:rPr>
              <a:t>inspect • profile • reshape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31200" y="2463800"/>
            <a:ext cx="76200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445500" y="1778000"/>
            <a:ext cx="1498600" cy="1371600"/>
          </a:xfrm>
          <a:prstGeom prst="roundRect">
            <a:avLst/>
          </a:prstGeom>
          <a:solidFill>
            <a:srgbClr val="1A2540"/>
          </a:solidFill>
          <a:ln w="15240">
            <a:solidFill>
              <a:srgbClr val="1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985"/>
            <a:endParaRPr sz="15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559800" y="1981200"/>
            <a:ext cx="1270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80985"/>
            <a:r>
              <a:rPr sz="1500" b="1">
                <a:solidFill>
                  <a:srgbClr val="FFFFFF"/>
                </a:solidFill>
                <a:latin typeface="Calibri"/>
              </a:rPr>
              <a:t>Clean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59800" y="2362200"/>
            <a:ext cx="12700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80985"/>
            <a:r>
              <a:rPr sz="1200">
                <a:solidFill>
                  <a:srgbClr val="F8FAFC"/>
                </a:solidFill>
                <a:latin typeface="Calibri"/>
              </a:rPr>
              <a:t>Parquet + validated SQL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982200" y="2463800"/>
            <a:ext cx="76200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096500" y="1778000"/>
            <a:ext cx="1498600" cy="1371600"/>
          </a:xfrm>
          <a:prstGeom prst="roundRect">
            <a:avLst/>
          </a:prstGeom>
          <a:solidFill>
            <a:srgbClr val="1A2540"/>
          </a:solidFill>
          <a:ln w="15240">
            <a:solidFill>
              <a:srgbClr val="FFF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985"/>
            <a:endParaRPr sz="15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10800" y="1981200"/>
            <a:ext cx="1270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80985"/>
            <a:r>
              <a:rPr sz="1500" b="1">
                <a:solidFill>
                  <a:srgbClr val="FFF100"/>
                </a:solidFill>
                <a:latin typeface="Calibri"/>
              </a:rPr>
              <a:t>Power BI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10800" y="2362200"/>
            <a:ext cx="12700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80985"/>
            <a:r>
              <a:rPr sz="1200">
                <a:solidFill>
                  <a:srgbClr val="F8FAFC"/>
                </a:solidFill>
                <a:latin typeface="Calibri"/>
              </a:rPr>
              <a:t>import • model • report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43500" y="3632200"/>
            <a:ext cx="6451600" cy="1905000"/>
          </a:xfrm>
          <a:prstGeom prst="roundRect">
            <a:avLst/>
          </a:prstGeom>
          <a:solidFill>
            <a:srgbClr val="070B16"/>
          </a:solidFill>
          <a:ln w="15240">
            <a:solidFill>
              <a:srgbClr val="FFF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985"/>
            <a:endParaRPr sz="15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372100" y="3886200"/>
            <a:ext cx="5969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80985"/>
            <a:r>
              <a:rPr sz="1600" b="1">
                <a:solidFill>
                  <a:srgbClr val="FFF100"/>
                </a:solidFill>
                <a:latin typeface="Calibri"/>
              </a:rPr>
              <a:t>Connection options exist, but they are not the main 101 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72100" y="4318000"/>
            <a:ext cx="59690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80985">
              <a:spcAft>
                <a:spcPts val="667"/>
              </a:spcAft>
              <a:defRPr sz="1350">
                <a:solidFill>
                  <a:srgbClr val="F8FAFC"/>
                </a:solidFill>
              </a:defRPr>
            </a:pPr>
            <a:r>
              <a:rPr sz="1500">
                <a:solidFill>
                  <a:srgbClr val="F8FAFC"/>
                </a:solidFill>
                <a:latin typeface="Calibri"/>
              </a:rPr>
              <a:t>Possible via ODBC + MotherDuck Power Query connector — works, but not the main 101 path.</a:t>
            </a:r>
          </a:p>
        </p:txBody>
      </p:sp>
    </p:spTree>
    <p:extLst>
      <p:ext uri="{BB962C8B-B14F-4D97-AF65-F5344CB8AC3E}">
        <p14:creationId xmlns:p14="http://schemas.microsoft.com/office/powerpoint/2010/main" val="17547298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D25677-AF1E-4CF7-9DA7-3EF9A64919B8}"/>
              </a:ext>
            </a:extLst>
          </p:cNvPr>
          <p:cNvSpPr txBox="1"/>
          <p:nvPr/>
        </p:nvSpPr>
        <p:spPr>
          <a:xfrm>
            <a:off x="622300" y="469900"/>
            <a:ext cx="10947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Same notebook, different runtime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19F4B5-CED0-4B3C-927D-741B2E96ACB3}"/>
              </a:ext>
            </a:extLst>
          </p:cNvPr>
          <p:cNvSpPr/>
          <p:nvPr/>
        </p:nvSpPr>
        <p:spPr>
          <a:xfrm>
            <a:off x="622300" y="1117600"/>
            <a:ext cx="762000" cy="38100"/>
          </a:xfrm>
          <a:prstGeom prst="rect">
            <a:avLst/>
          </a:prstGeom>
          <a:solidFill>
            <a:srgbClr val="FFF1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FE6800-B167-4DE1-B8F1-099CC9473225}"/>
              </a:ext>
            </a:extLst>
          </p:cNvPr>
          <p:cNvSpPr txBox="1"/>
          <p:nvPr/>
        </p:nvSpPr>
        <p:spPr>
          <a:xfrm>
            <a:off x="622300" y="1219200"/>
            <a:ext cx="10947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When you move the notebook into Microsoft Fabric, the SQL stays. Three things change.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45EEE65-CA90-4604-B99B-2B4928F28070}"/>
              </a:ext>
            </a:extLst>
          </p:cNvPr>
          <p:cNvSpPr/>
          <p:nvPr/>
        </p:nvSpPr>
        <p:spPr>
          <a:xfrm>
            <a:off x="622300" y="1676400"/>
            <a:ext cx="5397500" cy="2921000"/>
          </a:xfrm>
          <a:prstGeom prst="roundRect">
            <a:avLst/>
          </a:prstGeom>
          <a:solidFill>
            <a:srgbClr val="0F172A"/>
          </a:solidFill>
          <a:ln w="25400" cap="flat" cmpd="sng" algn="ctr">
            <a:solidFill>
              <a:srgbClr val="FFF1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B1E19D-6A5A-41CB-AAC7-2AE79DFC8759}"/>
              </a:ext>
            </a:extLst>
          </p:cNvPr>
          <p:cNvSpPr txBox="1"/>
          <p:nvPr/>
        </p:nvSpPr>
        <p:spPr>
          <a:xfrm>
            <a:off x="876300" y="1905000"/>
            <a:ext cx="4889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F100"/>
                </a:solidFill>
                <a:latin typeface="Calibri"/>
                <a:ea typeface="Calibri"/>
                <a:cs typeface="Calibri"/>
              </a:rPr>
              <a:t>✓  STAYS THE SAME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D82931-4E28-4136-B6D6-3503C3E06F75}"/>
              </a:ext>
            </a:extLst>
          </p:cNvPr>
          <p:cNvSpPr txBox="1"/>
          <p:nvPr/>
        </p:nvSpPr>
        <p:spPr>
          <a:xfrm>
            <a:off x="876300" y="2387600"/>
            <a:ext cx="4889500" cy="2108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•   DuckDB SQL syntax
•   Python code
•   Query patterns
•   Notebook structure
•   Your mental model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E4FE1E3-1B2E-436C-87BD-184A6BD1A84D}"/>
              </a:ext>
            </a:extLst>
          </p:cNvPr>
          <p:cNvSpPr/>
          <p:nvPr/>
        </p:nvSpPr>
        <p:spPr>
          <a:xfrm>
            <a:off x="6172200" y="1676400"/>
            <a:ext cx="5397500" cy="2921000"/>
          </a:xfrm>
          <a:prstGeom prst="roundRect">
            <a:avLst/>
          </a:prstGeom>
          <a:solidFill>
            <a:srgbClr val="0F172A"/>
          </a:solidFill>
          <a:ln w="25400" cap="flat" cmpd="sng" algn="ctr">
            <a:solidFill>
              <a:srgbClr val="FF69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6AB049-05A7-42FC-B4DC-F9618723A008}"/>
              </a:ext>
            </a:extLst>
          </p:cNvPr>
          <p:cNvSpPr txBox="1"/>
          <p:nvPr/>
        </p:nvSpPr>
        <p:spPr>
          <a:xfrm>
            <a:off x="6426200" y="1905000"/>
            <a:ext cx="4889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6900"/>
                </a:solidFill>
                <a:latin typeface="Calibri"/>
                <a:ea typeface="Calibri"/>
                <a:cs typeface="Calibri"/>
              </a:rPr>
              <a:t>→  WHAT CHANGES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07623A-E0AA-479E-AB50-A1095D7EC248}"/>
              </a:ext>
            </a:extLst>
          </p:cNvPr>
          <p:cNvSpPr txBox="1"/>
          <p:nvPr/>
        </p:nvSpPr>
        <p:spPr>
          <a:xfrm>
            <a:off x="6426200" y="2336800"/>
            <a:ext cx="203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Environment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C0BDC4-AE33-43CA-B744-71C12C42E3B6}"/>
              </a:ext>
            </a:extLst>
          </p:cNvPr>
          <p:cNvSpPr txBox="1"/>
          <p:nvPr/>
        </p:nvSpPr>
        <p:spPr>
          <a:xfrm>
            <a:off x="6426200" y="26416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CBD5E1"/>
                </a:solidFill>
                <a:latin typeface="Consolas"/>
              </a:rPr>
              <a:t>uv (you own it)  →  Fabric runtime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DC19B0-5A99-47A7-BA6F-5D19E9B1354D}"/>
              </a:ext>
            </a:extLst>
          </p:cNvPr>
          <p:cNvSpPr txBox="1"/>
          <p:nvPr/>
        </p:nvSpPr>
        <p:spPr>
          <a:xfrm>
            <a:off x="6426200" y="3048000"/>
            <a:ext cx="203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Data paths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56DDFE-FD09-4822-A2DA-5B2BB4EEA7B2}"/>
              </a:ext>
            </a:extLst>
          </p:cNvPr>
          <p:cNvSpPr txBox="1"/>
          <p:nvPr/>
        </p:nvSpPr>
        <p:spPr>
          <a:xfrm>
            <a:off x="6426200" y="33528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CBD5E1"/>
                </a:solidFill>
                <a:latin typeface="Consolas"/>
              </a:rPr>
              <a:t>../data/flights/*.csv  →  /lakehouse/default/Files/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B4AF7F-1707-4D9D-B799-A0242CF0571E}"/>
              </a:ext>
            </a:extLst>
          </p:cNvPr>
          <p:cNvSpPr txBox="1"/>
          <p:nvPr/>
        </p:nvSpPr>
        <p:spPr>
          <a:xfrm>
            <a:off x="6426200" y="3759200"/>
            <a:ext cx="203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Install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F1042E-ECF2-4497-8D12-5FE29F4B797A}"/>
              </a:ext>
            </a:extLst>
          </p:cNvPr>
          <p:cNvSpPr txBox="1"/>
          <p:nvPr/>
        </p:nvSpPr>
        <p:spPr>
          <a:xfrm>
            <a:off x="6426200" y="40640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CBD5E1"/>
                </a:solidFill>
                <a:latin typeface="Consolas"/>
              </a:rPr>
              <a:t>uv add duckdb  →  pre-installed in Fabric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CC0F8E-C844-4C19-808F-3EBC354F6CF9}"/>
              </a:ext>
            </a:extLst>
          </p:cNvPr>
          <p:cNvSpPr/>
          <p:nvPr/>
        </p:nvSpPr>
        <p:spPr>
          <a:xfrm>
            <a:off x="622300" y="4800600"/>
            <a:ext cx="10947400" cy="1549400"/>
          </a:xfrm>
          <a:prstGeom prst="roundRect">
            <a:avLst/>
          </a:prstGeom>
          <a:solidFill>
            <a:srgbClr val="0F172A"/>
          </a:solidFill>
          <a:ln w="12700" cap="flat" cmpd="sng" algn="ctr">
            <a:solidFill>
              <a:srgbClr val="1E2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F665B0-41BC-40A7-B035-AB4B72618538}"/>
              </a:ext>
            </a:extLst>
          </p:cNvPr>
          <p:cNvSpPr txBox="1"/>
          <p:nvPr/>
        </p:nvSpPr>
        <p:spPr>
          <a:xfrm>
            <a:off x="876300" y="4978400"/>
            <a:ext cx="1043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F100"/>
                </a:solidFill>
                <a:latin typeface="Calibri"/>
                <a:ea typeface="Calibri"/>
                <a:cs typeface="Calibri"/>
              </a:rPr>
              <a:t>DECISION POINT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479BAD-3C49-4D97-B92A-0BDD95022C4C}"/>
              </a:ext>
            </a:extLst>
          </p:cNvPr>
          <p:cNvSpPr txBox="1"/>
          <p:nvPr/>
        </p:nvSpPr>
        <p:spPr>
          <a:xfrm>
            <a:off x="876300" y="53340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Reach for DuckDB when: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1AEB57-65B5-4CCE-BD94-0C772818EEEF}"/>
              </a:ext>
            </a:extLst>
          </p:cNvPr>
          <p:cNvSpPr txBox="1"/>
          <p:nvPr/>
        </p:nvSpPr>
        <p:spPr>
          <a:xfrm>
            <a:off x="876300" y="5689600"/>
            <a:ext cx="5080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Quick SQL exploration · Small to medium data · Inspecting files · Avoiding Spark startup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5F4F44-3CD9-4055-9FD0-5890C01DB3DF}"/>
              </a:ext>
            </a:extLst>
          </p:cNvPr>
          <p:cNvSpPr txBox="1"/>
          <p:nvPr/>
        </p:nvSpPr>
        <p:spPr>
          <a:xfrm>
            <a:off x="6235700" y="53340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Reach for Spark when: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47239A-41A5-439A-A9AF-EA8E30593C3D}"/>
              </a:ext>
            </a:extLst>
          </p:cNvPr>
          <p:cNvSpPr txBox="1"/>
          <p:nvPr/>
        </p:nvSpPr>
        <p:spPr>
          <a:xfrm>
            <a:off x="6235700" y="5689600"/>
            <a:ext cx="5080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Data is large · Workloads need to scale · Production pipelines · Distributed processing</a:t>
            </a:r>
          </a:p>
        </p:txBody>
      </p:sp>
    </p:spTree>
    <p:extLst>
      <p:ext uri="{BB962C8B-B14F-4D97-AF65-F5344CB8AC3E}">
        <p14:creationId xmlns:p14="http://schemas.microsoft.com/office/powerpoint/2010/main" val="9364787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985"/>
            <a:endParaRPr sz="15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985"/>
            <a:endParaRPr sz="15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500" y="495300"/>
            <a:ext cx="275498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380985"/>
            <a:r>
              <a:rPr sz="3000" b="1">
                <a:solidFill>
                  <a:srgbClr val="FFFFFF"/>
                </a:solidFill>
                <a:latin typeface="Calibri"/>
              </a:rPr>
              <a:t>Fabric + DuckDB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28700"/>
            <a:ext cx="3664208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380985"/>
            <a:r>
              <a:rPr sz="1333">
                <a:solidFill>
                  <a:srgbClr val="F8FAFC"/>
                </a:solidFill>
                <a:latin typeface="Calibri"/>
              </a:rPr>
              <a:t>Use the smallest engine that can safely do the job.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43256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985"/>
            <a:endParaRPr sz="15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09600" y="1714500"/>
            <a:ext cx="10972800" cy="762000"/>
          </a:xfrm>
          <a:prstGeom prst="roundRect">
            <a:avLst/>
          </a:prstGeom>
          <a:solidFill>
            <a:srgbClr val="070B16"/>
          </a:solidFill>
          <a:ln w="15240">
            <a:solidFill>
              <a:srgbClr val="FFF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985"/>
            <a:endParaRPr sz="15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6300" y="1889761"/>
            <a:ext cx="10439400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80985"/>
            <a:r>
              <a:rPr sz="1700" b="1">
                <a:solidFill>
                  <a:srgbClr val="FFFFFF"/>
                </a:solidFill>
                <a:latin typeface="Calibri"/>
              </a:rPr>
              <a:t>In Fabric, DuckDB fits naturally in a Pure Python notebook when you want quick single-node SQL over files.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81300"/>
            <a:ext cx="5219700" cy="2781300"/>
          </a:xfrm>
          <a:prstGeom prst="roundRect">
            <a:avLst/>
          </a:prstGeom>
          <a:solidFill>
            <a:srgbClr val="070B16"/>
          </a:solidFill>
          <a:ln w="15240">
            <a:solidFill>
              <a:srgbClr val="FFF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985"/>
            <a:endParaRPr sz="15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52500" y="2994660"/>
            <a:ext cx="4724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80985"/>
            <a:r>
              <a:rPr sz="1900" b="1">
                <a:solidFill>
                  <a:srgbClr val="FFF100"/>
                </a:solidFill>
                <a:latin typeface="Calibri"/>
              </a:rPr>
              <a:t>Pure Python notebook + DuckDB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3454400"/>
            <a:ext cx="4724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80985"/>
            <a:r>
              <a:rPr sz="1400">
                <a:solidFill>
                  <a:srgbClr val="F8FAFC"/>
                </a:solidFill>
                <a:latin typeface="Calibri"/>
              </a:rPr>
              <a:t>Good when the task is local-ish and exploratory: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3835400"/>
            <a:ext cx="4572000" cy="132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80985">
              <a:spcAft>
                <a:spcPts val="667"/>
              </a:spcAft>
              <a:defRPr sz="155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  <a:latin typeface="Calibri"/>
              </a:rPr>
              <a:t>Inspect files in OneLake / Lakehouse Files</a:t>
            </a:r>
          </a:p>
          <a:p>
            <a:pPr defTabSz="380985">
              <a:spcAft>
                <a:spcPts val="667"/>
              </a:spcAft>
              <a:defRPr sz="155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  <a:latin typeface="Calibri"/>
              </a:rPr>
              <a:t>Run quick SQL over CSV or Parquet</a:t>
            </a:r>
          </a:p>
          <a:p>
            <a:pPr defTabSz="380985">
              <a:spcAft>
                <a:spcPts val="667"/>
              </a:spcAft>
              <a:defRPr sz="155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  <a:latin typeface="Calibri"/>
              </a:rPr>
              <a:t>Prototype transformation logic</a:t>
            </a:r>
          </a:p>
          <a:p>
            <a:pPr defTabSz="380985">
              <a:spcAft>
                <a:spcPts val="667"/>
              </a:spcAft>
              <a:defRPr sz="155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  <a:latin typeface="Calibri"/>
              </a:rPr>
              <a:t>Avoid starting Spark for small-to-medium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5232400"/>
            <a:ext cx="4648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80985"/>
            <a:r>
              <a:rPr sz="1500" b="1">
                <a:solidFill>
                  <a:srgbClr val="FFF100"/>
                </a:solidFill>
                <a:latin typeface="Calibri"/>
              </a:rPr>
              <a:t>Capacity angle: lower-overhead exploration.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6500" y="2781300"/>
            <a:ext cx="5219700" cy="2781300"/>
          </a:xfrm>
          <a:prstGeom prst="roundRect">
            <a:avLst/>
          </a:prstGeom>
          <a:solidFill>
            <a:srgbClr val="070B16"/>
          </a:solidFill>
          <a:ln w="15240">
            <a:solidFill>
              <a:srgbClr val="FFF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985"/>
            <a:endParaRPr sz="15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53200" y="2994660"/>
            <a:ext cx="4724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80985"/>
            <a:r>
              <a:rPr sz="1900" b="1">
                <a:solidFill>
                  <a:srgbClr val="FFF100"/>
                </a:solidFill>
                <a:latin typeface="Calibri"/>
              </a:rPr>
              <a:t>Spark notebook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200" y="3454400"/>
            <a:ext cx="4724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80985"/>
            <a:r>
              <a:rPr sz="1400">
                <a:solidFill>
                  <a:srgbClr val="F8FAFC"/>
                </a:solidFill>
                <a:latin typeface="Calibri"/>
              </a:rPr>
              <a:t>Use when the workload needs distributed scale: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200" y="3835400"/>
            <a:ext cx="4572000" cy="132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80985">
              <a:spcAft>
                <a:spcPts val="667"/>
              </a:spcAft>
              <a:defRPr sz="155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  <a:latin typeface="Calibri"/>
              </a:rPr>
              <a:t>Very large data or heavy joins</a:t>
            </a:r>
          </a:p>
          <a:p>
            <a:pPr defTabSz="380985">
              <a:spcAft>
                <a:spcPts val="667"/>
              </a:spcAft>
              <a:defRPr sz="155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  <a:latin typeface="Calibri"/>
              </a:rPr>
              <a:t>Production pipelines</a:t>
            </a:r>
          </a:p>
          <a:p>
            <a:pPr defTabSz="380985">
              <a:spcAft>
                <a:spcPts val="667"/>
              </a:spcAft>
              <a:defRPr sz="155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  <a:latin typeface="Calibri"/>
              </a:rPr>
              <a:t>Spark ecosystem features</a:t>
            </a:r>
          </a:p>
          <a:p>
            <a:pPr defTabSz="380985">
              <a:spcAft>
                <a:spcPts val="667"/>
              </a:spcAft>
              <a:defRPr sz="155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  <a:latin typeface="Calibri"/>
              </a:rPr>
              <a:t>Distributed processing across the cluster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200" y="5232400"/>
            <a:ext cx="4648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80985"/>
            <a:r>
              <a:rPr sz="1500" b="1">
                <a:solidFill>
                  <a:srgbClr val="FFF100"/>
                </a:solidFill>
                <a:latin typeface="Calibri"/>
              </a:rPr>
              <a:t>Decision point: do I actually need Spark?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740400"/>
            <a:ext cx="10820400" cy="584200"/>
          </a:xfrm>
          <a:prstGeom prst="roundRect">
            <a:avLst/>
          </a:prstGeom>
          <a:solidFill>
            <a:srgbClr val="070B1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985"/>
            <a:endParaRPr sz="15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4400" y="5867400"/>
            <a:ext cx="10363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80985"/>
            <a:r>
              <a:rPr sz="1400">
                <a:solidFill>
                  <a:srgbClr val="F8FAFC"/>
                </a:solidFill>
                <a:latin typeface="Calibri"/>
              </a:rPr>
              <a:t>Same idea, new path:  read_parquet('/lakehouse/default/Files/flights_2023.parquet')</a:t>
            </a:r>
          </a:p>
        </p:txBody>
      </p:sp>
    </p:spTree>
    <p:extLst>
      <p:ext uri="{BB962C8B-B14F-4D97-AF65-F5344CB8AC3E}">
        <p14:creationId xmlns:p14="http://schemas.microsoft.com/office/powerpoint/2010/main" val="1188977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69848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DuckDB vs Spark in Fabric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87552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Choose the engine based on the workload, not the logo.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" y="1554480"/>
            <a:ext cx="4754880" cy="2834640"/>
          </a:xfrm>
          <a:prstGeom prst="roundRect">
            <a:avLst>
              <a:gd name="adj" fmla="val 2581"/>
            </a:avLst>
          </a:prstGeom>
          <a:noFill/>
          <a:ln w="19050">
            <a:solidFill>
              <a:srgbClr val="FFF100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69848" y="1719072"/>
            <a:ext cx="4352544" cy="24688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 DuckDB when...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69848" y="2103120"/>
            <a:ext cx="4352544" cy="21488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Quick SQL exploration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Small-to-medium files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Notebook-first investigation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Avoiding Spark startup for tiny jobs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File inspection and prototypes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537960" y="1554480"/>
            <a:ext cx="4754880" cy="2834640"/>
          </a:xfrm>
          <a:prstGeom prst="roundRect">
            <a:avLst>
              <a:gd name="adj" fmla="val 2581"/>
            </a:avLst>
          </a:prstGeom>
          <a:noFill/>
          <a:ln w="19050">
            <a:solidFill>
              <a:srgbClr val="FFF100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739128" y="1719072"/>
            <a:ext cx="4352544" cy="24688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 Spark when...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739128" y="2103120"/>
            <a:ext cx="4352544" cy="21488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Large/distributed workloads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Production pipelines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Lakehouse table processing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Scale-out transformations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Operationalized data engineering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965960" y="5074920"/>
            <a:ext cx="54864" cy="68580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167128" y="5120640"/>
            <a:ext cx="7955280" cy="5943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DuckDB is the pocketknife. Spark is the workshop.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311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102E3E-0539-4D81-8B1B-6A4D0B15B8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77D959-5CA6-474B-B8A2-F1E81903E7E9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F1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97BC09-6588-4119-96B0-D373357CA791}"/>
              </a:ext>
            </a:extLst>
          </p:cNvPr>
          <p:cNvSpPr txBox="1"/>
          <p:nvPr/>
        </p:nvSpPr>
        <p:spPr>
          <a:xfrm>
            <a:off x="1016000" y="2540000"/>
            <a:ext cx="1016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2400" b="1">
                <a:solidFill>
                  <a:srgbClr val="FFF100"/>
                </a:solidFill>
                <a:latin typeface="Aptos"/>
              </a:rPr>
              <a:t>DEMO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C423C4-A14F-4033-BA30-DDCE17F15BF4}"/>
              </a:ext>
            </a:extLst>
          </p:cNvPr>
          <p:cNvSpPr txBox="1"/>
          <p:nvPr/>
        </p:nvSpPr>
        <p:spPr>
          <a:xfrm>
            <a:off x="1016000" y="3111500"/>
            <a:ext cx="10160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7200" b="1">
                <a:solidFill>
                  <a:srgbClr val="F8FAFC"/>
                </a:solidFill>
                <a:latin typeface="Aptos Display"/>
              </a:rPr>
              <a:t>Fabric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FD161D-C83B-45D1-A602-20BD3E459E22}"/>
              </a:ext>
            </a:extLst>
          </p:cNvPr>
          <p:cNvSpPr/>
          <p:nvPr/>
        </p:nvSpPr>
        <p:spPr>
          <a:xfrm>
            <a:off x="5461000" y="4699000"/>
            <a:ext cx="1270000" cy="38100"/>
          </a:xfrm>
          <a:prstGeom prst="rect">
            <a:avLst/>
          </a:prstGeom>
          <a:solidFill>
            <a:srgbClr val="FFF1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3098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FC9F6C-39C1-9DDF-1844-20FFCA62E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04341CD-9295-4878-2540-860B1CF82C1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3D1D4C3-F737-1332-C5EF-16861FED9B7D}"/>
              </a:ext>
            </a:extLst>
          </p:cNvPr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EE1AB0B-36FA-C573-87A9-E40C85610FE0}"/>
              </a:ext>
            </a:extLst>
          </p:cNvPr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5816268-ACB8-D54E-741A-9C661B58DC38}"/>
              </a:ext>
            </a:extLst>
          </p:cNvPr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A338B39-9808-4D5A-3A16-7DB8D6744BDD}"/>
              </a:ext>
            </a:extLst>
          </p:cNvPr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D7C1C5C-C284-64EC-CFEE-26B9FA8FE965}"/>
              </a:ext>
            </a:extLst>
          </p:cNvPr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0C70E52-4986-3505-D41D-A964BC4C7CC4}"/>
              </a:ext>
            </a:extLst>
          </p:cNvPr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CED2C84-BFAF-6B0E-4263-F6478A7C08C6}"/>
              </a:ext>
            </a:extLst>
          </p:cNvPr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74FA693-3F9E-80CC-3534-49CBD5C8DD06}"/>
              </a:ext>
            </a:extLst>
          </p:cNvPr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C158B2C-3FDA-676D-0805-2B713AEAE35D}"/>
              </a:ext>
            </a:extLst>
          </p:cNvPr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22B65F6-EDEB-503A-5555-CC93E39E23E1}"/>
              </a:ext>
            </a:extLst>
          </p:cNvPr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1D63293-7BA5-77A7-51F2-AB9EFFC33287}"/>
              </a:ext>
            </a:extLst>
          </p:cNvPr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1880016-CB36-7610-916F-3C5B6082464C}"/>
              </a:ext>
            </a:extLst>
          </p:cNvPr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4E31CE6-A13E-9EE3-E33B-AD80F81C2AB1}"/>
              </a:ext>
            </a:extLst>
          </p:cNvPr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F00262C-D1CB-7C64-D288-038C9AB3B7A6}"/>
              </a:ext>
            </a:extLst>
          </p:cNvPr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CD708C6-F8D0-0756-6577-AEDCA84DF28B}"/>
              </a:ext>
            </a:extLst>
          </p:cNvPr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7E077C2-70F1-3DCD-59B9-91F37EDC5D18}"/>
              </a:ext>
            </a:extLst>
          </p:cNvPr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A5A17CA-5813-8C08-1B4F-FE45EBC92CE3}"/>
              </a:ext>
            </a:extLst>
          </p:cNvPr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43640ED-27EB-A2AD-C58A-ACC01EA51A9E}"/>
              </a:ext>
            </a:extLst>
          </p:cNvPr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20A77A5-F9F2-1EDE-3461-58027C504EDF}"/>
              </a:ext>
            </a:extLst>
          </p:cNvPr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DA3BDBA-A065-BF75-5246-44A30DDDADE2}"/>
              </a:ext>
            </a:extLst>
          </p:cNvPr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046B905-1AEF-0125-BADB-6CD87D5CCE15}"/>
              </a:ext>
            </a:extLst>
          </p:cNvPr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7DC92638-85B9-ED4A-0C40-F9BE5FBFF1BF}"/>
              </a:ext>
            </a:extLst>
          </p:cNvPr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F933A288-4F39-CFBA-F700-41B576B06F3E}"/>
              </a:ext>
            </a:extLst>
          </p:cNvPr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2C720957-68E3-6787-7895-5E946EFBF5E6}"/>
              </a:ext>
            </a:extLst>
          </p:cNvPr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E474C1E8-A69F-A9BA-EA1B-C42EE311BAF8}"/>
              </a:ext>
            </a:extLst>
          </p:cNvPr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0C6FE7CB-A9CC-43F2-B5BF-F34621E6CE85}"/>
              </a:ext>
            </a:extLst>
          </p:cNvPr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7C4CE0D-1E57-20D6-6B9D-DE5A7963F7B2}"/>
              </a:ext>
            </a:extLst>
          </p:cNvPr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F5448B37-78D0-919D-3E9C-E429715E9003}"/>
              </a:ext>
            </a:extLst>
          </p:cNvPr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3EE96113-8512-58D9-B5A5-1AAAC8B016E7}"/>
              </a:ext>
            </a:extLst>
          </p:cNvPr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CD77F428-A734-BD5D-E9D5-33685C950781}"/>
              </a:ext>
            </a:extLst>
          </p:cNvPr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D7AA37C0-AE91-171F-6CA5-35FF63DC22F7}"/>
              </a:ext>
            </a:extLst>
          </p:cNvPr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9BF3D17E-4EA5-55A1-4374-0630A858F1F2}"/>
              </a:ext>
            </a:extLst>
          </p:cNvPr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50563392-BD4C-4DA4-4A9B-E8FF4F725696}"/>
              </a:ext>
            </a:extLst>
          </p:cNvPr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Wrap-Up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4D8EB9BE-776A-587C-08ED-FA67A5139174}"/>
              </a:ext>
            </a:extLst>
          </p:cNvPr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Takeaways and what's next</a:t>
            </a: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8B7903E6-98AF-DD3A-D29D-A1E90CED2633}"/>
              </a:ext>
            </a:extLst>
          </p:cNvPr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2A6F68D5-9C07-6720-3626-9703704402DD}"/>
              </a:ext>
            </a:extLst>
          </p:cNvPr>
          <p:cNvSpPr/>
          <p:nvPr/>
        </p:nvSpPr>
        <p:spPr>
          <a:xfrm>
            <a:off x="1657350" y="3163824"/>
            <a:ext cx="8890000" cy="0"/>
          </a:xfrm>
          <a:prstGeom prst="line">
            <a:avLst/>
          </a:prstGeom>
          <a:noFill/>
          <a:ln w="28575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B2B7CB0D-48AF-9321-5CA0-DB4F808518DE}"/>
              </a:ext>
            </a:extLst>
          </p:cNvPr>
          <p:cNvSpPr/>
          <p:nvPr/>
        </p:nvSpPr>
        <p:spPr>
          <a:xfrm>
            <a:off x="1651000" y="3163824"/>
            <a:ext cx="0" cy="0"/>
          </a:xfrm>
          <a:prstGeom prst="line">
            <a:avLst/>
          </a:prstGeom>
          <a:noFill/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E97BD79E-CAA8-7469-CF0F-4629A9B6AB80}"/>
              </a:ext>
            </a:extLst>
          </p:cNvPr>
          <p:cNvSpPr/>
          <p:nvPr/>
        </p:nvSpPr>
        <p:spPr>
          <a:xfrm>
            <a:off x="1365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64B6ECD5-24FD-C0FE-24EC-037BED3E2B2F}"/>
              </a:ext>
            </a:extLst>
          </p:cNvPr>
          <p:cNvSpPr/>
          <p:nvPr/>
        </p:nvSpPr>
        <p:spPr>
          <a:xfrm>
            <a:off x="136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B71034DC-85A6-4257-B83D-8A6B428092C6}"/>
              </a:ext>
            </a:extLst>
          </p:cNvPr>
          <p:cNvSpPr/>
          <p:nvPr/>
        </p:nvSpPr>
        <p:spPr>
          <a:xfrm>
            <a:off x="86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857EB50A-3844-266A-457D-C416A5124B43}"/>
              </a:ext>
            </a:extLst>
          </p:cNvPr>
          <p:cNvSpPr/>
          <p:nvPr/>
        </p:nvSpPr>
        <p:spPr>
          <a:xfrm>
            <a:off x="35877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1789CDC3-120C-D510-007D-1D4AEAA8F6F5}"/>
              </a:ext>
            </a:extLst>
          </p:cNvPr>
          <p:cNvSpPr/>
          <p:nvPr/>
        </p:nvSpPr>
        <p:spPr>
          <a:xfrm>
            <a:off x="3587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D262A1CC-603D-2007-BBB7-1CF59830E0D9}"/>
              </a:ext>
            </a:extLst>
          </p:cNvPr>
          <p:cNvSpPr/>
          <p:nvPr/>
        </p:nvSpPr>
        <p:spPr>
          <a:xfrm>
            <a:off x="3086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Desktop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4E21E4A0-0C06-23F1-82F3-CE42FA064405}"/>
              </a:ext>
            </a:extLst>
          </p:cNvPr>
          <p:cNvSpPr/>
          <p:nvPr/>
        </p:nvSpPr>
        <p:spPr>
          <a:xfrm>
            <a:off x="5810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CBFEA45F-BDE4-BBD4-6212-AD2303CEB1F2}"/>
              </a:ext>
            </a:extLst>
          </p:cNvPr>
          <p:cNvSpPr/>
          <p:nvPr/>
        </p:nvSpPr>
        <p:spPr>
          <a:xfrm>
            <a:off x="5810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742182CA-0003-DBD8-C48E-E59EC6A8E3B6}"/>
              </a:ext>
            </a:extLst>
          </p:cNvPr>
          <p:cNvSpPr/>
          <p:nvPr/>
        </p:nvSpPr>
        <p:spPr>
          <a:xfrm>
            <a:off x="5308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Notebook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2B711A7A-0E0F-6B8B-8E3F-D885060EFC49}"/>
              </a:ext>
            </a:extLst>
          </p:cNvPr>
          <p:cNvSpPr/>
          <p:nvPr/>
        </p:nvSpPr>
        <p:spPr>
          <a:xfrm>
            <a:off x="80327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CB51BFF0-9908-4DEB-203B-099EDA0B98F6}"/>
              </a:ext>
            </a:extLst>
          </p:cNvPr>
          <p:cNvSpPr/>
          <p:nvPr/>
        </p:nvSpPr>
        <p:spPr>
          <a:xfrm>
            <a:off x="8032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43BBEADA-C9A4-E6FE-EB32-53B7758F1EB3}"/>
              </a:ext>
            </a:extLst>
          </p:cNvPr>
          <p:cNvSpPr/>
          <p:nvPr/>
        </p:nvSpPr>
        <p:spPr>
          <a:xfrm>
            <a:off x="7531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EDE85210-8759-884F-361E-72BF6D8D1BDE}"/>
              </a:ext>
            </a:extLst>
          </p:cNvPr>
          <p:cNvSpPr/>
          <p:nvPr/>
        </p:nvSpPr>
        <p:spPr>
          <a:xfrm>
            <a:off x="10255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CEC37836-DC2A-7FFF-E29C-DA8AF7940A45}"/>
              </a:ext>
            </a:extLst>
          </p:cNvPr>
          <p:cNvSpPr/>
          <p:nvPr/>
        </p:nvSpPr>
        <p:spPr>
          <a:xfrm>
            <a:off x="1025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711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AF9B8C59-FCB0-4849-7E6F-6FD7232350FE}"/>
              </a:ext>
            </a:extLst>
          </p:cNvPr>
          <p:cNvSpPr/>
          <p:nvPr/>
        </p:nvSpPr>
        <p:spPr>
          <a:xfrm>
            <a:off x="975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776C0834-5156-FF62-BD00-6A56417E2289}"/>
              </a:ext>
            </a:extLst>
          </p:cNvPr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F27156C5-3EED-F90D-1802-C35095DA05CD}"/>
              </a:ext>
            </a:extLst>
          </p:cNvPr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89619B88-211B-A4B6-A52F-4D245203CBCE}"/>
              </a:ext>
            </a:extLst>
          </p:cNvPr>
          <p:cNvSpPr/>
          <p:nvPr/>
        </p:nvSpPr>
        <p:spPr>
          <a:xfrm>
            <a:off x="19476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Wrap-Up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82E238F3-8118-CCE8-D8B5-2D533F399716}"/>
              </a:ext>
            </a:extLst>
          </p:cNvPr>
          <p:cNvSpPr/>
          <p:nvPr/>
        </p:nvSpPr>
        <p:spPr>
          <a:xfrm>
            <a:off x="19659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Takeaways and what's next</a:t>
            </a: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63421FBB-EC8A-DF7A-149C-7C72CC3A9047}"/>
              </a:ext>
            </a:extLst>
          </p:cNvPr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Thanks!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A7F5D244-A881-207C-9C3C-4ADA44422B41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7DE493F9-2D52-BCDD-A0EB-E3273CD70708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1ABF07-F032-49B3-8DD8-0EF883C1A6CF}"/>
              </a:ext>
            </a:extLst>
          </p:cNvPr>
          <p:cNvSpPr txBox="1"/>
          <p:nvPr/>
        </p:nvSpPr>
        <p:spPr>
          <a:xfrm>
            <a:off x="713740" y="6200140"/>
            <a:ext cx="402336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50">
                <a:solidFill>
                  <a:srgbClr val="64748B"/>
                </a:solidFill>
                <a:latin typeface="Aptos"/>
              </a:rPr>
              <a:t>DuckDB 101: From Desktop to Notebook</a:t>
            </a:r>
          </a:p>
        </p:txBody>
      </p:sp>
    </p:spTree>
    <p:extLst>
      <p:ext uri="{BB962C8B-B14F-4D97-AF65-F5344CB8AC3E}">
        <p14:creationId xmlns:p14="http://schemas.microsoft.com/office/powerpoint/2010/main" val="18027241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practical use-case ladder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87552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DuckDB often starts as exploration, then becomes a repeatable step.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Explore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2286000" y="146304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What is in this file?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06640" y="1463040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read_csv_auto / read_parquet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Profile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286000" y="228600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What are the shapes, nulls, and weird values?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06640" y="2286000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COUNT, GROUP BY, DESCRIBE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310896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Transform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286000" y="310896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Can I clean or reshape this quickly?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406640" y="3108960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CREATE TABLE AS SELECT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393192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Export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286000" y="393192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Can I hand off a better format?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406640" y="3931920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COPY TO Parquet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475488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Prototype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286000" y="475488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Does this ETL logic work before production?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406640" y="4754880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Python + SQL + tests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22960" y="1298448"/>
            <a:ext cx="10149840" cy="0"/>
          </a:xfrm>
          <a:prstGeom prst="lin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49549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Official DuckDB Resources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Start here: official docs, official sites, and free learning offers.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426464"/>
            <a:ext cx="11201400" cy="0"/>
          </a:xfrm>
          <a:prstGeom prst="line">
            <a:avLst/>
          </a:prstGeom>
          <a:noFill/>
          <a:ln w="1651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643737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DuckDB 101: From Desktop to Notebook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070B16"/>
          </a:solidFill>
          <a:ln w="1778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04672" y="1947672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OFFICIAL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4672" y="222199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DuckDB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04672" y="2587752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Main project site, docs, installation, guides, SQL reference, and client APIs.</a:t>
            </a:r>
            <a:endParaRPr kumimoji="0" lang="en-US" sz="9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10">
            <a:hlinkClick r:id="rId3"/>
          </p:cNvPr>
          <p:cNvSpPr/>
          <p:nvPr/>
        </p:nvSpPr>
        <p:spPr>
          <a:xfrm>
            <a:off x="804672" y="3127248"/>
            <a:ext cx="3191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sng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https://duckdb.org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343400" y="178308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070B16"/>
          </a:solidFill>
          <a:ln w="1778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07992" y="1947672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OFFICIAL DOCS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07992" y="222199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DuckDB Documentation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07992" y="2587752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 source of truth for installation, CLI, SQL, CSV/Parquet, Python, and extensions.</a:t>
            </a:r>
            <a:endParaRPr kumimoji="0" lang="en-US" sz="9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Text 15">
            <a:hlinkClick r:id="rId4"/>
          </p:cNvPr>
          <p:cNvSpPr/>
          <p:nvPr/>
        </p:nvSpPr>
        <p:spPr>
          <a:xfrm>
            <a:off x="4507992" y="3127248"/>
            <a:ext cx="3191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sng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https://duckdb.org/docs/current/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046720" y="178308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070B16"/>
          </a:solidFill>
          <a:ln w="1778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11312" y="1947672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CLOUD + LEARNING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11312" y="222199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MotherDuck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11312" y="2587752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Cloud analytics built around DuckDB, plus practical articles, videos, and learning resources.</a:t>
            </a:r>
            <a:endParaRPr kumimoji="0" lang="en-US" sz="9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Text 20">
            <a:hlinkClick r:id="rId5"/>
          </p:cNvPr>
          <p:cNvSpPr/>
          <p:nvPr/>
        </p:nvSpPr>
        <p:spPr>
          <a:xfrm>
            <a:off x="8211312" y="3127248"/>
            <a:ext cx="3191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sng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https://motherduck.com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" y="3703320"/>
            <a:ext cx="5303520" cy="1600200"/>
          </a:xfrm>
          <a:prstGeom prst="roundRect">
            <a:avLst>
              <a:gd name="adj" fmla="val 4571"/>
            </a:avLst>
          </a:prstGeom>
          <a:solidFill>
            <a:srgbClr val="1A2540"/>
          </a:solidFill>
          <a:ln w="1651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391363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FREE BOOK OFFER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96112" y="42245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DuckDB in Action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96112" y="46451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Free PDF from MotherDuck. Good practical next step after this 101 session.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Text 25">
            <a:hlinkClick r:id="rId6"/>
          </p:cNvPr>
          <p:cNvSpPr/>
          <p:nvPr/>
        </p:nvSpPr>
        <p:spPr>
          <a:xfrm>
            <a:off x="896112" y="499262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sng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motherduck.com/duckdb-book-brief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236208" y="3703320"/>
            <a:ext cx="5303520" cy="1600200"/>
          </a:xfrm>
          <a:prstGeom prst="roundRect">
            <a:avLst>
              <a:gd name="adj" fmla="val 4571"/>
            </a:avLst>
          </a:prstGeom>
          <a:solidFill>
            <a:srgbClr val="1A2540"/>
          </a:solidFill>
          <a:ln w="1651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92240" y="391363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FREE EARLY ACCESS / PREVIEW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92240" y="42245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DuckLake: The Definitive Guide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92240" y="46451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O’Reilly early release sponsored by MotherDuck. Chapters are released as they become available.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Text 30">
            <a:hlinkClick r:id="rId7"/>
          </p:cNvPr>
          <p:cNvSpPr/>
          <p:nvPr/>
        </p:nvSpPr>
        <p:spPr>
          <a:xfrm>
            <a:off x="6492240" y="499262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sng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/>
                <a:ea typeface="+mn-ea"/>
                <a:cs typeface="+mn-c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motherduck.com/lp/ducklake-lakehouse-table-format-book-full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51560" y="574243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Keep the first resource slide boring on purpose: official docs, official project, and current free offers.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40346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 Beyond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Books, videos, and community resources when you want more than the docs.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426464"/>
            <a:ext cx="11201400" cy="0"/>
          </a:xfrm>
          <a:prstGeom prst="line">
            <a:avLst/>
          </a:prstGeom>
          <a:noFill/>
          <a:ln w="1651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643737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DuckDB 101: From Desktop to Notebook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Books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070B16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73152" cy="132588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41248" y="23591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DuckDB: Up and Running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41248" y="272491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O’Reilly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41248" y="3017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Good for a structured walk-through of DuckDB concepts and hands-on usage.</a:t>
            </a:r>
            <a:endParaRPr kumimoji="0" 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43400" y="219456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070B16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343400" y="2194560"/>
            <a:ext cx="73152" cy="132588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44568" y="23591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DuckDB in Action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44568" y="272491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Manning / free PDF via MotherDuck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44568" y="3017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Practical book for learning DuckDB from ingestion through analytics workflows.</a:t>
            </a:r>
            <a:endParaRPr kumimoji="0" 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046720" y="219456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070B16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046720" y="2194560"/>
            <a:ext cx="73152" cy="132588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47888" y="23591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DuckLake: The Definitive Guide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47888" y="272491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O’Reilly Early Release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47888" y="3017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Preview / early access. Best after DuckDB basics when you want lakehouse table-format context.</a:t>
            </a:r>
            <a:endParaRPr kumimoji="0" 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Video + community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0080" y="434340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070B16"/>
          </a:solidFill>
          <a:ln w="1778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04672" y="4507992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VIDEO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04672" y="47823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MotherDuck YouTube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04672" y="5148072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Product walkthroughs, livestreams, DuckDB ecosystem videos, and DuckLake content.</a:t>
            </a:r>
            <a:endParaRPr kumimoji="0" lang="en-US" sz="9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Text 27">
            <a:hlinkClick r:id="rId3"/>
          </p:cNvPr>
          <p:cNvSpPr/>
          <p:nvPr/>
        </p:nvSpPr>
        <p:spPr>
          <a:xfrm>
            <a:off x="804672" y="5367528"/>
            <a:ext cx="3191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sng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https://www.youtube.com/@MotherDuckDB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343400" y="434340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070B16"/>
          </a:solidFill>
          <a:ln w="1778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07992" y="4507992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LEARNING PATH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507992" y="47823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Luke Barousse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507992" y="5148072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Beginner-friendly SQL learning using DuckDB and MotherDuck in practical examples.</a:t>
            </a:r>
            <a:endParaRPr kumimoji="0" lang="en-US" sz="9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Text 32">
            <a:hlinkClick r:id="rId4"/>
          </p:cNvPr>
          <p:cNvSpPr/>
          <p:nvPr/>
        </p:nvSpPr>
        <p:spPr>
          <a:xfrm>
            <a:off x="4507992" y="5367528"/>
            <a:ext cx="3191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sng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https://www.youtube.com/@datawithluke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046720" y="434340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070B16"/>
          </a:solidFill>
          <a:ln w="17780">
            <a:solidFill>
              <a:srgbClr val="38BD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211312" y="4507992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COMMUNITY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211312" y="47823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GitHub + DuckDB Community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211312" y="5148072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Source code, issues, discussions, extension ecosystem, and community links.</a:t>
            </a:r>
            <a:endParaRPr kumimoji="0" lang="en-US" sz="9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hlinkClick r:id="rId5"/>
          </p:cNvPr>
          <p:cNvSpPr/>
          <p:nvPr/>
        </p:nvSpPr>
        <p:spPr>
          <a:xfrm>
            <a:off x="8211312" y="5367528"/>
            <a:ext cx="3191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sng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https://duckdb.org/community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60120" y="5870448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1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Suggested path: docs first → free DuckDB in Action PDF → videos/community → O’Reilly books as you go deeper.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06574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5BB229-C275-86ED-6B17-DEF5E5BC9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BCFB04-2455-6B2C-1893-9419B002511A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48CF7F-A47F-048C-AB37-032FF78E840E}"/>
              </a:ext>
            </a:extLst>
          </p:cNvPr>
          <p:cNvSpPr txBox="1"/>
          <p:nvPr/>
        </p:nvSpPr>
        <p:spPr>
          <a:xfrm>
            <a:off x="0" y="381000"/>
            <a:ext cx="12192000" cy="10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Aptos Display"/>
              </a:rPr>
              <a:t>THANK YOU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E83FDC-9D0E-86DD-9F52-7C1DBFB05A74}"/>
              </a:ext>
            </a:extLst>
          </p:cNvPr>
          <p:cNvSpPr txBox="1"/>
          <p:nvPr/>
        </p:nvSpPr>
        <p:spPr>
          <a:xfrm>
            <a:off x="457200" y="4826000"/>
            <a:ext cx="431800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Jason Romans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thedaxshepherd@gmail.com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linkedin.com/in/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jason</a:t>
            </a:r>
            <a:r>
              <a:rPr lang="en-US" sz="2000" dirty="0">
                <a:solidFill>
                  <a:srgbClr val="FFFFFF"/>
                </a:solidFill>
                <a:latin typeface="Aptos"/>
              </a:rPr>
              <a:t>romans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www.thedaxshepherd.com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06159F-EAD6-8856-92E3-DCB190CEBF46}"/>
              </a:ext>
            </a:extLst>
          </p:cNvPr>
          <p:cNvSpPr txBox="1"/>
          <p:nvPr/>
        </p:nvSpPr>
        <p:spPr>
          <a:xfrm>
            <a:off x="5207000" y="4978400"/>
            <a:ext cx="284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Slides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46A646-761B-FC16-47B2-C4BB80769E20}"/>
              </a:ext>
            </a:extLst>
          </p:cNvPr>
          <p:cNvSpPr txBox="1"/>
          <p:nvPr/>
        </p:nvSpPr>
        <p:spPr>
          <a:xfrm>
            <a:off x="8890000" y="4978400"/>
            <a:ext cx="284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Session Evaluation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0D89991-162E-ECB0-A75B-B38737F0101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750300" y="2006600"/>
            <a:ext cx="2844800" cy="2844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C202BA-5DDD-EC80-CFE6-908FD72DCA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10046" y="2006600"/>
            <a:ext cx="2838708" cy="284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39BDC4-525B-0033-4306-B11375B1B5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6624" y="2209800"/>
            <a:ext cx="4279152" cy="2438400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E19B87-C83A-5221-D8DE-32AE15A00A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6392" y="2012692"/>
            <a:ext cx="2838708" cy="283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544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5">
    <wetp:webextensionref xmlns:r="http://schemas.openxmlformats.org/officeDocument/2006/relationships" r:id="rId1"/>
  </wetp:taskpane>
  <wetp:taskpane dockstate="right" visibility="0" width="350" row="6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E5180505-3662-4301-AED1-75D24B0E242C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b8eb242c-f932-4372-a77f-e516042a1db5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40939A1-5143-4483-A47B-B647D1989C3A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ece02d6e-7605-416a-b9d9-24ed7074e4e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1362</TotalTime>
  <Words>3336</Words>
  <Application>Microsoft Office PowerPoint</Application>
  <PresentationFormat>Widescreen</PresentationFormat>
  <Paragraphs>602</Paragraphs>
  <Slides>43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43</vt:i4>
      </vt:variant>
    </vt:vector>
  </HeadingPairs>
  <TitlesOfParts>
    <vt:vector size="52" baseType="lpstr">
      <vt:lpstr>Aptos</vt:lpstr>
      <vt:lpstr>Aptos Display</vt:lpstr>
      <vt:lpstr>Arial</vt:lpstr>
      <vt:lpstr>Calibri</vt:lpstr>
      <vt:lpstr>Cascadia Mono</vt:lpstr>
      <vt:lpstr>Consolas</vt:lpstr>
      <vt:lpstr>Office Theme</vt:lpstr>
      <vt:lpstr>1_Office Theme</vt:lpstr>
      <vt:lpstr>2_Office Theme</vt:lpstr>
      <vt:lpstr>PowerPoint Presentation</vt:lpstr>
      <vt:lpstr>Thank You to Our Sponsors!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DAX Shepherd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DuckDB 101: From Desktop to Notebook</dc:title>
  <dc:subject>DuckDB 101: From Desktop to Notebook</dc:subject>
  <dc:creator>OpenAI</dc:creator>
  <cp:lastModifiedBy>Jason Romans</cp:lastModifiedBy>
  <cp:revision>21</cp:revision>
  <dcterms:created xsi:type="dcterms:W3CDTF">2026-05-30T14:53:48Z</dcterms:created>
  <dcterms:modified xsi:type="dcterms:W3CDTF">2026-08-08T19:05:18Z</dcterms:modified>
</cp:coreProperties>
</file>