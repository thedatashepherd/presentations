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1" r:id="rId2"/>
    <p:sldMasterId id="2147483715" r:id="rId3"/>
    <p:sldMasterId id="2147483718" r:id="rId4"/>
  </p:sldMasterIdLst>
  <p:notesMasterIdLst>
    <p:notesMasterId r:id="rId71"/>
  </p:notesMasterIdLst>
  <p:handoutMasterIdLst>
    <p:handoutMasterId r:id="rId72"/>
  </p:handoutMasterIdLst>
  <p:sldIdLst>
    <p:sldId id="1165" r:id="rId5"/>
    <p:sldId id="2147477605" r:id="rId6"/>
    <p:sldId id="2147477598" r:id="rId7"/>
    <p:sldId id="1176" r:id="rId8"/>
    <p:sldId id="257" r:id="rId9"/>
    <p:sldId id="261" r:id="rId10"/>
    <p:sldId id="262" r:id="rId11"/>
    <p:sldId id="264" r:id="rId12"/>
    <p:sldId id="1083" r:id="rId13"/>
    <p:sldId id="1133" r:id="rId14"/>
    <p:sldId id="1146" r:id="rId15"/>
    <p:sldId id="1109" r:id="rId16"/>
    <p:sldId id="1147" r:id="rId17"/>
    <p:sldId id="1154" r:id="rId18"/>
    <p:sldId id="1155" r:id="rId19"/>
    <p:sldId id="1148" r:id="rId20"/>
    <p:sldId id="1094" r:id="rId21"/>
    <p:sldId id="1086" r:id="rId22"/>
    <p:sldId id="1108" r:id="rId23"/>
    <p:sldId id="1153" r:id="rId24"/>
    <p:sldId id="1145" r:id="rId25"/>
    <p:sldId id="1107" r:id="rId26"/>
    <p:sldId id="1164" r:id="rId27"/>
    <p:sldId id="1150" r:id="rId28"/>
    <p:sldId id="1162" r:id="rId29"/>
    <p:sldId id="1134" r:id="rId30"/>
    <p:sldId id="1110" r:id="rId31"/>
    <p:sldId id="1167" r:id="rId32"/>
    <p:sldId id="1151" r:id="rId33"/>
    <p:sldId id="1166" r:id="rId34"/>
    <p:sldId id="1129" r:id="rId35"/>
    <p:sldId id="1141" r:id="rId36"/>
    <p:sldId id="1128" r:id="rId37"/>
    <p:sldId id="1131" r:id="rId38"/>
    <p:sldId id="1163" r:id="rId39"/>
    <p:sldId id="1135" r:id="rId40"/>
    <p:sldId id="1130" r:id="rId41"/>
    <p:sldId id="1091" r:id="rId42"/>
    <p:sldId id="1132" r:id="rId43"/>
    <p:sldId id="1102" r:id="rId44"/>
    <p:sldId id="1103" r:id="rId45"/>
    <p:sldId id="1106" r:id="rId46"/>
    <p:sldId id="1093" r:id="rId47"/>
    <p:sldId id="1112" r:id="rId48"/>
    <p:sldId id="1157" r:id="rId49"/>
    <p:sldId id="1127" r:id="rId50"/>
    <p:sldId id="1111" r:id="rId51"/>
    <p:sldId id="1123" r:id="rId52"/>
    <p:sldId id="1124" r:id="rId53"/>
    <p:sldId id="1117" r:id="rId54"/>
    <p:sldId id="1138" r:id="rId55"/>
    <p:sldId id="1115" r:id="rId56"/>
    <p:sldId id="1098" r:id="rId57"/>
    <p:sldId id="1168" r:id="rId58"/>
    <p:sldId id="1100" r:id="rId59"/>
    <p:sldId id="1101" r:id="rId60"/>
    <p:sldId id="1137" r:id="rId61"/>
    <p:sldId id="1125" r:id="rId62"/>
    <p:sldId id="1156" r:id="rId63"/>
    <p:sldId id="1089" r:id="rId64"/>
    <p:sldId id="1116" r:id="rId65"/>
    <p:sldId id="1095" r:id="rId66"/>
    <p:sldId id="2147477606" r:id="rId67"/>
    <p:sldId id="263" r:id="rId68"/>
    <p:sldId id="793" r:id="rId69"/>
    <p:sldId id="1171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BB77199-17E0-4584-9983-5D52FD514E54}">
          <p14:sldIdLst>
            <p14:sldId id="1165"/>
            <p14:sldId id="2147477605"/>
            <p14:sldId id="2147477598"/>
            <p14:sldId id="1176"/>
            <p14:sldId id="257"/>
            <p14:sldId id="261"/>
            <p14:sldId id="262"/>
            <p14:sldId id="264"/>
          </p14:sldIdLst>
        </p14:section>
        <p14:section name="Intro" id="{52B7BA64-F74B-4CFE-B296-92538BDDC0C5}">
          <p14:sldIdLst/>
        </p14:section>
        <p14:section name="Navigation" id="{AD367297-BB7C-4CE3-A7C1-A1ED094AA75F}">
          <p14:sldIdLst>
            <p14:sldId id="1083"/>
          </p14:sldIdLst>
        </p14:section>
        <p14:section name="What it TMDL" id="{85188096-883C-4DCA-80C2-47E52FB3295E}">
          <p14:sldIdLst>
            <p14:sldId id="1133"/>
            <p14:sldId id="1146"/>
            <p14:sldId id="1109"/>
            <p14:sldId id="1147"/>
            <p14:sldId id="1154"/>
            <p14:sldId id="1155"/>
            <p14:sldId id="1148"/>
            <p14:sldId id="1094"/>
            <p14:sldId id="1086"/>
            <p14:sldId id="1108"/>
            <p14:sldId id="1153"/>
            <p14:sldId id="1145"/>
            <p14:sldId id="1107"/>
            <p14:sldId id="1164"/>
            <p14:sldId id="1150"/>
            <p14:sldId id="1162"/>
          </p14:sldIdLst>
        </p14:section>
        <p14:section name="PBIP TMDL" id="{1DF6D9BD-AE70-4E7F-9A43-CC725EB8C68C}">
          <p14:sldIdLst>
            <p14:sldId id="1134"/>
            <p14:sldId id="1110"/>
            <p14:sldId id="1167"/>
            <p14:sldId id="1151"/>
            <p14:sldId id="1166"/>
            <p14:sldId id="1129"/>
            <p14:sldId id="1141"/>
            <p14:sldId id="1128"/>
            <p14:sldId id="1131"/>
            <p14:sldId id="1163"/>
          </p14:sldIdLst>
        </p14:section>
        <p14:section name="TMDL View" id="{69BD3F1C-32A1-47FF-A182-2D70656D49F3}">
          <p14:sldIdLst>
            <p14:sldId id="1135"/>
            <p14:sldId id="1130"/>
            <p14:sldId id="1091"/>
            <p14:sldId id="1132"/>
            <p14:sldId id="1102"/>
            <p14:sldId id="1103"/>
            <p14:sldId id="1106"/>
            <p14:sldId id="1093"/>
            <p14:sldId id="1112"/>
            <p14:sldId id="1157"/>
            <p14:sldId id="1127"/>
            <p14:sldId id="1111"/>
            <p14:sldId id="1123"/>
            <p14:sldId id="1124"/>
            <p14:sldId id="1117"/>
          </p14:sldIdLst>
        </p14:section>
        <p14:section name="External Tools" id="{528B95A4-D4CC-4DC9-885F-D8AF3C164296}">
          <p14:sldIdLst>
            <p14:sldId id="1138"/>
            <p14:sldId id="1115"/>
            <p14:sldId id="1098"/>
            <p14:sldId id="1168"/>
            <p14:sldId id="1100"/>
            <p14:sldId id="1101"/>
          </p14:sldIdLst>
        </p14:section>
        <p14:section name="Conclusion" id="{87A43038-DDE1-4A23-B89E-E4BB63B940D9}">
          <p14:sldIdLst>
            <p14:sldId id="1137"/>
            <p14:sldId id="1125"/>
            <p14:sldId id="1156"/>
            <p14:sldId id="1089"/>
            <p14:sldId id="1116"/>
            <p14:sldId id="1095"/>
            <p14:sldId id="2147477606"/>
            <p14:sldId id="263"/>
            <p14:sldId id="793"/>
          </p14:sldIdLst>
        </p14:section>
        <p14:section name="Hidden" id="{1FBCD9DC-EE53-48F6-A1F0-E7F82C73FD67}">
          <p14:sldIdLst>
            <p14:sldId id="11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866"/>
    <a:srgbClr val="184259"/>
    <a:srgbClr val="18046E"/>
    <a:srgbClr val="133E57"/>
    <a:srgbClr val="FFCC00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CF3BE8-8E67-4C0F-8CB3-48A43E1F6BCF}" v="32" dt="2026-03-21T03:09:28.878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379" autoAdjust="0"/>
    <p:restoredTop sz="94652" autoAdjust="0"/>
  </p:normalViewPr>
  <p:slideViewPr>
    <p:cSldViewPr snapToGrid="0">
      <p:cViewPr varScale="1">
        <p:scale>
          <a:sx n="76" d="100"/>
          <a:sy n="76" d="100"/>
        </p:scale>
        <p:origin x="53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undo redo custSel addSld delSld modSld sldOrd delMainMaster modSection">
      <pc:chgData name="Jason Romans" userId="b1594dadafe83612" providerId="LiveId" clId="{CBB49B5A-BAC4-4EF9-90F7-6CF68F907A02}" dt="2026-03-21T03:09:28.878" v="537"/>
      <pc:docMkLst>
        <pc:docMk/>
      </pc:docMkLst>
      <pc:sldChg chg="add del setBg">
        <pc:chgData name="Jason Romans" userId="b1594dadafe83612" providerId="LiveId" clId="{CBB49B5A-BAC4-4EF9-90F7-6CF68F907A02}" dt="2026-03-21T03:02:47.831" v="515" actId="2696"/>
        <pc:sldMkLst>
          <pc:docMk/>
          <pc:sldMk cId="0" sldId="257"/>
        </pc:sldMkLst>
      </pc:sldChg>
      <pc:sldChg chg="add">
        <pc:chgData name="Jason Romans" userId="b1594dadafe83612" providerId="LiveId" clId="{CBB49B5A-BAC4-4EF9-90F7-6CF68F907A02}" dt="2026-03-21T03:02:53.124" v="516"/>
        <pc:sldMkLst>
          <pc:docMk/>
          <pc:sldMk cId="1647770611" sldId="257"/>
        </pc:sldMkLst>
      </pc:sldChg>
      <pc:sldChg chg="add">
        <pc:chgData name="Jason Romans" userId="b1594dadafe83612" providerId="LiveId" clId="{CBB49B5A-BAC4-4EF9-90F7-6CF68F907A02}" dt="2026-03-21T03:02:53.124" v="516"/>
        <pc:sldMkLst>
          <pc:docMk/>
          <pc:sldMk cId="612132362" sldId="261"/>
        </pc:sldMkLst>
      </pc:sldChg>
      <pc:sldChg chg="add del setBg">
        <pc:chgData name="Jason Romans" userId="b1594dadafe83612" providerId="LiveId" clId="{CBB49B5A-BAC4-4EF9-90F7-6CF68F907A02}" dt="2026-03-21T03:02:47.831" v="515" actId="2696"/>
        <pc:sldMkLst>
          <pc:docMk/>
          <pc:sldMk cId="1729477822" sldId="261"/>
        </pc:sldMkLst>
      </pc:sldChg>
      <pc:sldChg chg="add">
        <pc:chgData name="Jason Romans" userId="b1594dadafe83612" providerId="LiveId" clId="{CBB49B5A-BAC4-4EF9-90F7-6CF68F907A02}" dt="2026-03-21T03:02:53.124" v="516"/>
        <pc:sldMkLst>
          <pc:docMk/>
          <pc:sldMk cId="916545413" sldId="262"/>
        </pc:sldMkLst>
      </pc:sldChg>
      <pc:sldChg chg="add del setBg">
        <pc:chgData name="Jason Romans" userId="b1594dadafe83612" providerId="LiveId" clId="{CBB49B5A-BAC4-4EF9-90F7-6CF68F907A02}" dt="2026-03-21T03:02:47.831" v="515" actId="2696"/>
        <pc:sldMkLst>
          <pc:docMk/>
          <pc:sldMk cId="4165344062" sldId="262"/>
        </pc:sldMkLst>
      </pc:sldChg>
      <pc:sldChg chg="add setBg">
        <pc:chgData name="Jason Romans" userId="b1594dadafe83612" providerId="LiveId" clId="{CBB49B5A-BAC4-4EF9-90F7-6CF68F907A02}" dt="2026-03-21T03:02:26.091" v="514"/>
        <pc:sldMkLst>
          <pc:docMk/>
          <pc:sldMk cId="2347446544" sldId="263"/>
        </pc:sldMkLst>
      </pc:sldChg>
      <pc:sldChg chg="add del setBg">
        <pc:chgData name="Jason Romans" userId="b1594dadafe83612" providerId="LiveId" clId="{CBB49B5A-BAC4-4EF9-90F7-6CF68F907A02}" dt="2026-03-21T03:02:47.831" v="515" actId="2696"/>
        <pc:sldMkLst>
          <pc:docMk/>
          <pc:sldMk cId="2623640545" sldId="264"/>
        </pc:sldMkLst>
      </pc:sldChg>
      <pc:sldChg chg="add">
        <pc:chgData name="Jason Romans" userId="b1594dadafe83612" providerId="LiveId" clId="{CBB49B5A-BAC4-4EF9-90F7-6CF68F907A02}" dt="2026-03-21T03:02:53.124" v="516"/>
        <pc:sldMkLst>
          <pc:docMk/>
          <pc:sldMk cId="2644995866" sldId="264"/>
        </pc:sldMkLst>
      </pc:sldChg>
      <pc:sldChg chg="addSp delSp modSp mod">
        <pc:chgData name="Jason Romans" userId="b1594dadafe83612" providerId="LiveId" clId="{CBB49B5A-BAC4-4EF9-90F7-6CF68F907A02}" dt="2026-03-05T20:53:35.889" v="419" actId="1076"/>
        <pc:sldMkLst>
          <pc:docMk/>
          <pc:sldMk cId="2994062148" sldId="793"/>
        </pc:sldMkLst>
        <pc:spChg chg="add mod">
          <ac:chgData name="Jason Romans" userId="b1594dadafe83612" providerId="LiveId" clId="{CBB49B5A-BAC4-4EF9-90F7-6CF68F907A02}" dt="2026-03-05T20:53:11.449" v="414" actId="1076"/>
          <ac:spMkLst>
            <pc:docMk/>
            <pc:sldMk cId="2994062148" sldId="793"/>
            <ac:spMk id="7" creationId="{116E4321-40EF-CA88-2740-7E7A684BA5CF}"/>
          </ac:spMkLst>
        </pc:spChg>
        <pc:grpChg chg="mod">
          <ac:chgData name="Jason Romans" userId="b1594dadafe83612" providerId="LiveId" clId="{CBB49B5A-BAC4-4EF9-90F7-6CF68F907A02}" dt="2026-03-05T20:53:35.889" v="419" actId="1076"/>
          <ac:grpSpMkLst>
            <pc:docMk/>
            <pc:sldMk cId="2994062148" sldId="793"/>
            <ac:grpSpMk id="2" creationId="{17063FF0-0E35-B940-79F7-83643291FC88}"/>
          </ac:grpSpMkLst>
        </pc:grpChg>
        <pc:picChg chg="add mod">
          <ac:chgData name="Jason Romans" userId="b1594dadafe83612" providerId="LiveId" clId="{CBB49B5A-BAC4-4EF9-90F7-6CF68F907A02}" dt="2026-03-05T20:53:00.496" v="412" actId="1076"/>
          <ac:picMkLst>
            <pc:docMk/>
            <pc:sldMk cId="2994062148" sldId="793"/>
            <ac:picMk id="5" creationId="{8E61FDC2-9A83-13AF-3403-AC458112DBA7}"/>
          </ac:picMkLst>
        </pc:picChg>
      </pc:sldChg>
      <pc:sldChg chg="modSp modAnim">
        <pc:chgData name="Jason Romans" userId="b1594dadafe83612" providerId="LiveId" clId="{CBB49B5A-BAC4-4EF9-90F7-6CF68F907A02}" dt="2026-03-21T03:09:28.878" v="537"/>
        <pc:sldMkLst>
          <pc:docMk/>
          <pc:sldMk cId="2007185379" sldId="1094"/>
        </pc:sldMkLst>
        <pc:spChg chg="mod">
          <ac:chgData name="Jason Romans" userId="b1594dadafe83612" providerId="LiveId" clId="{CBB49B5A-BAC4-4EF9-90F7-6CF68F907A02}" dt="2026-03-10T02:55:28.181" v="505"/>
          <ac:spMkLst>
            <pc:docMk/>
            <pc:sldMk cId="2007185379" sldId="1094"/>
            <ac:spMk id="3" creationId="{08BB21D5-0C48-F8E5-A021-10A79ED64475}"/>
          </ac:spMkLst>
        </pc:spChg>
      </pc:sldChg>
      <pc:sldChg chg="modSp mod">
        <pc:chgData name="Jason Romans" userId="b1594dadafe83612" providerId="LiveId" clId="{CBB49B5A-BAC4-4EF9-90F7-6CF68F907A02}" dt="2026-03-10T02:33:46.608" v="442" actId="20577"/>
        <pc:sldMkLst>
          <pc:docMk/>
          <pc:sldMk cId="3453013215" sldId="1106"/>
        </pc:sldMkLst>
        <pc:spChg chg="mod">
          <ac:chgData name="Jason Romans" userId="b1594dadafe83612" providerId="LiveId" clId="{CBB49B5A-BAC4-4EF9-90F7-6CF68F907A02}" dt="2026-03-10T02:33:46.608" v="442" actId="20577"/>
          <ac:spMkLst>
            <pc:docMk/>
            <pc:sldMk cId="3453013215" sldId="1106"/>
            <ac:spMk id="2" creationId="{82B065BA-F03C-EF8E-8596-5D25A975DBCB}"/>
          </ac:spMkLst>
        </pc:spChg>
      </pc:sldChg>
      <pc:sldChg chg="modSp mod modAnim">
        <pc:chgData name="Jason Romans" userId="b1594dadafe83612" providerId="LiveId" clId="{CBB49B5A-BAC4-4EF9-90F7-6CF68F907A02}" dt="2026-03-10T02:11:58.712" v="426" actId="20577"/>
        <pc:sldMkLst>
          <pc:docMk/>
          <pc:sldMk cId="1379607131" sldId="1125"/>
        </pc:sldMkLst>
        <pc:spChg chg="mod">
          <ac:chgData name="Jason Romans" userId="b1594dadafe83612" providerId="LiveId" clId="{CBB49B5A-BAC4-4EF9-90F7-6CF68F907A02}" dt="2026-03-10T02:11:58.712" v="426" actId="20577"/>
          <ac:spMkLst>
            <pc:docMk/>
            <pc:sldMk cId="1379607131" sldId="1125"/>
            <ac:spMk id="3" creationId="{59E19EB8-F67E-02D8-1FFD-259F12B4AE88}"/>
          </ac:spMkLst>
        </pc:spChg>
      </pc:sldChg>
      <pc:sldChg chg="modSp">
        <pc:chgData name="Jason Romans" userId="b1594dadafe83612" providerId="LiveId" clId="{CBB49B5A-BAC4-4EF9-90F7-6CF68F907A02}" dt="2026-03-10T02:10:55.063" v="423"/>
        <pc:sldMkLst>
          <pc:docMk/>
          <pc:sldMk cId="1686208110" sldId="1135"/>
        </pc:sldMkLst>
        <pc:spChg chg="mod">
          <ac:chgData name="Jason Romans" userId="b1594dadafe83612" providerId="LiveId" clId="{CBB49B5A-BAC4-4EF9-90F7-6CF68F907A02}" dt="2026-03-10T02:10:55.063" v="423"/>
          <ac:spMkLst>
            <pc:docMk/>
            <pc:sldMk cId="1686208110" sldId="1135"/>
            <ac:spMk id="7" creationId="{1CD2E189-2B2A-9669-3EF6-D12261E4017F}"/>
          </ac:spMkLst>
        </pc:spChg>
      </pc:sldChg>
      <pc:sldChg chg="addSp delSp modSp mod modClrScheme chgLayout">
        <pc:chgData name="Jason Romans" userId="b1594dadafe83612" providerId="LiveId" clId="{CBB49B5A-BAC4-4EF9-90F7-6CF68F907A02}" dt="2026-03-10T02:54:26.198" v="504" actId="1076"/>
        <pc:sldMkLst>
          <pc:docMk/>
          <pc:sldMk cId="4169042716" sldId="1148"/>
        </pc:sldMkLst>
        <pc:spChg chg="mod">
          <ac:chgData name="Jason Romans" userId="b1594dadafe83612" providerId="LiveId" clId="{CBB49B5A-BAC4-4EF9-90F7-6CF68F907A02}" dt="2026-03-10T02:53:15.868" v="494" actId="26606"/>
          <ac:spMkLst>
            <pc:docMk/>
            <pc:sldMk cId="4169042716" sldId="1148"/>
            <ac:spMk id="2" creationId="{60E35EA3-6E7E-F362-6E70-B7CA2DA2A574}"/>
          </ac:spMkLst>
        </pc:spChg>
        <pc:spChg chg="mod ord">
          <ac:chgData name="Jason Romans" userId="b1594dadafe83612" providerId="LiveId" clId="{CBB49B5A-BAC4-4EF9-90F7-6CF68F907A02}" dt="2026-03-10T02:53:15.868" v="494" actId="26606"/>
          <ac:spMkLst>
            <pc:docMk/>
            <pc:sldMk cId="4169042716" sldId="1148"/>
            <ac:spMk id="3" creationId="{FC914AC5-EED9-2EF7-1A15-0C535EECE8AB}"/>
          </ac:spMkLst>
        </pc:spChg>
        <pc:picChg chg="add mod">
          <ac:chgData name="Jason Romans" userId="b1594dadafe83612" providerId="LiveId" clId="{CBB49B5A-BAC4-4EF9-90F7-6CF68F907A02}" dt="2026-03-10T02:54:26.198" v="504" actId="1076"/>
          <ac:picMkLst>
            <pc:docMk/>
            <pc:sldMk cId="4169042716" sldId="1148"/>
            <ac:picMk id="9" creationId="{06F9871E-1F54-07B2-BB11-CDA6CC328753}"/>
          </ac:picMkLst>
        </pc:picChg>
      </pc:sldChg>
      <pc:sldChg chg="modSp mod">
        <pc:chgData name="Jason Romans" userId="b1594dadafe83612" providerId="LiveId" clId="{CBB49B5A-BAC4-4EF9-90F7-6CF68F907A02}" dt="2026-03-10T02:34:33.936" v="468" actId="20577"/>
        <pc:sldMkLst>
          <pc:docMk/>
          <pc:sldMk cId="4150155750" sldId="1151"/>
        </pc:sldMkLst>
        <pc:spChg chg="mod">
          <ac:chgData name="Jason Romans" userId="b1594dadafe83612" providerId="LiveId" clId="{CBB49B5A-BAC4-4EF9-90F7-6CF68F907A02}" dt="2026-03-10T02:34:33.936" v="468" actId="20577"/>
          <ac:spMkLst>
            <pc:docMk/>
            <pc:sldMk cId="4150155750" sldId="1151"/>
            <ac:spMk id="2" creationId="{95FB550B-E3BA-199F-0410-A00042AFED21}"/>
          </ac:spMkLst>
        </pc:spChg>
      </pc:sldChg>
      <pc:sldChg chg="modSp mod setBg">
        <pc:chgData name="Jason Romans" userId="b1594dadafe83612" providerId="LiveId" clId="{CBB49B5A-BAC4-4EF9-90F7-6CF68F907A02}" dt="2026-03-21T03:05:59.150" v="533" actId="108"/>
        <pc:sldMkLst>
          <pc:docMk/>
          <pc:sldMk cId="3323459766" sldId="1165"/>
        </pc:sldMkLst>
        <pc:spChg chg="mod">
          <ac:chgData name="Jason Romans" userId="b1594dadafe83612" providerId="LiveId" clId="{CBB49B5A-BAC4-4EF9-90F7-6CF68F907A02}" dt="2026-03-21T03:05:59.150" v="533" actId="108"/>
          <ac:spMkLst>
            <pc:docMk/>
            <pc:sldMk cId="3323459766" sldId="1165"/>
            <ac:spMk id="3" creationId="{EF747EA3-E3C9-5548-1B88-FF28A63E5A13}"/>
          </ac:spMkLst>
        </pc:spChg>
        <pc:spChg chg="mod">
          <ac:chgData name="Jason Romans" userId="b1594dadafe83612" providerId="LiveId" clId="{CBB49B5A-BAC4-4EF9-90F7-6CF68F907A02}" dt="2026-03-10T02:58:33.755" v="507" actId="1076"/>
          <ac:spMkLst>
            <pc:docMk/>
            <pc:sldMk cId="3323459766" sldId="1165"/>
            <ac:spMk id="4" creationId="{C8A56885-1670-D466-D28A-7A600C74C03D}"/>
          </ac:spMkLst>
        </pc:spChg>
      </pc:sldChg>
      <pc:sldChg chg="modSp mod">
        <pc:chgData name="Jason Romans" userId="b1594dadafe83612" providerId="LiveId" clId="{CBB49B5A-BAC4-4EF9-90F7-6CF68F907A02}" dt="2026-03-10T02:59:37.890" v="508" actId="14100"/>
        <pc:sldMkLst>
          <pc:docMk/>
          <pc:sldMk cId="1791925737" sldId="1167"/>
        </pc:sldMkLst>
        <pc:spChg chg="mod">
          <ac:chgData name="Jason Romans" userId="b1594dadafe83612" providerId="LiveId" clId="{CBB49B5A-BAC4-4EF9-90F7-6CF68F907A02}" dt="2026-03-10T02:59:37.890" v="508" actId="14100"/>
          <ac:spMkLst>
            <pc:docMk/>
            <pc:sldMk cId="1791925737" sldId="1167"/>
            <ac:spMk id="4" creationId="{B722B711-1C4A-6570-F585-B1A65E2220A5}"/>
          </ac:spMkLst>
        </pc:spChg>
      </pc:sldChg>
      <pc:sldChg chg="addSp delSp modSp add del mod ord modShow">
        <pc:chgData name="Jason Romans" userId="b1594dadafe83612" providerId="LiveId" clId="{CBB49B5A-BAC4-4EF9-90F7-6CF68F907A02}" dt="2026-03-21T03:01:36.960" v="513"/>
        <pc:sldMkLst>
          <pc:docMk/>
          <pc:sldMk cId="2948015300" sldId="1171"/>
        </pc:sldMkLst>
        <pc:spChg chg="mod">
          <ac:chgData name="Jason Romans" userId="b1594dadafe83612" providerId="LiveId" clId="{CBB49B5A-BAC4-4EF9-90F7-6CF68F907A02}" dt="2026-03-03T15:22:56.655" v="354" actId="20577"/>
          <ac:spMkLst>
            <pc:docMk/>
            <pc:sldMk cId="2948015300" sldId="1171"/>
            <ac:spMk id="4" creationId="{7CE6579E-1D2E-C95F-6422-4DB8ACB5D842}"/>
          </ac:spMkLst>
        </pc:spChg>
      </pc:sldChg>
      <pc:sldChg chg="delSp add del mod ord setBg">
        <pc:chgData name="Jason Romans" userId="b1594dadafe83612" providerId="LiveId" clId="{CBB49B5A-BAC4-4EF9-90F7-6CF68F907A02}" dt="2026-03-21T03:03:59.393" v="522"/>
        <pc:sldMkLst>
          <pc:docMk/>
          <pc:sldMk cId="0" sldId="1176"/>
        </pc:sldMkLst>
      </pc:sldChg>
      <pc:sldChg chg="add addAnim delAnim modAnim">
        <pc:chgData name="Jason Romans" userId="b1594dadafe83612" providerId="LiveId" clId="{CBB49B5A-BAC4-4EF9-90F7-6CF68F907A02}" dt="2026-03-21T03:07:20.943" v="536"/>
        <pc:sldMkLst>
          <pc:docMk/>
          <pc:sldMk cId="154318690" sldId="2147477598"/>
        </pc:sldMkLst>
      </pc:sldChg>
      <pc:sldChg chg="add del setBg">
        <pc:chgData name="Jason Romans" userId="b1594dadafe83612" providerId="LiveId" clId="{CBB49B5A-BAC4-4EF9-90F7-6CF68F907A02}" dt="2026-03-21T03:03:24.657" v="519"/>
        <pc:sldMkLst>
          <pc:docMk/>
          <pc:sldMk cId="462579888" sldId="2147477598"/>
        </pc:sldMkLst>
      </pc:sldChg>
      <pc:sldChg chg="add del setBg">
        <pc:chgData name="Jason Romans" userId="b1594dadafe83612" providerId="LiveId" clId="{CBB49B5A-BAC4-4EF9-90F7-6CF68F907A02}" dt="2026-03-21T03:03:17.209" v="517" actId="2696"/>
        <pc:sldMkLst>
          <pc:docMk/>
          <pc:sldMk cId="2724296942" sldId="2147477598"/>
        </pc:sldMkLst>
      </pc:sldChg>
      <pc:sldChg chg="add del setBg">
        <pc:chgData name="Jason Romans" userId="b1594dadafe83612" providerId="LiveId" clId="{CBB49B5A-BAC4-4EF9-90F7-6CF68F907A02}" dt="2026-03-21T03:03:24.657" v="519"/>
        <pc:sldMkLst>
          <pc:docMk/>
          <pc:sldMk cId="146162220" sldId="2147477605"/>
        </pc:sldMkLst>
      </pc:sldChg>
      <pc:sldChg chg="delSp modSp add del mod setBg">
        <pc:chgData name="Jason Romans" userId="b1594dadafe83612" providerId="LiveId" clId="{CBB49B5A-BAC4-4EF9-90F7-6CF68F907A02}" dt="2026-03-21T03:03:17.209" v="517" actId="2696"/>
        <pc:sldMkLst>
          <pc:docMk/>
          <pc:sldMk cId="598238240" sldId="2147477605"/>
        </pc:sldMkLst>
      </pc:sldChg>
      <pc:sldChg chg="add">
        <pc:chgData name="Jason Romans" userId="b1594dadafe83612" providerId="LiveId" clId="{CBB49B5A-BAC4-4EF9-90F7-6CF68F907A02}" dt="2026-03-21T03:03:30.831" v="520"/>
        <pc:sldMkLst>
          <pc:docMk/>
          <pc:sldMk cId="1668398681" sldId="2147477605"/>
        </pc:sldMkLst>
      </pc:sldChg>
      <pc:sldChg chg="modSp add mod">
        <pc:chgData name="Jason Romans" userId="b1594dadafe83612" providerId="LiveId" clId="{CBB49B5A-BAC4-4EF9-90F7-6CF68F907A02}" dt="2026-03-10T02:45:25.330" v="477" actId="20577"/>
        <pc:sldMkLst>
          <pc:docMk/>
          <pc:sldMk cId="3675507807" sldId="2147477606"/>
        </pc:sldMkLst>
        <pc:spChg chg="mod">
          <ac:chgData name="Jason Romans" userId="b1594dadafe83612" providerId="LiveId" clId="{CBB49B5A-BAC4-4EF9-90F7-6CF68F907A02}" dt="2026-03-10T02:45:25.330" v="477" actId="20577"/>
          <ac:spMkLst>
            <pc:docMk/>
            <pc:sldMk cId="3675507807" sldId="2147477606"/>
            <ac:spMk id="10" creationId="{00000000-0000-0000-0000-000000000000}"/>
          </ac:spMkLst>
        </pc:spChg>
      </pc:sldChg>
      <pc:sldMasterChg chg="del delSldLayout">
        <pc:chgData name="Jason Romans" userId="b1594dadafe83612" providerId="LiveId" clId="{CBB49B5A-BAC4-4EF9-90F7-6CF68F907A02}" dt="2026-03-21T03:03:17.209" v="517" actId="2696"/>
        <pc:sldMasterMkLst>
          <pc:docMk/>
          <pc:sldMasterMk cId="1795253255" sldId="2147483702"/>
        </pc:sldMasterMkLst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3011341646" sldId="2147483703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2150939069" sldId="2147483704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1263975722" sldId="2147483705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96482160" sldId="2147483706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3305453031" sldId="2147483707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3978882842" sldId="2147483708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3312234559" sldId="2147483709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140589482" sldId="2147483710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2111199247" sldId="2147483711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2675039215" sldId="2147483712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766031646" sldId="2147483713"/>
          </pc:sldLayoutMkLst>
        </pc:sldLayoutChg>
        <pc:sldLayoutChg chg="del">
          <pc:chgData name="Jason Romans" userId="b1594dadafe83612" providerId="LiveId" clId="{CBB49B5A-BAC4-4EF9-90F7-6CF68F907A02}" dt="2026-03-21T03:03:17.209" v="517" actId="2696"/>
          <pc:sldLayoutMkLst>
            <pc:docMk/>
            <pc:sldMasterMk cId="1795253255" sldId="2147483702"/>
            <pc:sldLayoutMk cId="4178229280" sldId="214748371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AA17F-CB06-445B-ACD3-321E84E51A80}" type="datetimeFigureOut">
              <a:rPr lang="en-US" smtClean="0">
                <a:latin typeface="Roboto" panose="02000000000000000000" pitchFamily="2" charset="0"/>
              </a:rPr>
              <a:t>3/20/2026</a:t>
            </a:fld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8EF9-7F2B-4B20-A25C-9E80C16977B9}" type="slidenum">
              <a:rPr lang="en-US" smtClean="0">
                <a:latin typeface="Roboto" panose="02000000000000000000" pitchFamily="2" charset="0"/>
              </a:rPr>
              <a:t>‹#›</a:t>
            </a:fld>
            <a:endParaRPr lang="en-US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B06141C0-BF72-4A20-AFA7-D05563D549B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C6AAF9CF-D1E5-49FD-94F7-B246BB67E24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6BDC-14E3-53A3-BAE9-5644AF00F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1288B-2A49-E5C5-DA74-3232B8CD2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57274-8FD7-70E3-D1A8-7D28DF78D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Peter</a:t>
            </a:r>
          </a:p>
        </p:txBody>
      </p:sp>
    </p:spTree>
    <p:extLst>
      <p:ext uri="{BB962C8B-B14F-4D97-AF65-F5344CB8AC3E}">
        <p14:creationId xmlns:p14="http://schemas.microsoft.com/office/powerpoint/2010/main" val="969143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78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1306F-350E-358E-0EDF-51EDAEAF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6C822-31E6-681D-CD5B-CBD3FFA5E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31B63-8954-9118-9C9C-B0AC49E19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49BE7-0D33-3849-C2DF-A117BBA6C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88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E348D-2080-23DC-9355-33BC94F9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21452-5AD7-AEF5-B4D5-6AB6B6C0C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4B2F7-07EE-AA92-327F-4D13C501B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D287E-E175-F04C-46E2-28DC9CF99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16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0484-CCAC-8018-9F56-C67E05B9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8FA9E-FB43-4760-C8CD-F89DB5AA3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456EB-527D-1CBC-C5ED-5E407B79D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94FA7-CF91-EDEF-35BD-3C59FD609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23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E6368-18FA-D3B6-2A62-29FF6837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DF03B-FFB4-5A87-178E-CBB0EC935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4B434-3690-D725-CBA2-851E86D0E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0FC11-7926-626C-2B8F-8AD24DF8A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71086">
              <a:defRPr/>
            </a:pPr>
            <a:fld id="{8AAC36F6-552A-45C2-8C1E-50F55BEEFA41}" type="slidenum">
              <a:rPr lang="en-US">
                <a:solidFill>
                  <a:prstClr val="black"/>
                </a:solidFill>
              </a:rPr>
              <a:pPr defTabSz="471086">
                <a:defRPr/>
              </a:pPr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457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D6121-4751-6FA1-66B0-5C2B87D72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25156-0628-1467-5C7D-6C05641A1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DF5DC-8077-D875-0DEA-3E261EC71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D20C9-EB12-7380-BC64-D81A5F1FC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71086">
              <a:defRPr/>
            </a:pPr>
            <a:fld id="{8AAC36F6-552A-45C2-8C1E-50F55BEEFA41}" type="slidenum">
              <a:rPr lang="en-US">
                <a:solidFill>
                  <a:prstClr val="black"/>
                </a:solidFill>
              </a:rPr>
              <a:pPr defTabSz="471086">
                <a:defRPr/>
              </a:pPr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225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BB49-4007-EED4-E2FE-247FB215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A00EF-8AE9-557B-47E0-6483405F2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5FD40-B1FD-BDF2-E475-31AACEBE0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B1AFF-F038-6789-14A8-27BC01307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71086">
              <a:defRPr/>
            </a:pPr>
            <a:fld id="{8AAC36F6-552A-45C2-8C1E-50F55BEEFA41}" type="slidenum">
              <a:rPr lang="en-US">
                <a:solidFill>
                  <a:prstClr val="black"/>
                </a:solidFill>
              </a:rPr>
              <a:pPr defTabSz="471086">
                <a:defRPr/>
              </a:pPr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475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A9280-7BDB-2D44-6A8B-B596A8DD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8E5BB-6DB3-8FE0-3726-498360689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39A2F-AC60-3284-0E53-2EAA885CD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01E5F-FC6B-CD01-A888-B2541E568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71086">
              <a:defRPr/>
            </a:pPr>
            <a:fld id="{8AAC36F6-552A-45C2-8C1E-50F55BEEFA41}" type="slidenum">
              <a:rPr lang="en-US">
                <a:solidFill>
                  <a:prstClr val="black"/>
                </a:solidFill>
              </a:rPr>
              <a:pPr defTabSz="471086">
                <a:defRPr/>
              </a:pPr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638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F881-AAAA-3F84-1E2F-2E4DC708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5D00D-6827-6C70-3BB1-BD1858A7C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0E646-8024-65CB-28D0-F806350D0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AC623-606E-EB9B-A1FF-C42E6F862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71086">
              <a:defRPr/>
            </a:pPr>
            <a:fld id="{8AAC36F6-552A-45C2-8C1E-50F55BEEFA41}" type="slidenum">
              <a:rPr lang="en-US">
                <a:solidFill>
                  <a:prstClr val="black"/>
                </a:solidFill>
              </a:rPr>
              <a:pPr defTabSz="471086">
                <a:defRPr/>
              </a:pPr>
              <a:t>51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881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DB95-3EE8-DE19-A726-331FEFBC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2C827-58F9-423C-B23F-4BC527960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5D22C-D4EE-1745-A0AD-E565B1A17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FAE60-2B4E-059F-0D9A-E9637BD6A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71086">
              <a:defRPr/>
            </a:pPr>
            <a:fld id="{8AAC36F6-552A-45C2-8C1E-50F55BEEFA41}" type="slidenum">
              <a:rPr lang="en-US">
                <a:solidFill>
                  <a:prstClr val="black"/>
                </a:solidFill>
              </a:rPr>
              <a:pPr defTabSz="471086">
                <a:defRPr/>
              </a:pPr>
              <a:t>57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362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E584-08AA-4A20-0132-56AE9D02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38F56-D8B4-D22F-91C4-E599013DF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2C86E-BE32-FEDE-ACD9-8C03D468B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Conference title, event date, and location are based on the official SQL Saturday Atlanta 2026 event page: https://sqlsaturday.com/2026-03-21-sqlsaturday1127/
- Color palette is derived from the user-provided logo image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962B9-6381-EF89-E5B7-84D04E09F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35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anchor="t" anchorCtr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anchor="ctr" anchorCtr="0">
            <a:normAutofit/>
          </a:bodyPr>
          <a:lstStyle>
            <a:lvl1pPr algn="l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Roboto" panose="02000000000000000000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anchor="ctr">
            <a:normAutofit/>
          </a:bodyPr>
          <a:lstStyle>
            <a:lvl1pPr algn="l">
              <a:defRPr sz="3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3/20/2026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SQLS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771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">
    <p:bg>
      <p:bgPr>
        <a:solidFill>
          <a:srgbClr val="133E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1ABE85-BED3-368D-C493-1F177F928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027" y="614194"/>
            <a:ext cx="6137623" cy="711882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 i="0">
                <a:gradFill flip="none" rotWithShape="1">
                  <a:gsLst>
                    <a:gs pos="0">
                      <a:schemeClr val="bg2">
                        <a:lumMod val="10000"/>
                        <a:lumOff val="90000"/>
                      </a:schemeClr>
                    </a:gs>
                    <a:gs pos="100000">
                      <a:schemeClr val="bg2">
                        <a:lumMod val="75000"/>
                        <a:lumOff val="25000"/>
                      </a:schemeClr>
                    </a:gs>
                  </a:gsLst>
                  <a:lin ang="0" scaled="1"/>
                  <a:tileRect/>
                </a:gra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First Name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4E7824-6F70-8C5B-A61A-F9DC2BF81F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0028" y="2726722"/>
            <a:ext cx="6035252" cy="64778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8A75621-9208-9D37-A8F9-BF25A98946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04218" y="597976"/>
            <a:ext cx="2263240" cy="2263240"/>
          </a:xfrm>
          <a:prstGeom prst="ellipse">
            <a:avLst/>
          </a:prstGeom>
          <a:solidFill>
            <a:srgbClr val="002060"/>
          </a:solidFill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DAFEE0-0008-D8FD-4612-B7A0A5F1601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365882" y="4935742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CFA094-324A-C81E-60C7-CFA7C3D1D9E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65882" y="5456720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C06D84-B444-738F-4FAA-0E703DAF5A2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65882" y="5977698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326385-D0EB-7C5D-38B8-8111D86FDDC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90028" y="3254856"/>
            <a:ext cx="6035252" cy="64778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33ADF5-EA43-CE2E-A6B7-78D67C2A1FE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90027" y="1950557"/>
            <a:ext cx="6035251" cy="40481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12FF48EA-B45A-6121-7CD9-11E4B4A14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0027" y="1330944"/>
            <a:ext cx="6137624" cy="711882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Second Name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29DD15D-35AB-AFCF-346B-A65619BB46F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153154" y="3228730"/>
            <a:ext cx="4614304" cy="3286127"/>
          </a:xfrm>
        </p:spPr>
        <p:txBody>
          <a:bodyPr anchor="t">
            <a:normAutofit/>
          </a:bodyPr>
          <a:lstStyle>
            <a:lvl1pPr marL="342900" indent="-342900">
              <a:lnSpc>
                <a:spcPct val="114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About you</a:t>
            </a:r>
          </a:p>
        </p:txBody>
      </p:sp>
    </p:spTree>
    <p:extLst>
      <p:ext uri="{BB962C8B-B14F-4D97-AF65-F5344CB8AC3E}">
        <p14:creationId xmlns:p14="http://schemas.microsoft.com/office/powerpoint/2010/main" val="1715007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solidFill>
          <a:srgbClr val="1842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DC7EF636-A03A-F033-ACB9-D79BE999560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90027" y="977417"/>
            <a:ext cx="8045973" cy="122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 b="0" i="0" kern="1200"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Kanit Medium" pitchFamily="2" charset="-34"/>
                <a:ea typeface="+mj-ea"/>
                <a:cs typeface="Kanit Medium" pitchFamily="2" charset="-34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6400" b="1" i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Thank you</a:t>
            </a:r>
            <a:endParaRPr lang="en-US" altLang="en-US" sz="6400" b="1" i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3B94122-21B6-9D9D-5675-E333C78DB5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026" y="2024963"/>
            <a:ext cx="8268223" cy="14525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4pPr>
              <a:lnSpc>
                <a:spcPct val="100000"/>
              </a:lnSpc>
              <a:defRPr b="0" i="0"/>
            </a:lvl4pPr>
            <a:lvl5pPr>
              <a:lnSpc>
                <a:spcPct val="100000"/>
              </a:lnSpc>
              <a:defRPr b="0" i="0"/>
            </a:lvl5pPr>
          </a:lstStyle>
          <a:p>
            <a:pPr lvl="0"/>
            <a:r>
              <a:rPr lang="en-GB" dirty="0"/>
              <a:t>Add text here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7952CFF-69E4-5FA7-CF81-6B2B9EC35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026" y="3766912"/>
            <a:ext cx="6137623" cy="711882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 i="0">
                <a:gradFill flip="none" rotWithShape="1"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First Name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38191D8-000B-72FF-35FE-1A90E6259E1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65882" y="4433964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8BD7C6B-3124-8E85-7125-FA5A843D481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65882" y="4954942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868F72F-AA81-37F0-4A8D-251D9543F28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1365882" y="5475920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</p:spTree>
    <p:extLst>
      <p:ext uri="{BB962C8B-B14F-4D97-AF65-F5344CB8AC3E}">
        <p14:creationId xmlns:p14="http://schemas.microsoft.com/office/powerpoint/2010/main" val="696228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729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16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768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27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649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92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52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68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099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182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953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88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bi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1ABE85-BED3-368D-C493-1F177F928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027" y="614194"/>
            <a:ext cx="6137623" cy="711882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 i="0">
                <a:gradFill flip="none" rotWithShape="1"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First Name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4E7824-6F70-8C5B-A61A-F9DC2BF81F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0028" y="2726722"/>
            <a:ext cx="6035252" cy="64778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8A75621-9208-9D37-A8F9-BF25A98946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04218" y="597976"/>
            <a:ext cx="2263240" cy="226324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DAFEE0-0008-D8FD-4612-B7A0A5F1601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365882" y="4935742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CFA094-324A-C81E-60C7-CFA7C3D1D9E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65882" y="5456720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C06D84-B444-738F-4FAA-0E703DAF5A2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65882" y="5977698"/>
            <a:ext cx="5336557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326385-D0EB-7C5D-38B8-8111D86FDDC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90028" y="3254856"/>
            <a:ext cx="6035252" cy="64778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33ADF5-EA43-CE2E-A6B7-78D67C2A1FE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90027" y="1950557"/>
            <a:ext cx="6035251" cy="40481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12FF48EA-B45A-6121-7CD9-11E4B4A14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0027" y="1330944"/>
            <a:ext cx="6137624" cy="711882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Second Name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29DD15D-35AB-AFCF-346B-A65619BB46F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153154" y="3228730"/>
            <a:ext cx="4614304" cy="3286127"/>
          </a:xfrm>
        </p:spPr>
        <p:txBody>
          <a:bodyPr anchor="t">
            <a:normAutofit/>
          </a:bodyPr>
          <a:lstStyle>
            <a:lvl1pPr marL="342900" indent="-342900">
              <a:lnSpc>
                <a:spcPct val="114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About you</a:t>
            </a:r>
          </a:p>
        </p:txBody>
      </p:sp>
    </p:spTree>
    <p:extLst>
      <p:ext uri="{BB962C8B-B14F-4D97-AF65-F5344CB8AC3E}">
        <p14:creationId xmlns:p14="http://schemas.microsoft.com/office/powerpoint/2010/main" val="412537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Roboto" panose="02000000000000000000" pitchFamily="2" charset="0"/>
              </a:defRPr>
            </a:lvl1pPr>
          </a:lstStyle>
          <a:p>
            <a:fld id="{984B7D2A-0DF8-424B-9572-B79AEBB2D9DC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Roboto" panose="02000000000000000000" pitchFamily="2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Roboto" panose="02000000000000000000" pitchFamily="2" charset="0"/>
              </a:defRPr>
            </a:lvl1pPr>
          </a:lstStyle>
          <a:p>
            <a:fld id="{5D99DD2A-B520-4620-9B43-64B657BA2D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  <p:sldLayoutId id="2147483717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Roboto" panose="02000000000000000000" pitchFamily="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Roboto" panose="02000000000000000000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Roboto" panose="02000000000000000000" pitchFamily="2" charset="0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Roboto" panose="02000000000000000000" pitchFamily="2" charset="0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Roboto" panose="02000000000000000000" pitchFamily="2" charset="0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Roboto" panose="02000000000000000000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Placeholder 1"/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9047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1014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9" r:id="rId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i="0" kern="1200">
          <a:gradFill flip="none" rotWithShape="1">
            <a:gsLst>
              <a:gs pos="100000">
                <a:schemeClr val="accent3"/>
              </a:gs>
              <a:gs pos="0">
                <a:schemeClr val="accent2"/>
              </a:gs>
            </a:gsLst>
            <a:lin ang="0" scaled="1"/>
            <a:tileRect/>
          </a:gradFill>
          <a:latin typeface="Verdana" panose="020B0604030504040204" pitchFamily="34" charset="0"/>
          <a:ea typeface="+mj-ea"/>
          <a:cs typeface="Verdana" panose="020B060403050404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1" fontAlgn="base" hangingPunct="1">
        <a:lnSpc>
          <a:spcPct val="130000"/>
        </a:lnSpc>
        <a:spcBef>
          <a:spcPts val="1000"/>
        </a:spcBef>
        <a:spcAft>
          <a:spcPct val="0"/>
        </a:spcAft>
        <a:buClr>
          <a:srgbClr val="CC0000"/>
        </a:buClr>
        <a:buSzPct val="50000"/>
        <a:buFontTx/>
        <a:buBlip>
          <a:blip r:embed="rId4"/>
        </a:buBlip>
        <a:defRPr sz="3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914400" indent="-4572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50000"/>
        <a:buFontTx/>
        <a:buBlip>
          <a:blip r:embed="rId4"/>
        </a:buBlip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257300" indent="-3429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50000"/>
        <a:buFontTx/>
        <a:buBlip>
          <a:blip r:embed="rId4"/>
        </a:buBlip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4pPr>
      <a:lvl5pPr marL="20574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322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5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meetup.com/austin-power-bi-user-group/" TargetMode="Externa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jp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hristiansincontext.com/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creativecommons.org/licenses/by-nd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jp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3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powerbi.microsoft.com/en-us/blog/power-bi-september-2025-feature-summary/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sv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-bi/developer/projects/projects-dataset#tmdl-format" TargetMode="External"/><Relationship Id="rId2" Type="http://schemas.openxmlformats.org/officeDocument/2006/relationships/hyperlink" Target="https://learn.microsoft.com/en-us/analysis-services/tmdl/tmdl-overview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learn.microsoft.com/en-us/power-bi/transform-model/desktop-tmdl-view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-bi/developer/projects/projects-dataset#tmdl-format" TargetMode="External"/><Relationship Id="rId2" Type="http://schemas.openxmlformats.org/officeDocument/2006/relationships/hyperlink" Target="https://www.red-gate.com/simple-talk/business-intelligence/power-bi-tmdl-benefits-security-risks-best-practices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datazoe.blog/post/dax-date-table-in-tmdl" TargetMode="External"/><Relationship Id="rId4" Type="http://schemas.openxmlformats.org/officeDocument/2006/relationships/hyperlink" Target="https://fabsnippets.com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nalysis-services/tom/lineage-tags-for-power-bi-semantic-models" TargetMode="External"/><Relationship Id="rId2" Type="http://schemas.openxmlformats.org/officeDocument/2006/relationships/hyperlink" Target="https://powerbi.microsoft.com/en-us/blog/deep-dive-into-tmdl-view-for-power-bi-desktop-preview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smlcrew.com/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4.png"/><Relationship Id="rId7" Type="http://schemas.openxmlformats.org/officeDocument/2006/relationships/image" Target="../media/image70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9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4866"/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7E48F-03B8-6ECF-B5D2-2E200576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D3B90-1727-D5E3-2B6A-58773B75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66" y="1258529"/>
            <a:ext cx="3814235" cy="3008671"/>
          </a:xfrm>
        </p:spPr>
        <p:txBody>
          <a:bodyPr/>
          <a:lstStyle/>
          <a:p>
            <a:r>
              <a:rPr lang="en-US" b="1" dirty="0"/>
              <a:t>Unlocking the Power of TMDL: Enhancing Power BI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56885-1670-D466-D28A-7A600C74C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619" y="4096063"/>
            <a:ext cx="3235566" cy="726971"/>
          </a:xfrm>
        </p:spPr>
        <p:txBody>
          <a:bodyPr>
            <a:noAutofit/>
          </a:bodyPr>
          <a:lstStyle/>
          <a:p>
            <a:r>
              <a:rPr lang="en-US" sz="3200" b="1" dirty="0">
                <a:ea typeface="Roboto" panose="02000000000000000000" pitchFamily="2" charset="0"/>
              </a:rPr>
              <a:t>Jason Romans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D3B14B-6F30-52D7-186C-32D28C88D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 bwMode="blackGray">
          <a:xfrm>
            <a:off x="4648200" y="0"/>
            <a:ext cx="7543800" cy="6856214"/>
          </a:xfrm>
        </p:spPr>
      </p:pic>
      <p:pic>
        <p:nvPicPr>
          <p:cNvPr id="5" name="Graphic 4" descr="Hotel Bell outline">
            <a:extLst>
              <a:ext uri="{FF2B5EF4-FFF2-40B4-BE49-F238E27FC236}">
                <a16:creationId xmlns:a16="http://schemas.microsoft.com/office/drawing/2014/main" id="{4DC6782B-A107-85AC-AEF4-5534303CD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5770" y="0"/>
            <a:ext cx="914400" cy="914400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F747EA3-E3C9-5548-1B88-FF28A63E5A13}"/>
              </a:ext>
            </a:extLst>
          </p:cNvPr>
          <p:cNvSpPr txBox="1">
            <a:spLocks/>
          </p:cNvSpPr>
          <p:nvPr/>
        </p:nvSpPr>
        <p:spPr bwMode="white">
          <a:xfrm>
            <a:off x="219808" y="5689932"/>
            <a:ext cx="4334377" cy="8709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0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SQL Saturday Atlanta 2026  • AI &amp; BI</a:t>
            </a:r>
            <a:endParaRPr lang="en-US" b="1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000" b="1" dirty="0">
                <a:ea typeface="Roboto" panose="02000000000000000000" pitchFamily="2" charset="0"/>
              </a:rPr>
              <a:t> March 2026</a:t>
            </a:r>
          </a:p>
        </p:txBody>
      </p:sp>
    </p:spTree>
    <p:extLst>
      <p:ext uri="{BB962C8B-B14F-4D97-AF65-F5344CB8AC3E}">
        <p14:creationId xmlns:p14="http://schemas.microsoft.com/office/powerpoint/2010/main" val="332345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8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85761-115C-270F-F417-E15D9B56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FC816DB-AE6B-4CA9-D012-703CE862926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218" r="3218"/>
          <a:stretch/>
        </p:blipFill>
        <p:spPr>
          <a:xfrm>
            <a:off x="9504218" y="597976"/>
            <a:ext cx="2263240" cy="2263240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D5CAFE-C38E-8CD7-88A3-5F052472FA8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@sql_jar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7441C-83E2-6867-56BA-7F2B60847B8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jason</a:t>
            </a:r>
            <a:r>
              <a:rPr lang="en-US" dirty="0"/>
              <a:t>-r-</a:t>
            </a:r>
            <a:r>
              <a:rPr lang="en-US" dirty="0" err="1"/>
              <a:t>sql</a:t>
            </a:r>
            <a:r>
              <a:rPr lang="en-US" dirty="0"/>
              <a:t>-jar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4264F2-D424-FC4F-EC57-BEBE04E494F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https://thedaxshepherd.com/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A42FF6D4-BCB2-2CCF-ACBE-388A6152B206}"/>
              </a:ext>
            </a:extLst>
          </p:cNvPr>
          <p:cNvSpPr/>
          <p:nvPr/>
        </p:nvSpPr>
        <p:spPr>
          <a:xfrm>
            <a:off x="920470" y="5044823"/>
            <a:ext cx="363204" cy="371085"/>
          </a:xfrm>
          <a:custGeom>
            <a:avLst/>
            <a:gdLst>
              <a:gd name="connsiteX0" fmla="*/ 216156 w 363204"/>
              <a:gd name="connsiteY0" fmla="*/ 157129 h 371085"/>
              <a:gd name="connsiteX1" fmla="*/ 351367 w 363204"/>
              <a:gd name="connsiteY1" fmla="*/ 0 h 371085"/>
              <a:gd name="connsiteX2" fmla="*/ 319326 w 363204"/>
              <a:gd name="connsiteY2" fmla="*/ 0 h 371085"/>
              <a:gd name="connsiteX3" fmla="*/ 201922 w 363204"/>
              <a:gd name="connsiteY3" fmla="*/ 136433 h 371085"/>
              <a:gd name="connsiteX4" fmla="*/ 108152 w 363204"/>
              <a:gd name="connsiteY4" fmla="*/ 0 h 371085"/>
              <a:gd name="connsiteX5" fmla="*/ 0 w 363204"/>
              <a:gd name="connsiteY5" fmla="*/ 0 h 371085"/>
              <a:gd name="connsiteX6" fmla="*/ 141798 w 363204"/>
              <a:gd name="connsiteY6" fmla="*/ 206311 h 371085"/>
              <a:gd name="connsiteX7" fmla="*/ 0 w 363204"/>
              <a:gd name="connsiteY7" fmla="*/ 371085 h 371085"/>
              <a:gd name="connsiteX8" fmla="*/ 32042 w 363204"/>
              <a:gd name="connsiteY8" fmla="*/ 371085 h 371085"/>
              <a:gd name="connsiteX9" fmla="*/ 156024 w 363204"/>
              <a:gd name="connsiteY9" fmla="*/ 227007 h 371085"/>
              <a:gd name="connsiteX10" fmla="*/ 255052 w 363204"/>
              <a:gd name="connsiteY10" fmla="*/ 371085 h 371085"/>
              <a:gd name="connsiteX11" fmla="*/ 363204 w 363204"/>
              <a:gd name="connsiteY11" fmla="*/ 371085 h 371085"/>
              <a:gd name="connsiteX12" fmla="*/ 216148 w 363204"/>
              <a:gd name="connsiteY12" fmla="*/ 157129 h 371085"/>
              <a:gd name="connsiteX13" fmla="*/ 216156 w 363204"/>
              <a:gd name="connsiteY13" fmla="*/ 157129 h 371085"/>
              <a:gd name="connsiteX14" fmla="*/ 172269 w 363204"/>
              <a:gd name="connsiteY14" fmla="*/ 208129 h 371085"/>
              <a:gd name="connsiteX15" fmla="*/ 157902 w 363204"/>
              <a:gd name="connsiteY15" fmla="*/ 187585 h 371085"/>
              <a:gd name="connsiteX16" fmla="*/ 43588 w 363204"/>
              <a:gd name="connsiteY16" fmla="*/ 24115 h 371085"/>
              <a:gd name="connsiteX17" fmla="*/ 92803 w 363204"/>
              <a:gd name="connsiteY17" fmla="*/ 24115 h 371085"/>
              <a:gd name="connsiteX18" fmla="*/ 185056 w 363204"/>
              <a:gd name="connsiteY18" fmla="*/ 156040 h 371085"/>
              <a:gd name="connsiteX19" fmla="*/ 199423 w 363204"/>
              <a:gd name="connsiteY19" fmla="*/ 176584 h 371085"/>
              <a:gd name="connsiteX20" fmla="*/ 319341 w 363204"/>
              <a:gd name="connsiteY20" fmla="*/ 348067 h 371085"/>
              <a:gd name="connsiteX21" fmla="*/ 270126 w 363204"/>
              <a:gd name="connsiteY21" fmla="*/ 348067 h 371085"/>
              <a:gd name="connsiteX22" fmla="*/ 172269 w 363204"/>
              <a:gd name="connsiteY22" fmla="*/ 208137 h 371085"/>
              <a:gd name="connsiteX23" fmla="*/ 172269 w 363204"/>
              <a:gd name="connsiteY23" fmla="*/ 208129 h 37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63204" h="371085">
                <a:moveTo>
                  <a:pt x="216156" y="157129"/>
                </a:moveTo>
                <a:lnTo>
                  <a:pt x="351367" y="0"/>
                </a:lnTo>
                <a:lnTo>
                  <a:pt x="319326" y="0"/>
                </a:lnTo>
                <a:lnTo>
                  <a:pt x="201922" y="136433"/>
                </a:lnTo>
                <a:lnTo>
                  <a:pt x="108152" y="0"/>
                </a:lnTo>
                <a:lnTo>
                  <a:pt x="0" y="0"/>
                </a:lnTo>
                <a:lnTo>
                  <a:pt x="141798" y="206311"/>
                </a:lnTo>
                <a:lnTo>
                  <a:pt x="0" y="371085"/>
                </a:lnTo>
                <a:lnTo>
                  <a:pt x="32042" y="371085"/>
                </a:lnTo>
                <a:lnTo>
                  <a:pt x="156024" y="227007"/>
                </a:lnTo>
                <a:lnTo>
                  <a:pt x="255052" y="371085"/>
                </a:lnTo>
                <a:lnTo>
                  <a:pt x="363204" y="371085"/>
                </a:lnTo>
                <a:lnTo>
                  <a:pt x="216148" y="157129"/>
                </a:lnTo>
                <a:lnTo>
                  <a:pt x="216156" y="157129"/>
                </a:lnTo>
                <a:close/>
                <a:moveTo>
                  <a:pt x="172269" y="208129"/>
                </a:moveTo>
                <a:lnTo>
                  <a:pt x="157902" y="187585"/>
                </a:lnTo>
                <a:lnTo>
                  <a:pt x="43588" y="24115"/>
                </a:lnTo>
                <a:lnTo>
                  <a:pt x="92803" y="24115"/>
                </a:lnTo>
                <a:lnTo>
                  <a:pt x="185056" y="156040"/>
                </a:lnTo>
                <a:lnTo>
                  <a:pt x="199423" y="176584"/>
                </a:lnTo>
                <a:lnTo>
                  <a:pt x="319341" y="348067"/>
                </a:lnTo>
                <a:lnTo>
                  <a:pt x="270126" y="348067"/>
                </a:lnTo>
                <a:lnTo>
                  <a:pt x="172269" y="208137"/>
                </a:lnTo>
                <a:lnTo>
                  <a:pt x="172269" y="20812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1044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Picture 17" descr="Blog outline">
            <a:extLst>
              <a:ext uri="{FF2B5EF4-FFF2-40B4-BE49-F238E27FC236}">
                <a16:creationId xmlns:a16="http://schemas.microsoft.com/office/drawing/2014/main" id="{FE0011B7-2A88-9495-EB14-5383BFD5E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76135" y="6031048"/>
            <a:ext cx="478737" cy="47873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2C9892-2109-E37A-C1EA-0FA32B716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Romans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DCC2619-8963-A80E-002C-0CB4209C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Jason </a:t>
            </a:r>
          </a:p>
        </p:txBody>
      </p:sp>
      <p:sp>
        <p:nvSpPr>
          <p:cNvPr id="30" name="Graphic 11">
            <a:extLst>
              <a:ext uri="{FF2B5EF4-FFF2-40B4-BE49-F238E27FC236}">
                <a16:creationId xmlns:a16="http://schemas.microsoft.com/office/drawing/2014/main" id="{CC2C398B-2671-7FD1-F181-F730220624AC}"/>
              </a:ext>
            </a:extLst>
          </p:cNvPr>
          <p:cNvSpPr/>
          <p:nvPr/>
        </p:nvSpPr>
        <p:spPr>
          <a:xfrm>
            <a:off x="907337" y="5572083"/>
            <a:ext cx="389469" cy="371187"/>
          </a:xfrm>
          <a:custGeom>
            <a:avLst/>
            <a:gdLst>
              <a:gd name="connsiteX0" fmla="*/ 479468 w 562504"/>
              <a:gd name="connsiteY0" fmla="*/ 479468 h 562504"/>
              <a:gd name="connsiteX1" fmla="*/ 396432 w 562504"/>
              <a:gd name="connsiteY1" fmla="*/ 479468 h 562504"/>
              <a:gd name="connsiteX2" fmla="*/ 396432 w 562504"/>
              <a:gd name="connsiteY2" fmla="*/ 349556 h 562504"/>
              <a:gd name="connsiteX3" fmla="*/ 353574 w 562504"/>
              <a:gd name="connsiteY3" fmla="*/ 278574 h 562504"/>
              <a:gd name="connsiteX4" fmla="*/ 302681 w 562504"/>
              <a:gd name="connsiteY4" fmla="*/ 346878 h 562504"/>
              <a:gd name="connsiteX5" fmla="*/ 302681 w 562504"/>
              <a:gd name="connsiteY5" fmla="*/ 479468 h 562504"/>
              <a:gd name="connsiteX6" fmla="*/ 219645 w 562504"/>
              <a:gd name="connsiteY6" fmla="*/ 479468 h 562504"/>
              <a:gd name="connsiteX7" fmla="*/ 219645 w 562504"/>
              <a:gd name="connsiteY7" fmla="*/ 211609 h 562504"/>
              <a:gd name="connsiteX8" fmla="*/ 300002 w 562504"/>
              <a:gd name="connsiteY8" fmla="*/ 211609 h 562504"/>
              <a:gd name="connsiteX9" fmla="*/ 300002 w 562504"/>
              <a:gd name="connsiteY9" fmla="*/ 247770 h 562504"/>
              <a:gd name="connsiteX10" fmla="*/ 301342 w 562504"/>
              <a:gd name="connsiteY10" fmla="*/ 247770 h 562504"/>
              <a:gd name="connsiteX11" fmla="*/ 380360 w 562504"/>
              <a:gd name="connsiteY11" fmla="*/ 204912 h 562504"/>
              <a:gd name="connsiteX12" fmla="*/ 480807 w 562504"/>
              <a:gd name="connsiteY12" fmla="*/ 332145 h 562504"/>
              <a:gd name="connsiteX13" fmla="*/ 479468 w 562504"/>
              <a:gd name="connsiteY13" fmla="*/ 479468 h 562504"/>
              <a:gd name="connsiteX14" fmla="*/ 124555 w 562504"/>
              <a:gd name="connsiteY14" fmla="*/ 174108 h 562504"/>
              <a:gd name="connsiteX15" fmla="*/ 76340 w 562504"/>
              <a:gd name="connsiteY15" fmla="*/ 125894 h 562504"/>
              <a:gd name="connsiteX16" fmla="*/ 124555 w 562504"/>
              <a:gd name="connsiteY16" fmla="*/ 77679 h 562504"/>
              <a:gd name="connsiteX17" fmla="*/ 172769 w 562504"/>
              <a:gd name="connsiteY17" fmla="*/ 125894 h 562504"/>
              <a:gd name="connsiteX18" fmla="*/ 124555 w 562504"/>
              <a:gd name="connsiteY18" fmla="*/ 174108 h 562504"/>
              <a:gd name="connsiteX19" fmla="*/ 166073 w 562504"/>
              <a:gd name="connsiteY19" fmla="*/ 479468 h 562504"/>
              <a:gd name="connsiteX20" fmla="*/ 83036 w 562504"/>
              <a:gd name="connsiteY20" fmla="*/ 479468 h 562504"/>
              <a:gd name="connsiteX21" fmla="*/ 83036 w 562504"/>
              <a:gd name="connsiteY21" fmla="*/ 211609 h 562504"/>
              <a:gd name="connsiteX22" fmla="*/ 166073 w 562504"/>
              <a:gd name="connsiteY22" fmla="*/ 211609 h 562504"/>
              <a:gd name="connsiteX23" fmla="*/ 166073 w 562504"/>
              <a:gd name="connsiteY23" fmla="*/ 479468 h 562504"/>
              <a:gd name="connsiteX24" fmla="*/ 520986 w 562504"/>
              <a:gd name="connsiteY24" fmla="*/ 0 h 562504"/>
              <a:gd name="connsiteX25" fmla="*/ 41518 w 562504"/>
              <a:gd name="connsiteY25" fmla="*/ 0 h 562504"/>
              <a:gd name="connsiteX26" fmla="*/ 0 w 562504"/>
              <a:gd name="connsiteY26" fmla="*/ 40179 h 562504"/>
              <a:gd name="connsiteX27" fmla="*/ 0 w 562504"/>
              <a:gd name="connsiteY27" fmla="*/ 522325 h 562504"/>
              <a:gd name="connsiteX28" fmla="*/ 41518 w 562504"/>
              <a:gd name="connsiteY28" fmla="*/ 562504 h 562504"/>
              <a:gd name="connsiteX29" fmla="*/ 520986 w 562504"/>
              <a:gd name="connsiteY29" fmla="*/ 562504 h 562504"/>
              <a:gd name="connsiteX30" fmla="*/ 562504 w 562504"/>
              <a:gd name="connsiteY30" fmla="*/ 522325 h 562504"/>
              <a:gd name="connsiteX31" fmla="*/ 562504 w 562504"/>
              <a:gd name="connsiteY31" fmla="*/ 40179 h 562504"/>
              <a:gd name="connsiteX32" fmla="*/ 520986 w 562504"/>
              <a:gd name="connsiteY32" fmla="*/ 0 h 562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2504" h="562504">
                <a:moveTo>
                  <a:pt x="479468" y="479468"/>
                </a:moveTo>
                <a:lnTo>
                  <a:pt x="396432" y="479468"/>
                </a:lnTo>
                <a:lnTo>
                  <a:pt x="396432" y="349556"/>
                </a:lnTo>
                <a:cubicBezTo>
                  <a:pt x="396432" y="318752"/>
                  <a:pt x="395092" y="278574"/>
                  <a:pt x="353574" y="278574"/>
                </a:cubicBezTo>
                <a:cubicBezTo>
                  <a:pt x="310717" y="278574"/>
                  <a:pt x="302681" y="312056"/>
                  <a:pt x="302681" y="346878"/>
                </a:cubicBezTo>
                <a:lnTo>
                  <a:pt x="302681" y="479468"/>
                </a:lnTo>
                <a:lnTo>
                  <a:pt x="219645" y="479468"/>
                </a:lnTo>
                <a:lnTo>
                  <a:pt x="219645" y="211609"/>
                </a:lnTo>
                <a:lnTo>
                  <a:pt x="300002" y="211609"/>
                </a:lnTo>
                <a:lnTo>
                  <a:pt x="300002" y="247770"/>
                </a:lnTo>
                <a:lnTo>
                  <a:pt x="301342" y="247770"/>
                </a:lnTo>
                <a:cubicBezTo>
                  <a:pt x="317413" y="219645"/>
                  <a:pt x="348217" y="203573"/>
                  <a:pt x="380360" y="204912"/>
                </a:cubicBezTo>
                <a:cubicBezTo>
                  <a:pt x="464736" y="204912"/>
                  <a:pt x="480807" y="259823"/>
                  <a:pt x="480807" y="332145"/>
                </a:cubicBezTo>
                <a:lnTo>
                  <a:pt x="479468" y="479468"/>
                </a:lnTo>
                <a:close/>
                <a:moveTo>
                  <a:pt x="124555" y="174108"/>
                </a:moveTo>
                <a:cubicBezTo>
                  <a:pt x="97769" y="174108"/>
                  <a:pt x="76340" y="152680"/>
                  <a:pt x="76340" y="125894"/>
                </a:cubicBezTo>
                <a:cubicBezTo>
                  <a:pt x="76340" y="99108"/>
                  <a:pt x="97769" y="77679"/>
                  <a:pt x="124555" y="77679"/>
                </a:cubicBezTo>
                <a:cubicBezTo>
                  <a:pt x="151340" y="77679"/>
                  <a:pt x="172769" y="99108"/>
                  <a:pt x="172769" y="125894"/>
                </a:cubicBezTo>
                <a:cubicBezTo>
                  <a:pt x="174108" y="152680"/>
                  <a:pt x="151340" y="174108"/>
                  <a:pt x="124555" y="174108"/>
                </a:cubicBezTo>
                <a:close/>
                <a:moveTo>
                  <a:pt x="166073" y="479468"/>
                </a:moveTo>
                <a:lnTo>
                  <a:pt x="83036" y="479468"/>
                </a:lnTo>
                <a:lnTo>
                  <a:pt x="83036" y="211609"/>
                </a:lnTo>
                <a:lnTo>
                  <a:pt x="166073" y="211609"/>
                </a:lnTo>
                <a:lnTo>
                  <a:pt x="166073" y="479468"/>
                </a:lnTo>
                <a:close/>
                <a:moveTo>
                  <a:pt x="520986" y="0"/>
                </a:moveTo>
                <a:lnTo>
                  <a:pt x="41518" y="0"/>
                </a:lnTo>
                <a:cubicBezTo>
                  <a:pt x="18750" y="0"/>
                  <a:pt x="0" y="18750"/>
                  <a:pt x="0" y="40179"/>
                </a:cubicBezTo>
                <a:lnTo>
                  <a:pt x="0" y="522325"/>
                </a:lnTo>
                <a:cubicBezTo>
                  <a:pt x="0" y="545093"/>
                  <a:pt x="18750" y="562504"/>
                  <a:pt x="41518" y="562504"/>
                </a:cubicBezTo>
                <a:lnTo>
                  <a:pt x="520986" y="562504"/>
                </a:lnTo>
                <a:cubicBezTo>
                  <a:pt x="543754" y="562504"/>
                  <a:pt x="562504" y="543754"/>
                  <a:pt x="562504" y="522325"/>
                </a:cubicBezTo>
                <a:lnTo>
                  <a:pt x="562504" y="40179"/>
                </a:lnTo>
                <a:cubicBezTo>
                  <a:pt x="562504" y="18750"/>
                  <a:pt x="543754" y="0"/>
                  <a:pt x="520986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1044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259776E-C126-1954-9FDF-D48CFB9CA8C2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90027" y="3220234"/>
            <a:ext cx="4496878" cy="553208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The DAX Shepherd</a:t>
            </a:r>
          </a:p>
        </p:txBody>
      </p:sp>
      <p:pic>
        <p:nvPicPr>
          <p:cNvPr id="4" name="Picture 3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DB5497FB-ECEE-BF6D-7F2D-DB9BE0522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35" y="3929617"/>
            <a:ext cx="2289053" cy="9235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ACCEA1-660E-9A9A-3128-E74FC75553A3}"/>
              </a:ext>
            </a:extLst>
          </p:cNvPr>
          <p:cNvSpPr/>
          <p:nvPr/>
        </p:nvSpPr>
        <p:spPr>
          <a:xfrm>
            <a:off x="6009188" y="2897510"/>
            <a:ext cx="6035252" cy="348886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📍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Nashville, TN, USA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🛠️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Began Career as a SQL Server DBA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➡️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Transitioned to Microsoft BI Stack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📦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Engineering to Data Modeling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D7388-58AB-ACB0-1E83-80532322660F}"/>
              </a:ext>
            </a:extLst>
          </p:cNvPr>
          <p:cNvSpPr txBox="1"/>
          <p:nvPr/>
        </p:nvSpPr>
        <p:spPr>
          <a:xfrm>
            <a:off x="590027" y="2079120"/>
            <a:ext cx="5419161" cy="523220"/>
          </a:xfrm>
          <a:prstGeom prst="rect">
            <a:avLst/>
          </a:prstGeom>
          <a:solidFill>
            <a:srgbClr val="164866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 Data &amp; Integration Developer</a:t>
            </a:r>
          </a:p>
        </p:txBody>
      </p:sp>
    </p:spTree>
    <p:extLst>
      <p:ext uri="{BB962C8B-B14F-4D97-AF65-F5344CB8AC3E}">
        <p14:creationId xmlns:p14="http://schemas.microsoft.com/office/powerpoint/2010/main" val="1668398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8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0D1D2-9099-19C6-C609-F3531700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024CEE-25ED-19C2-D77D-6F80817C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16" y="114505"/>
            <a:ext cx="8684068" cy="523212"/>
          </a:xfrm>
        </p:spPr>
        <p:txBody>
          <a:bodyPr wrap="square" anchor="ctr">
            <a:norm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</a:rPr>
              <a:t>Standing on the Shoulders of Giants</a:t>
            </a:r>
          </a:p>
        </p:txBody>
      </p:sp>
      <p:pic>
        <p:nvPicPr>
          <p:cNvPr id="4" name="Picture 3" descr="A silhouette of a person helping a person climb a mountain&#10;&#10;Description automatically generated">
            <a:extLst>
              <a:ext uri="{FF2B5EF4-FFF2-40B4-BE49-F238E27FC236}">
                <a16:creationId xmlns:a16="http://schemas.microsoft.com/office/drawing/2014/main" id="{C2CFE2D5-D6E4-17D4-D958-A19746483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74577" y="699655"/>
            <a:ext cx="7642846" cy="508249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ACF9DE-8866-6514-3078-FEA64B358CB9}"/>
              </a:ext>
            </a:extLst>
          </p:cNvPr>
          <p:cNvSpPr txBox="1"/>
          <p:nvPr/>
        </p:nvSpPr>
        <p:spPr>
          <a:xfrm>
            <a:off x="7443079" y="5431612"/>
            <a:ext cx="232627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 tooltip="http://christiansincontext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Unknown Author is licensed under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F6E0C1-DB1C-6952-237D-84E6515ADBF9}"/>
              </a:ext>
            </a:extLst>
          </p:cNvPr>
          <p:cNvSpPr txBox="1"/>
          <p:nvPr/>
        </p:nvSpPr>
        <p:spPr>
          <a:xfrm>
            <a:off x="2209801" y="5867470"/>
            <a:ext cx="755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Grateful for the people who share their knowledge, encourage us, answer questions, and help the rest of us learn faster.</a:t>
            </a:r>
          </a:p>
        </p:txBody>
      </p:sp>
    </p:spTree>
    <p:extLst>
      <p:ext uri="{BB962C8B-B14F-4D97-AF65-F5344CB8AC3E}">
        <p14:creationId xmlns:p14="http://schemas.microsoft.com/office/powerpoint/2010/main" val="15431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8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65760"/>
            <a:ext cx="97536" cy="731520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THIS PRESENTATION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All slides, resources, and demo files available: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0" y="1950720"/>
            <a:ext cx="8534400" cy="1463040"/>
          </a:xfrm>
          <a:prstGeom prst="rect">
            <a:avLst/>
          </a:prstGeom>
          <a:solidFill>
            <a:srgbClr val="2D2D2D"/>
          </a:solidFill>
          <a:ln w="38100">
            <a:solidFill>
              <a:srgbClr val="007A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72640" y="213360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33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The DAX Shepherd</a:t>
            </a:r>
            <a:endParaRPr kumimoji="0" lang="en-US" sz="3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72640" y="274320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thedaxshepherd.com/presentations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28800" y="3657600"/>
            <a:ext cx="8534400" cy="268224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9B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4632960"/>
            <a:ext cx="853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[Screenshot: Blog homepage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showing 'Presentations' navigation]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87E194-CB32-BAFD-5993-A1A277144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642" y="3671656"/>
            <a:ext cx="4682715" cy="2654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7d350d0e-03d7-4f3e-a65a-7442293349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293508"/>
            <a:ext cx="960120" cy="5550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4771" y="464529"/>
            <a:ext cx="109446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To Our Sponsors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Making SQL Saturday Possible!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685800" y="1290511"/>
            <a:ext cx="1074420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7F701A-5D8B-4E4F-234E-64B1BD321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55" y="1053375"/>
            <a:ext cx="4075700" cy="177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807493F-D61E-521D-AD42-41140B2F3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517" y="1014069"/>
            <a:ext cx="8240889" cy="204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C340BE5-056E-6361-07AC-E924917EB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71" y="2824288"/>
            <a:ext cx="3889127" cy="100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0AC8134-626D-E22B-D0F7-FD7F51E19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448" y="4037692"/>
            <a:ext cx="3606747" cy="82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CCDD3A0-0316-75D2-5FA2-B69B737E5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488" y="5012383"/>
            <a:ext cx="2840792" cy="91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9778690-CA08-6C2C-33AD-C52A6B73B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71" y="4043356"/>
            <a:ext cx="4932338" cy="82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2C30AE31-C561-48AE-58FF-FE79BABD3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096" y="5049602"/>
            <a:ext cx="3080798" cy="61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91AA69A2-A3D4-AB5F-E8EB-04FD8FC19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868" y="4241659"/>
            <a:ext cx="2347310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175570-747F-89F4-4315-28971D83DF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744" y="2824287"/>
            <a:ext cx="1066434" cy="10664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1274EE-D25A-874D-7D60-0194801D46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96" y="2995795"/>
            <a:ext cx="2352948" cy="5640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D43F7E-515F-FA9D-4AB0-D48E07BF4B7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502" y="2953145"/>
            <a:ext cx="2744676" cy="635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FBCBA8-CA9C-1990-33A1-CC6FCBC1D3C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068" y="4830271"/>
            <a:ext cx="1892215" cy="11353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A881B6-82CE-5917-4D10-BF8525ACA36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5" y="6133994"/>
            <a:ext cx="1968316" cy="3216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AC82BC-8896-2742-3579-76E2E2B88F9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44" y="5093110"/>
            <a:ext cx="182895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7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A943-1441-BAB9-7E71-B09128C5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94C34F-EB0E-F1D6-3770-2CF313123FD6}"/>
              </a:ext>
            </a:extLst>
          </p:cNvPr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FA8024-5B17-E0B7-F1BF-C8965C2162F8}"/>
              </a:ext>
            </a:extLst>
          </p:cNvPr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547D3C-1EAE-C6BE-E842-57E5ADA33EB1}"/>
              </a:ext>
            </a:extLst>
          </p:cNvPr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121CB6-16A4-1BAF-010E-1CB9DEDD0B24}"/>
              </a:ext>
            </a:extLst>
          </p:cNvPr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555C9E9-76BE-77DC-28E9-6CFECCA4E480}"/>
              </a:ext>
            </a:extLst>
          </p:cNvPr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BDBA70-E52D-7EA7-7D48-6FC5DE2CC3D3}"/>
              </a:ext>
            </a:extLst>
          </p:cNvPr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109FBD2-5219-27B5-CA44-1007E089A861}"/>
              </a:ext>
            </a:extLst>
          </p:cNvPr>
          <p:cNvSpPr/>
          <p:nvPr/>
        </p:nvSpPr>
        <p:spPr>
          <a:xfrm>
            <a:off x="8050251" y="560692"/>
            <a:ext cx="4051754" cy="1511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Very Special Thank You To Our Community Partner 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Innovation Academy!</a:t>
            </a:r>
            <a:endParaRPr lang="en-US" sz="2800" b="1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CB79C09-AEBC-F173-79FE-620CF2EA6825}"/>
              </a:ext>
            </a:extLst>
          </p:cNvPr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66D7E82-C733-27D7-10FF-7DABACC90DB3}"/>
              </a:ext>
            </a:extLst>
          </p:cNvPr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8BDE235-8121-A9B6-0482-656080038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189" y="1843859"/>
            <a:ext cx="3298299" cy="329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34B1A3DE-8D37-F228-A1D3-EADCE71F8DC6}"/>
              </a:ext>
            </a:extLst>
          </p:cNvPr>
          <p:cNvSpPr/>
          <p:nvPr/>
        </p:nvSpPr>
        <p:spPr>
          <a:xfrm>
            <a:off x="8273152" y="5459079"/>
            <a:ext cx="3510371" cy="643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Please Support Via Tax Credit Eligible Donation That Goes DIRECTLY To Innovation Academy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E2D54-6553-43C7-1D85-1A2B15650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" y="128017"/>
            <a:ext cx="8034709" cy="672998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2B490A-89E9-71FD-F8A1-AE51C28CDD26}"/>
              </a:ext>
            </a:extLst>
          </p:cNvPr>
          <p:cNvCxnSpPr/>
          <p:nvPr/>
        </p:nvCxnSpPr>
        <p:spPr>
          <a:xfrm flipV="1">
            <a:off x="284672" y="1250830"/>
            <a:ext cx="2763251" cy="1086928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D22B5A-1354-5485-3BBA-6338D98BEC88}"/>
              </a:ext>
            </a:extLst>
          </p:cNvPr>
          <p:cNvCxnSpPr>
            <a:cxnSpLocks/>
          </p:cNvCxnSpPr>
          <p:nvPr/>
        </p:nvCxnSpPr>
        <p:spPr>
          <a:xfrm flipH="1" flipV="1">
            <a:off x="9753043" y="1872474"/>
            <a:ext cx="606299" cy="870726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13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3C943-74D1-2513-31D6-7298C16B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6AFFB7-C8B6-822F-E717-5A38845E2FB0}"/>
              </a:ext>
            </a:extLst>
          </p:cNvPr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5F423CE-1B30-6735-D6A0-5F86EE93CA37}"/>
              </a:ext>
            </a:extLst>
          </p:cNvPr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369D77-9D48-DA0B-CD09-824846330E54}"/>
              </a:ext>
            </a:extLst>
          </p:cNvPr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2A1867-16D7-C321-FF7C-6B359E25238F}"/>
              </a:ext>
            </a:extLst>
          </p:cNvPr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AD8B16-F930-0ACC-10B8-D0305EF9C0C0}"/>
              </a:ext>
            </a:extLst>
          </p:cNvPr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246C382-BA0D-37F7-696A-A28C55C17EE0}"/>
              </a:ext>
            </a:extLst>
          </p:cNvPr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7d350d0e-03d7-4f3e-a65a-744229334970.png">
            <a:extLst>
              <a:ext uri="{FF2B5EF4-FFF2-40B4-BE49-F238E27FC236}">
                <a16:creationId xmlns:a16="http://schemas.microsoft.com/office/drawing/2014/main" id="{4E72D47E-2904-F47E-54B1-7D8181295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293508"/>
            <a:ext cx="960120" cy="55506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BFFE41D8-F48C-DA45-3996-D3224564B3C4}"/>
              </a:ext>
            </a:extLst>
          </p:cNvPr>
          <p:cNvSpPr/>
          <p:nvPr/>
        </p:nvSpPr>
        <p:spPr>
          <a:xfrm>
            <a:off x="28010" y="512064"/>
            <a:ext cx="7822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1820"/>
                </a:solidFill>
                <a:latin typeface="Aptos Display" pitchFamily="34" charset="0"/>
              </a:rPr>
              <a:t>Lunch Hour Sponsor Sessions</a:t>
            </a:r>
            <a:endParaRPr lang="en-US" sz="3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5DDD3B8-F72B-C91B-7A76-6AFE63232E5C}"/>
              </a:ext>
            </a:extLst>
          </p:cNvPr>
          <p:cNvSpPr/>
          <p:nvPr/>
        </p:nvSpPr>
        <p:spPr>
          <a:xfrm>
            <a:off x="731520" y="1005840"/>
            <a:ext cx="1074420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51917E5-FD82-54C2-D259-299B26E3B666}"/>
              </a:ext>
            </a:extLst>
          </p:cNvPr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0CD4C3F-D830-525D-639F-1EDD40921394}"/>
              </a:ext>
            </a:extLst>
          </p:cNvPr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4D3A520-673C-A06E-E59C-C07F24F6D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408" y="1276960"/>
            <a:ext cx="3519743" cy="90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A3389D9-38B1-6EE0-D678-9637FB57F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5017748" y="5531716"/>
            <a:ext cx="1906096" cy="125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EC031451-7593-7FBB-0293-926C9C52AB40}"/>
              </a:ext>
            </a:extLst>
          </p:cNvPr>
          <p:cNvSpPr/>
          <p:nvPr/>
        </p:nvSpPr>
        <p:spPr>
          <a:xfrm>
            <a:off x="0" y="4993543"/>
            <a:ext cx="12191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01820"/>
                </a:solidFill>
                <a:latin typeface="Aptos Display" pitchFamily="34" charset="0"/>
              </a:rPr>
              <a:t>Sponsor Session Attendees Can Win A $50 Amazon Gift Card Each</a:t>
            </a:r>
          </a:p>
          <a:p>
            <a:pPr marL="0" indent="0" algn="ctr">
              <a:buNone/>
            </a:pPr>
            <a:r>
              <a:rPr lang="en-US" sz="2400" b="1" i="1" dirty="0">
                <a:solidFill>
                  <a:srgbClr val="101820"/>
                </a:solidFill>
                <a:latin typeface="Aptos Display" pitchFamily="34" charset="0"/>
              </a:rPr>
              <a:t>Two Raffle Gift Cards Per Session</a:t>
            </a:r>
            <a:endParaRPr lang="en-US" sz="2400" i="1" dirty="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F8B9BE87-F343-164D-22F5-5ED6E6780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0" y="1206870"/>
            <a:ext cx="4035888" cy="100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hape 12">
            <a:extLst>
              <a:ext uri="{FF2B5EF4-FFF2-40B4-BE49-F238E27FC236}">
                <a16:creationId xmlns:a16="http://schemas.microsoft.com/office/drawing/2014/main" id="{7AD7D93C-B339-3F61-0D80-003B004CCC68}"/>
              </a:ext>
            </a:extLst>
          </p:cNvPr>
          <p:cNvSpPr/>
          <p:nvPr/>
        </p:nvSpPr>
        <p:spPr>
          <a:xfrm flipH="1">
            <a:off x="4038058" y="1005840"/>
            <a:ext cx="4446" cy="3833578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2F0E7AF5-E4EA-4826-3A83-56390CD2FAEF}"/>
              </a:ext>
            </a:extLst>
          </p:cNvPr>
          <p:cNvSpPr/>
          <p:nvPr/>
        </p:nvSpPr>
        <p:spPr>
          <a:xfrm>
            <a:off x="8112155" y="1005840"/>
            <a:ext cx="0" cy="3833578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9FCA29C-A8CF-C9EB-B1BA-F49D9B1241E3}"/>
              </a:ext>
            </a:extLst>
          </p:cNvPr>
          <p:cNvSpPr/>
          <p:nvPr/>
        </p:nvSpPr>
        <p:spPr>
          <a:xfrm>
            <a:off x="459725" y="2520294"/>
            <a:ext cx="3327270" cy="21467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2800" b="1" dirty="0"/>
              <a:t>Microsoft SQL and AMD </a:t>
            </a:r>
          </a:p>
          <a:p>
            <a:pPr algn="ctr"/>
            <a:r>
              <a:rPr lang="en-US" sz="2800" b="1" dirty="0"/>
              <a:t>in the Era of AI </a:t>
            </a:r>
          </a:p>
          <a:p>
            <a:pPr algn="ctr"/>
            <a:r>
              <a:rPr lang="en-US" sz="2800" b="1" dirty="0"/>
              <a:t>by Bob Ward</a:t>
            </a:r>
            <a:endParaRPr lang="en-US" sz="2800" dirty="0"/>
          </a:p>
          <a:p>
            <a:pPr marL="0" indent="0">
              <a:buNone/>
            </a:pPr>
            <a:endParaRPr lang="en-US" sz="1850" dirty="0"/>
          </a:p>
          <a:p>
            <a:pPr marL="0" indent="0">
              <a:buNone/>
            </a:pPr>
            <a:endParaRPr lang="en-US" sz="1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153148-B263-2606-8600-23A3FC4F59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322" y="1459758"/>
            <a:ext cx="2352948" cy="564044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22CBAF7C-3C4F-29C5-3A9C-A116E9601F55}"/>
              </a:ext>
            </a:extLst>
          </p:cNvPr>
          <p:cNvSpPr/>
          <p:nvPr/>
        </p:nvSpPr>
        <p:spPr>
          <a:xfrm>
            <a:off x="4218322" y="2379733"/>
            <a:ext cx="3713569" cy="21467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2800" b="1" dirty="0"/>
              <a:t>DBA Survival Kit: Redgate Monitor + Toolbelt </a:t>
            </a:r>
          </a:p>
          <a:p>
            <a:pPr algn="ctr"/>
            <a:r>
              <a:rPr lang="en-US" sz="2800" b="1" dirty="0"/>
              <a:t>by Chris Reyes</a:t>
            </a:r>
            <a:endParaRPr lang="en-US" sz="2800" dirty="0"/>
          </a:p>
          <a:p>
            <a:pPr marL="0" indent="0">
              <a:buNone/>
            </a:pPr>
            <a:endParaRPr lang="en-US" sz="185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BBDDB861-50A6-B2BA-3935-85DEB2E8E595}"/>
              </a:ext>
            </a:extLst>
          </p:cNvPr>
          <p:cNvSpPr/>
          <p:nvPr/>
        </p:nvSpPr>
        <p:spPr>
          <a:xfrm>
            <a:off x="8533492" y="2389831"/>
            <a:ext cx="3252508" cy="21467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2800" b="1" dirty="0"/>
              <a:t>Stop Firefighting: Build a Semantic Layer Ready for AI by Anouk Gorris</a:t>
            </a:r>
            <a:endParaRPr lang="en-US" sz="2800" dirty="0"/>
          </a:p>
          <a:p>
            <a:pPr marL="0" indent="0">
              <a:buNone/>
            </a:pP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91654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A7AB-7897-F381-0C44-B35D7A14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12050C-7045-88AE-2478-E55335AE588E}"/>
              </a:ext>
            </a:extLst>
          </p:cNvPr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52FEB6-58E1-2314-4CD2-61D2FBC80D9F}"/>
              </a:ext>
            </a:extLst>
          </p:cNvPr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AFDDF7-ABF7-9FF1-75D3-6BC4ECCCDCAB}"/>
              </a:ext>
            </a:extLst>
          </p:cNvPr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75EF27-2C4A-39C6-76DB-EC997C1C5B58}"/>
              </a:ext>
            </a:extLst>
          </p:cNvPr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B54853-6C33-481B-E9E6-4EC2C4BCB150}"/>
              </a:ext>
            </a:extLst>
          </p:cNvPr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8701A32-0864-0AAE-FC7D-10EFF9C5D893}"/>
              </a:ext>
            </a:extLst>
          </p:cNvPr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7d350d0e-03d7-4f3e-a65a-744229334970.png">
            <a:extLst>
              <a:ext uri="{FF2B5EF4-FFF2-40B4-BE49-F238E27FC236}">
                <a16:creationId xmlns:a16="http://schemas.microsoft.com/office/drawing/2014/main" id="{C88892E9-1A08-BB5B-B14B-651B2AC36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293508"/>
            <a:ext cx="960120" cy="55506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036E2C4D-5158-32B7-5B64-FBF39DBB72FD}"/>
              </a:ext>
            </a:extLst>
          </p:cNvPr>
          <p:cNvSpPr/>
          <p:nvPr/>
        </p:nvSpPr>
        <p:spPr>
          <a:xfrm>
            <a:off x="305568" y="778044"/>
            <a:ext cx="9752832" cy="119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1820"/>
                </a:solidFill>
                <a:latin typeface="Aptos Display" pitchFamily="34" charset="0"/>
              </a:rPr>
              <a:t>SQL Saturday Atlanta Closing Ceremony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101820"/>
                </a:solidFill>
                <a:latin typeface="Aptos Display" pitchFamily="34" charset="0"/>
              </a:rPr>
              <a:t>5PM In The Auditorium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101820"/>
                </a:solidFill>
                <a:latin typeface="Aptos Display" pitchFamily="34" charset="0"/>
              </a:rPr>
              <a:t>Must Be Present To Win Raffle Prizes</a:t>
            </a:r>
            <a:endParaRPr lang="en-US" sz="4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1686679-A1A7-B5ED-B1B8-389CBCCE5D54}"/>
              </a:ext>
            </a:extLst>
          </p:cNvPr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F24A0C6-BF63-41CE-7EE8-E196E49743F2}"/>
              </a:ext>
            </a:extLst>
          </p:cNvPr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8E9F68-71DD-86B5-2B9F-4E7F2F90A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867" y="2625899"/>
            <a:ext cx="6296904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9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5262-1ADA-6E74-92BA-F48AAF2F8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A3EA347-A49B-D29A-22FB-4B44348887E1}"/>
              </a:ext>
            </a:extLst>
          </p:cNvPr>
          <p:cNvSpPr txBox="1">
            <a:spLocks/>
          </p:cNvSpPr>
          <p:nvPr/>
        </p:nvSpPr>
        <p:spPr>
          <a:xfrm>
            <a:off x="255818" y="34525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The TMDL Journey</a:t>
            </a:r>
            <a:endParaRPr lang="en-US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E472AE-769D-4EE7-816F-600BBA42ABD6}"/>
              </a:ext>
            </a:extLst>
          </p:cNvPr>
          <p:cNvCxnSpPr>
            <a:cxnSpLocks/>
          </p:cNvCxnSpPr>
          <p:nvPr/>
        </p:nvCxnSpPr>
        <p:spPr>
          <a:xfrm flipV="1">
            <a:off x="563311" y="721050"/>
            <a:ext cx="10227332" cy="22131"/>
          </a:xfrm>
          <a:prstGeom prst="line">
            <a:avLst/>
          </a:prstGeom>
          <a:ln w="7620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7E7D16B-A9BB-D6ED-ECE6-6B1A8884E124}"/>
              </a:ext>
            </a:extLst>
          </p:cNvPr>
          <p:cNvSpPr txBox="1"/>
          <p:nvPr/>
        </p:nvSpPr>
        <p:spPr>
          <a:xfrm>
            <a:off x="563311" y="2227631"/>
            <a:ext cx="733394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Kanit" pitchFamily="2" charset="-34"/>
              </a:rPr>
              <a:t>1. What</a:t>
            </a:r>
            <a:r>
              <a:rPr kumimoji="0" lang="en-US" sz="6000" b="1" i="0" u="none" kern="1200" cap="none" spc="0" normalizeH="0" noProof="0" dirty="0">
                <a:ln w="0"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Kanit" pitchFamily="2" charset="-34"/>
              </a:rPr>
              <a:t> is TMDL</a:t>
            </a:r>
            <a:endParaRPr kumimoji="0" lang="en-US" sz="6000" b="1" i="0" u="none" kern="1200" cap="none" spc="0" normalizeH="0" baseline="0" noProof="0" dirty="0">
              <a:ln w="0"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3A3E78-19CF-309F-2E56-FB1F96EBFFBE}"/>
              </a:ext>
            </a:extLst>
          </p:cNvPr>
          <p:cNvSpPr txBox="1"/>
          <p:nvPr/>
        </p:nvSpPr>
        <p:spPr>
          <a:xfrm>
            <a:off x="563311" y="3089064"/>
            <a:ext cx="920867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Kanit" pitchFamily="2" charset="-34"/>
              </a:rPr>
              <a:t>2. PBIP &amp; </a:t>
            </a:r>
            <a:r>
              <a:rPr lang="en-US" sz="6000" b="1" noProof="0" dirty="0">
                <a:ln w="0"/>
                <a:latin typeface="Roboto" panose="02000000000000000000" pitchFamily="2" charset="0"/>
                <a:ea typeface="Roboto" panose="02000000000000000000" pitchFamily="2" charset="0"/>
                <a:cs typeface="Kanit" pitchFamily="2" charset="-34"/>
              </a:rPr>
              <a:t>TMDL</a:t>
            </a:r>
            <a:endParaRPr kumimoji="0" lang="en-US" sz="6000" b="1" i="0" u="none" kern="1200" cap="none" spc="0" normalizeH="0" baseline="0" noProof="0" dirty="0">
              <a:ln w="0"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4A4C50-6FDF-821E-47DF-D41BB33CB7F3}"/>
              </a:ext>
            </a:extLst>
          </p:cNvPr>
          <p:cNvSpPr txBox="1"/>
          <p:nvPr/>
        </p:nvSpPr>
        <p:spPr>
          <a:xfrm>
            <a:off x="563311" y="4016905"/>
            <a:ext cx="9945505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3. TMDL View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985D14-3231-63E0-DA1C-1B6A0BB12041}"/>
              </a:ext>
            </a:extLst>
          </p:cNvPr>
          <p:cNvSpPr txBox="1"/>
          <p:nvPr/>
        </p:nvSpPr>
        <p:spPr>
          <a:xfrm>
            <a:off x="563312" y="4898118"/>
            <a:ext cx="8224549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4. External Tools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DF5D5-7949-E47B-7AC5-561A7FA94856}"/>
              </a:ext>
            </a:extLst>
          </p:cNvPr>
          <p:cNvSpPr txBox="1"/>
          <p:nvPr/>
        </p:nvSpPr>
        <p:spPr>
          <a:xfrm>
            <a:off x="563311" y="5821448"/>
            <a:ext cx="6161743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5. Conclusion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574F21-8642-2E0F-B2EE-9DB3DE4D342C}"/>
              </a:ext>
            </a:extLst>
          </p:cNvPr>
          <p:cNvCxnSpPr>
            <a:cxnSpLocks/>
          </p:cNvCxnSpPr>
          <p:nvPr/>
        </p:nvCxnSpPr>
        <p:spPr>
          <a:xfrm>
            <a:off x="568850" y="1784778"/>
            <a:ext cx="1337733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C393CF-F0E3-DE9A-7D79-DF5420038989}"/>
              </a:ext>
            </a:extLst>
          </p:cNvPr>
          <p:cNvCxnSpPr>
            <a:cxnSpLocks/>
          </p:cNvCxnSpPr>
          <p:nvPr/>
        </p:nvCxnSpPr>
        <p:spPr>
          <a:xfrm>
            <a:off x="1820395" y="1784778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B942F1-A800-A53C-E3BD-C303C0FF5A29}"/>
              </a:ext>
            </a:extLst>
          </p:cNvPr>
          <p:cNvCxnSpPr>
            <a:cxnSpLocks/>
          </p:cNvCxnSpPr>
          <p:nvPr/>
        </p:nvCxnSpPr>
        <p:spPr>
          <a:xfrm>
            <a:off x="3916306" y="1776127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127BD39-EC4A-EFF7-D9DC-583CAF24556F}"/>
              </a:ext>
            </a:extLst>
          </p:cNvPr>
          <p:cNvCxnSpPr>
            <a:cxnSpLocks/>
          </p:cNvCxnSpPr>
          <p:nvPr/>
        </p:nvCxnSpPr>
        <p:spPr>
          <a:xfrm>
            <a:off x="7952848" y="1774306"/>
            <a:ext cx="2792971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E5C6081-4484-9024-3E15-9C48B56A6D42}"/>
              </a:ext>
            </a:extLst>
          </p:cNvPr>
          <p:cNvSpPr/>
          <p:nvPr/>
        </p:nvSpPr>
        <p:spPr>
          <a:xfrm>
            <a:off x="1738392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6AA7DC8-687F-827C-1BEE-F20678EE8D32}"/>
              </a:ext>
            </a:extLst>
          </p:cNvPr>
          <p:cNvSpPr/>
          <p:nvPr/>
        </p:nvSpPr>
        <p:spPr>
          <a:xfrm>
            <a:off x="3698190" y="162826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E5DF03C-9A19-A009-7C86-F832B1A1A238}"/>
              </a:ext>
            </a:extLst>
          </p:cNvPr>
          <p:cNvCxnSpPr>
            <a:cxnSpLocks/>
          </p:cNvCxnSpPr>
          <p:nvPr/>
        </p:nvCxnSpPr>
        <p:spPr>
          <a:xfrm>
            <a:off x="5804311" y="1784778"/>
            <a:ext cx="2148537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AA7D865B-9867-672A-B849-9B4591052D1E}"/>
              </a:ext>
            </a:extLst>
          </p:cNvPr>
          <p:cNvSpPr/>
          <p:nvPr/>
        </p:nvSpPr>
        <p:spPr>
          <a:xfrm rot="306897">
            <a:off x="7806798" y="1632788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28FEC7-CF14-2977-ADFF-1540557C74CF}"/>
              </a:ext>
            </a:extLst>
          </p:cNvPr>
          <p:cNvSpPr/>
          <p:nvPr/>
        </p:nvSpPr>
        <p:spPr>
          <a:xfrm>
            <a:off x="10513838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1BC9F4-CEAF-B91D-866A-75B96EEA7852}"/>
              </a:ext>
            </a:extLst>
          </p:cNvPr>
          <p:cNvSpPr/>
          <p:nvPr/>
        </p:nvSpPr>
        <p:spPr>
          <a:xfrm>
            <a:off x="5794461" y="163675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pic>
        <p:nvPicPr>
          <p:cNvPr id="21" name="Graphic 20" descr="Hotel Bell with solid fill">
            <a:extLst>
              <a:ext uri="{FF2B5EF4-FFF2-40B4-BE49-F238E27FC236}">
                <a16:creationId xmlns:a16="http://schemas.microsoft.com/office/drawing/2014/main" id="{691EF62E-A634-DA83-4CB3-50555A3ED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3709" y="994827"/>
            <a:ext cx="914400" cy="914400"/>
          </a:xfrm>
          <a:prstGeom prst="rect">
            <a:avLst/>
          </a:prstGeom>
        </p:spPr>
      </p:pic>
      <p:pic>
        <p:nvPicPr>
          <p:cNvPr id="39" name="Graphic 38" descr="Sleep with solid fill">
            <a:extLst>
              <a:ext uri="{FF2B5EF4-FFF2-40B4-BE49-F238E27FC236}">
                <a16:creationId xmlns:a16="http://schemas.microsoft.com/office/drawing/2014/main" id="{B06F1CDE-8903-441D-7348-3EFBC0F74C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8943" y="1047126"/>
            <a:ext cx="914400" cy="914400"/>
          </a:xfrm>
          <a:prstGeom prst="rect">
            <a:avLst/>
          </a:prstGeom>
        </p:spPr>
      </p:pic>
      <p:pic>
        <p:nvPicPr>
          <p:cNvPr id="4" name="Graphic 3" descr="Luggage with solid fill">
            <a:extLst>
              <a:ext uri="{FF2B5EF4-FFF2-40B4-BE49-F238E27FC236}">
                <a16:creationId xmlns:a16="http://schemas.microsoft.com/office/drawing/2014/main" id="{A2512DBF-3D8E-7614-0188-F9C7AA0046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28470" y="916095"/>
            <a:ext cx="914400" cy="9144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C3A4944-DE75-2B31-E9A8-41FD18C360FC}"/>
              </a:ext>
            </a:extLst>
          </p:cNvPr>
          <p:cNvGrpSpPr/>
          <p:nvPr/>
        </p:nvGrpSpPr>
        <p:grpSpPr>
          <a:xfrm>
            <a:off x="947887" y="1115852"/>
            <a:ext cx="302639" cy="642703"/>
            <a:chOff x="10179762" y="3593280"/>
            <a:chExt cx="302639" cy="64270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B8FA725-088B-4B95-D41A-62A715AC527F}"/>
                </a:ext>
              </a:extLst>
            </p:cNvPr>
            <p:cNvSpPr/>
            <p:nvPr/>
          </p:nvSpPr>
          <p:spPr>
            <a:xfrm>
              <a:off x="10179762" y="3724162"/>
              <a:ext cx="302639" cy="511821"/>
            </a:xfrm>
            <a:custGeom>
              <a:avLst/>
              <a:gdLst>
                <a:gd name="connsiteX0" fmla="*/ 161799 w 228743"/>
                <a:gd name="connsiteY0" fmla="*/ 57200 h 409396"/>
                <a:gd name="connsiteX1" fmla="*/ 190936 w 228743"/>
                <a:gd name="connsiteY1" fmla="*/ 184263 h 409396"/>
                <a:gd name="connsiteX2" fmla="*/ 209986 w 228743"/>
                <a:gd name="connsiteY2" fmla="*/ 199503 h 409396"/>
                <a:gd name="connsiteX3" fmla="*/ 212843 w 228743"/>
                <a:gd name="connsiteY3" fmla="*/ 199503 h 409396"/>
                <a:gd name="connsiteX4" fmla="*/ 228467 w 228743"/>
                <a:gd name="connsiteY4" fmla="*/ 177441 h 409396"/>
                <a:gd name="connsiteX5" fmla="*/ 228083 w 228743"/>
                <a:gd name="connsiteY5" fmla="*/ 175691 h 409396"/>
                <a:gd name="connsiteX6" fmla="*/ 196651 w 228743"/>
                <a:gd name="connsiteY6" fmla="*/ 37169 h 409396"/>
                <a:gd name="connsiteX7" fmla="*/ 189983 w 228743"/>
                <a:gd name="connsiteY7" fmla="*/ 26691 h 409396"/>
                <a:gd name="connsiteX8" fmla="*/ 151883 w 228743"/>
                <a:gd name="connsiteY8" fmla="*/ 6689 h 409396"/>
                <a:gd name="connsiteX9" fmla="*/ 113783 w 228743"/>
                <a:gd name="connsiteY9" fmla="*/ 21 h 409396"/>
                <a:gd name="connsiteX10" fmla="*/ 75683 w 228743"/>
                <a:gd name="connsiteY10" fmla="*/ 6689 h 409396"/>
                <a:gd name="connsiteX11" fmla="*/ 37583 w 228743"/>
                <a:gd name="connsiteY11" fmla="*/ 26691 h 409396"/>
                <a:gd name="connsiteX12" fmla="*/ 30916 w 228743"/>
                <a:gd name="connsiteY12" fmla="*/ 37169 h 409396"/>
                <a:gd name="connsiteX13" fmla="*/ 664 w 228743"/>
                <a:gd name="connsiteY13" fmla="*/ 175224 h 409396"/>
                <a:gd name="connsiteX14" fmla="*/ 14136 w 228743"/>
                <a:gd name="connsiteY14" fmla="*/ 198648 h 409396"/>
                <a:gd name="connsiteX15" fmla="*/ 15904 w 228743"/>
                <a:gd name="connsiteY15" fmla="*/ 199037 h 409396"/>
                <a:gd name="connsiteX16" fmla="*/ 18762 w 228743"/>
                <a:gd name="connsiteY16" fmla="*/ 199037 h 409396"/>
                <a:gd name="connsiteX17" fmla="*/ 37812 w 228743"/>
                <a:gd name="connsiteY17" fmla="*/ 183797 h 409396"/>
                <a:gd name="connsiteX18" fmla="*/ 66196 w 228743"/>
                <a:gd name="connsiteY18" fmla="*/ 57838 h 409396"/>
                <a:gd name="connsiteX19" fmla="*/ 66263 w 228743"/>
                <a:gd name="connsiteY19" fmla="*/ 57838 h 409396"/>
                <a:gd name="connsiteX20" fmla="*/ 66263 w 228743"/>
                <a:gd name="connsiteY20" fmla="*/ 409396 h 409396"/>
                <a:gd name="connsiteX21" fmla="*/ 104363 w 228743"/>
                <a:gd name="connsiteY21" fmla="*/ 409396 h 409396"/>
                <a:gd name="connsiteX22" fmla="*/ 104363 w 228743"/>
                <a:gd name="connsiteY22" fmla="*/ 209495 h 409396"/>
                <a:gd name="connsiteX23" fmla="*/ 123413 w 228743"/>
                <a:gd name="connsiteY23" fmla="*/ 209495 h 409396"/>
                <a:gd name="connsiteX24" fmla="*/ 123413 w 228743"/>
                <a:gd name="connsiteY24" fmla="*/ 409396 h 409396"/>
                <a:gd name="connsiteX25" fmla="*/ 161513 w 228743"/>
                <a:gd name="connsiteY25" fmla="*/ 409396 h 409396"/>
                <a:gd name="connsiteX26" fmla="*/ 161513 w 228743"/>
                <a:gd name="connsiteY26" fmla="*/ 57171 h 40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8743" h="409396">
                  <a:moveTo>
                    <a:pt x="161799" y="57200"/>
                  </a:moveTo>
                  <a:lnTo>
                    <a:pt x="190936" y="184263"/>
                  </a:lnTo>
                  <a:cubicBezTo>
                    <a:pt x="193094" y="193076"/>
                    <a:pt x="200914" y="199332"/>
                    <a:pt x="209986" y="199503"/>
                  </a:cubicBezTo>
                  <a:lnTo>
                    <a:pt x="212843" y="199503"/>
                  </a:lnTo>
                  <a:cubicBezTo>
                    <a:pt x="223250" y="197725"/>
                    <a:pt x="230245" y="187848"/>
                    <a:pt x="228467" y="177441"/>
                  </a:cubicBezTo>
                  <a:cubicBezTo>
                    <a:pt x="228367" y="176851"/>
                    <a:pt x="228239" y="176268"/>
                    <a:pt x="228083" y="175691"/>
                  </a:cubicBezTo>
                  <a:lnTo>
                    <a:pt x="196651" y="37169"/>
                  </a:lnTo>
                  <a:cubicBezTo>
                    <a:pt x="195734" y="32999"/>
                    <a:pt x="193372" y="29288"/>
                    <a:pt x="189983" y="26691"/>
                  </a:cubicBezTo>
                  <a:cubicBezTo>
                    <a:pt x="178689" y="17634"/>
                    <a:pt x="165752" y="10843"/>
                    <a:pt x="151883" y="6689"/>
                  </a:cubicBezTo>
                  <a:cubicBezTo>
                    <a:pt x="139595" y="2548"/>
                    <a:pt x="126748" y="300"/>
                    <a:pt x="113783" y="21"/>
                  </a:cubicBezTo>
                  <a:cubicBezTo>
                    <a:pt x="100771" y="-247"/>
                    <a:pt x="87831" y="2017"/>
                    <a:pt x="75683" y="6689"/>
                  </a:cubicBezTo>
                  <a:cubicBezTo>
                    <a:pt x="61976" y="11230"/>
                    <a:pt x="49106" y="17987"/>
                    <a:pt x="37583" y="26691"/>
                  </a:cubicBezTo>
                  <a:cubicBezTo>
                    <a:pt x="34194" y="29288"/>
                    <a:pt x="31833" y="32999"/>
                    <a:pt x="30916" y="37169"/>
                  </a:cubicBezTo>
                  <a:lnTo>
                    <a:pt x="664" y="175224"/>
                  </a:lnTo>
                  <a:cubicBezTo>
                    <a:pt x="-2085" y="185412"/>
                    <a:pt x="3947" y="195900"/>
                    <a:pt x="14136" y="198648"/>
                  </a:cubicBezTo>
                  <a:cubicBezTo>
                    <a:pt x="14719" y="198806"/>
                    <a:pt x="15309" y="198936"/>
                    <a:pt x="15904" y="199037"/>
                  </a:cubicBezTo>
                  <a:lnTo>
                    <a:pt x="18762" y="199037"/>
                  </a:lnTo>
                  <a:cubicBezTo>
                    <a:pt x="27834" y="198865"/>
                    <a:pt x="35654" y="192609"/>
                    <a:pt x="37812" y="183797"/>
                  </a:cubicBezTo>
                  <a:lnTo>
                    <a:pt x="66196" y="57838"/>
                  </a:lnTo>
                  <a:lnTo>
                    <a:pt x="66263" y="57838"/>
                  </a:lnTo>
                  <a:lnTo>
                    <a:pt x="66263" y="409396"/>
                  </a:lnTo>
                  <a:lnTo>
                    <a:pt x="104363" y="409396"/>
                  </a:lnTo>
                  <a:lnTo>
                    <a:pt x="104363" y="209495"/>
                  </a:lnTo>
                  <a:lnTo>
                    <a:pt x="123413" y="209495"/>
                  </a:lnTo>
                  <a:lnTo>
                    <a:pt x="123413" y="409396"/>
                  </a:lnTo>
                  <a:lnTo>
                    <a:pt x="161513" y="409396"/>
                  </a:lnTo>
                  <a:lnTo>
                    <a:pt x="161513" y="5717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AA165A8-F6C8-9CE6-DFC6-30413F4DCE50}"/>
                </a:ext>
              </a:extLst>
            </p:cNvPr>
            <p:cNvSpPr/>
            <p:nvPr/>
          </p:nvSpPr>
          <p:spPr>
            <a:xfrm>
              <a:off x="10267303" y="3593280"/>
              <a:ext cx="126020" cy="119080"/>
            </a:xfrm>
            <a:custGeom>
              <a:avLst/>
              <a:gdLst>
                <a:gd name="connsiteX0" fmla="*/ 95250 w 95250"/>
                <a:gd name="connsiteY0" fmla="*/ 47625 h 95250"/>
                <a:gd name="connsiteX1" fmla="*/ 47625 w 95250"/>
                <a:gd name="connsiteY1" fmla="*/ 95250 h 95250"/>
                <a:gd name="connsiteX2" fmla="*/ 0 w 95250"/>
                <a:gd name="connsiteY2" fmla="*/ 47625 h 95250"/>
                <a:gd name="connsiteX3" fmla="*/ 47625 w 95250"/>
                <a:gd name="connsiteY3" fmla="*/ 0 h 95250"/>
                <a:gd name="connsiteX4" fmla="*/ 95250 w 95250"/>
                <a:gd name="connsiteY4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5250" y="47625"/>
                  </a:moveTo>
                  <a:cubicBezTo>
                    <a:pt x="95250" y="73927"/>
                    <a:pt x="73927" y="95250"/>
                    <a:pt x="47625" y="95250"/>
                  </a:cubicBezTo>
                  <a:cubicBezTo>
                    <a:pt x="21323" y="95250"/>
                    <a:pt x="0" y="73927"/>
                    <a:pt x="0" y="47625"/>
                  </a:cubicBezTo>
                  <a:cubicBezTo>
                    <a:pt x="0" y="21323"/>
                    <a:pt x="21323" y="0"/>
                    <a:pt x="47625" y="0"/>
                  </a:cubicBezTo>
                  <a:cubicBezTo>
                    <a:pt x="73927" y="0"/>
                    <a:pt x="95250" y="21323"/>
                    <a:pt x="95250" y="476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E05836-02CD-971A-15FB-28412F10C8A2}"/>
              </a:ext>
            </a:extLst>
          </p:cNvPr>
          <p:cNvGrpSpPr/>
          <p:nvPr/>
        </p:nvGrpSpPr>
        <p:grpSpPr>
          <a:xfrm>
            <a:off x="6532913" y="911883"/>
            <a:ext cx="762849" cy="846672"/>
            <a:chOff x="10885740" y="3724175"/>
            <a:chExt cx="742949" cy="8763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931FC25-B017-B749-E077-8AB4EC00940F}"/>
                </a:ext>
              </a:extLst>
            </p:cNvPr>
            <p:cNvSpPr/>
            <p:nvPr/>
          </p:nvSpPr>
          <p:spPr>
            <a:xfrm>
              <a:off x="11143481" y="4092951"/>
              <a:ext cx="228743" cy="409396"/>
            </a:xfrm>
            <a:custGeom>
              <a:avLst/>
              <a:gdLst>
                <a:gd name="connsiteX0" fmla="*/ 161799 w 228743"/>
                <a:gd name="connsiteY0" fmla="*/ 57200 h 409396"/>
                <a:gd name="connsiteX1" fmla="*/ 190936 w 228743"/>
                <a:gd name="connsiteY1" fmla="*/ 184263 h 409396"/>
                <a:gd name="connsiteX2" fmla="*/ 209986 w 228743"/>
                <a:gd name="connsiteY2" fmla="*/ 199503 h 409396"/>
                <a:gd name="connsiteX3" fmla="*/ 212843 w 228743"/>
                <a:gd name="connsiteY3" fmla="*/ 199503 h 409396"/>
                <a:gd name="connsiteX4" fmla="*/ 228467 w 228743"/>
                <a:gd name="connsiteY4" fmla="*/ 177441 h 409396"/>
                <a:gd name="connsiteX5" fmla="*/ 228083 w 228743"/>
                <a:gd name="connsiteY5" fmla="*/ 175691 h 409396"/>
                <a:gd name="connsiteX6" fmla="*/ 196651 w 228743"/>
                <a:gd name="connsiteY6" fmla="*/ 37169 h 409396"/>
                <a:gd name="connsiteX7" fmla="*/ 189983 w 228743"/>
                <a:gd name="connsiteY7" fmla="*/ 26691 h 409396"/>
                <a:gd name="connsiteX8" fmla="*/ 151883 w 228743"/>
                <a:gd name="connsiteY8" fmla="*/ 6689 h 409396"/>
                <a:gd name="connsiteX9" fmla="*/ 113783 w 228743"/>
                <a:gd name="connsiteY9" fmla="*/ 21 h 409396"/>
                <a:gd name="connsiteX10" fmla="*/ 75683 w 228743"/>
                <a:gd name="connsiteY10" fmla="*/ 6689 h 409396"/>
                <a:gd name="connsiteX11" fmla="*/ 37583 w 228743"/>
                <a:gd name="connsiteY11" fmla="*/ 26691 h 409396"/>
                <a:gd name="connsiteX12" fmla="*/ 30916 w 228743"/>
                <a:gd name="connsiteY12" fmla="*/ 37169 h 409396"/>
                <a:gd name="connsiteX13" fmla="*/ 664 w 228743"/>
                <a:gd name="connsiteY13" fmla="*/ 175224 h 409396"/>
                <a:gd name="connsiteX14" fmla="*/ 14136 w 228743"/>
                <a:gd name="connsiteY14" fmla="*/ 198648 h 409396"/>
                <a:gd name="connsiteX15" fmla="*/ 15904 w 228743"/>
                <a:gd name="connsiteY15" fmla="*/ 199037 h 409396"/>
                <a:gd name="connsiteX16" fmla="*/ 18762 w 228743"/>
                <a:gd name="connsiteY16" fmla="*/ 199037 h 409396"/>
                <a:gd name="connsiteX17" fmla="*/ 37812 w 228743"/>
                <a:gd name="connsiteY17" fmla="*/ 183797 h 409396"/>
                <a:gd name="connsiteX18" fmla="*/ 66196 w 228743"/>
                <a:gd name="connsiteY18" fmla="*/ 57838 h 409396"/>
                <a:gd name="connsiteX19" fmla="*/ 66263 w 228743"/>
                <a:gd name="connsiteY19" fmla="*/ 57838 h 409396"/>
                <a:gd name="connsiteX20" fmla="*/ 66263 w 228743"/>
                <a:gd name="connsiteY20" fmla="*/ 409396 h 409396"/>
                <a:gd name="connsiteX21" fmla="*/ 104363 w 228743"/>
                <a:gd name="connsiteY21" fmla="*/ 409396 h 409396"/>
                <a:gd name="connsiteX22" fmla="*/ 104363 w 228743"/>
                <a:gd name="connsiteY22" fmla="*/ 209495 h 409396"/>
                <a:gd name="connsiteX23" fmla="*/ 123413 w 228743"/>
                <a:gd name="connsiteY23" fmla="*/ 209495 h 409396"/>
                <a:gd name="connsiteX24" fmla="*/ 123413 w 228743"/>
                <a:gd name="connsiteY24" fmla="*/ 409396 h 409396"/>
                <a:gd name="connsiteX25" fmla="*/ 161513 w 228743"/>
                <a:gd name="connsiteY25" fmla="*/ 409396 h 409396"/>
                <a:gd name="connsiteX26" fmla="*/ 161513 w 228743"/>
                <a:gd name="connsiteY26" fmla="*/ 57171 h 40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8743" h="409396">
                  <a:moveTo>
                    <a:pt x="161799" y="57200"/>
                  </a:moveTo>
                  <a:lnTo>
                    <a:pt x="190936" y="184263"/>
                  </a:lnTo>
                  <a:cubicBezTo>
                    <a:pt x="193094" y="193076"/>
                    <a:pt x="200914" y="199332"/>
                    <a:pt x="209986" y="199503"/>
                  </a:cubicBezTo>
                  <a:lnTo>
                    <a:pt x="212843" y="199503"/>
                  </a:lnTo>
                  <a:cubicBezTo>
                    <a:pt x="223250" y="197725"/>
                    <a:pt x="230245" y="187848"/>
                    <a:pt x="228467" y="177441"/>
                  </a:cubicBezTo>
                  <a:cubicBezTo>
                    <a:pt x="228367" y="176851"/>
                    <a:pt x="228239" y="176268"/>
                    <a:pt x="228083" y="175691"/>
                  </a:cubicBezTo>
                  <a:lnTo>
                    <a:pt x="196651" y="37169"/>
                  </a:lnTo>
                  <a:cubicBezTo>
                    <a:pt x="195734" y="32999"/>
                    <a:pt x="193372" y="29288"/>
                    <a:pt x="189983" y="26691"/>
                  </a:cubicBezTo>
                  <a:cubicBezTo>
                    <a:pt x="178689" y="17634"/>
                    <a:pt x="165752" y="10843"/>
                    <a:pt x="151883" y="6689"/>
                  </a:cubicBezTo>
                  <a:cubicBezTo>
                    <a:pt x="139595" y="2548"/>
                    <a:pt x="126748" y="300"/>
                    <a:pt x="113783" y="21"/>
                  </a:cubicBezTo>
                  <a:cubicBezTo>
                    <a:pt x="100771" y="-247"/>
                    <a:pt x="87831" y="2017"/>
                    <a:pt x="75683" y="6689"/>
                  </a:cubicBezTo>
                  <a:cubicBezTo>
                    <a:pt x="61976" y="11230"/>
                    <a:pt x="49106" y="17987"/>
                    <a:pt x="37583" y="26691"/>
                  </a:cubicBezTo>
                  <a:cubicBezTo>
                    <a:pt x="34194" y="29288"/>
                    <a:pt x="31833" y="32999"/>
                    <a:pt x="30916" y="37169"/>
                  </a:cubicBezTo>
                  <a:lnTo>
                    <a:pt x="664" y="175224"/>
                  </a:lnTo>
                  <a:cubicBezTo>
                    <a:pt x="-2085" y="185412"/>
                    <a:pt x="3947" y="195900"/>
                    <a:pt x="14136" y="198648"/>
                  </a:cubicBezTo>
                  <a:cubicBezTo>
                    <a:pt x="14719" y="198806"/>
                    <a:pt x="15309" y="198936"/>
                    <a:pt x="15904" y="199037"/>
                  </a:cubicBezTo>
                  <a:lnTo>
                    <a:pt x="18762" y="199037"/>
                  </a:lnTo>
                  <a:cubicBezTo>
                    <a:pt x="27834" y="198865"/>
                    <a:pt x="35654" y="192609"/>
                    <a:pt x="37812" y="183797"/>
                  </a:cubicBezTo>
                  <a:lnTo>
                    <a:pt x="66196" y="57838"/>
                  </a:lnTo>
                  <a:lnTo>
                    <a:pt x="66263" y="57838"/>
                  </a:lnTo>
                  <a:lnTo>
                    <a:pt x="66263" y="409396"/>
                  </a:lnTo>
                  <a:lnTo>
                    <a:pt x="104363" y="409396"/>
                  </a:lnTo>
                  <a:lnTo>
                    <a:pt x="104363" y="209495"/>
                  </a:lnTo>
                  <a:lnTo>
                    <a:pt x="123413" y="209495"/>
                  </a:lnTo>
                  <a:lnTo>
                    <a:pt x="123413" y="409396"/>
                  </a:lnTo>
                  <a:lnTo>
                    <a:pt x="161513" y="409396"/>
                  </a:lnTo>
                  <a:lnTo>
                    <a:pt x="161513" y="5717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78825EE-DBFF-0ADA-BE3C-CB592D596651}"/>
                </a:ext>
              </a:extLst>
            </p:cNvPr>
            <p:cNvSpPr/>
            <p:nvPr/>
          </p:nvSpPr>
          <p:spPr>
            <a:xfrm>
              <a:off x="11209668" y="3988264"/>
              <a:ext cx="95250" cy="95250"/>
            </a:xfrm>
            <a:custGeom>
              <a:avLst/>
              <a:gdLst>
                <a:gd name="connsiteX0" fmla="*/ 95250 w 95250"/>
                <a:gd name="connsiteY0" fmla="*/ 47625 h 95250"/>
                <a:gd name="connsiteX1" fmla="*/ 47625 w 95250"/>
                <a:gd name="connsiteY1" fmla="*/ 95250 h 95250"/>
                <a:gd name="connsiteX2" fmla="*/ 0 w 95250"/>
                <a:gd name="connsiteY2" fmla="*/ 47625 h 95250"/>
                <a:gd name="connsiteX3" fmla="*/ 47625 w 95250"/>
                <a:gd name="connsiteY3" fmla="*/ 0 h 95250"/>
                <a:gd name="connsiteX4" fmla="*/ 95250 w 95250"/>
                <a:gd name="connsiteY4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5250" y="47625"/>
                  </a:moveTo>
                  <a:cubicBezTo>
                    <a:pt x="95250" y="73927"/>
                    <a:pt x="73927" y="95250"/>
                    <a:pt x="47625" y="95250"/>
                  </a:cubicBezTo>
                  <a:cubicBezTo>
                    <a:pt x="21323" y="95250"/>
                    <a:pt x="0" y="73927"/>
                    <a:pt x="0" y="47625"/>
                  </a:cubicBezTo>
                  <a:cubicBezTo>
                    <a:pt x="0" y="21323"/>
                    <a:pt x="21323" y="0"/>
                    <a:pt x="47625" y="0"/>
                  </a:cubicBezTo>
                  <a:cubicBezTo>
                    <a:pt x="73927" y="0"/>
                    <a:pt x="95250" y="21323"/>
                    <a:pt x="95250" y="476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FB55B3F-79C6-58E5-4B93-AB3A7B0BA76B}"/>
                </a:ext>
              </a:extLst>
            </p:cNvPr>
            <p:cNvSpPr/>
            <p:nvPr/>
          </p:nvSpPr>
          <p:spPr>
            <a:xfrm>
              <a:off x="10885740" y="3905150"/>
              <a:ext cx="742949" cy="695325"/>
            </a:xfrm>
            <a:custGeom>
              <a:avLst/>
              <a:gdLst>
                <a:gd name="connsiteX0" fmla="*/ 742950 w 742949"/>
                <a:gd name="connsiteY0" fmla="*/ 695325 h 695325"/>
                <a:gd name="connsiteX1" fmla="*/ 0 w 742949"/>
                <a:gd name="connsiteY1" fmla="*/ 695325 h 695325"/>
                <a:gd name="connsiteX2" fmla="*/ 0 w 742949"/>
                <a:gd name="connsiteY2" fmla="*/ 0 h 695325"/>
                <a:gd name="connsiteX3" fmla="*/ 742950 w 742949"/>
                <a:gd name="connsiteY3" fmla="*/ 0 h 695325"/>
                <a:gd name="connsiteX4" fmla="*/ 57150 w 742949"/>
                <a:gd name="connsiteY4" fmla="*/ 638175 h 695325"/>
                <a:gd name="connsiteX5" fmla="*/ 685800 w 742949"/>
                <a:gd name="connsiteY5" fmla="*/ 638175 h 695325"/>
                <a:gd name="connsiteX6" fmla="*/ 685800 w 742949"/>
                <a:gd name="connsiteY6" fmla="*/ 57150 h 695325"/>
                <a:gd name="connsiteX7" fmla="*/ 57150 w 742949"/>
                <a:gd name="connsiteY7" fmla="*/ 5715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2949" h="695325">
                  <a:moveTo>
                    <a:pt x="742950" y="695325"/>
                  </a:moveTo>
                  <a:lnTo>
                    <a:pt x="0" y="695325"/>
                  </a:lnTo>
                  <a:lnTo>
                    <a:pt x="0" y="0"/>
                  </a:lnTo>
                  <a:lnTo>
                    <a:pt x="742950" y="0"/>
                  </a:lnTo>
                  <a:close/>
                  <a:moveTo>
                    <a:pt x="57150" y="638175"/>
                  </a:moveTo>
                  <a:lnTo>
                    <a:pt x="685800" y="638175"/>
                  </a:lnTo>
                  <a:lnTo>
                    <a:pt x="685800" y="57150"/>
                  </a:lnTo>
                  <a:lnTo>
                    <a:pt x="57150" y="571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D31715F-8EC8-5516-070F-BF40CC02D92A}"/>
                </a:ext>
              </a:extLst>
            </p:cNvPr>
            <p:cNvSpPr/>
            <p:nvPr/>
          </p:nvSpPr>
          <p:spPr>
            <a:xfrm>
              <a:off x="11076240" y="3724175"/>
              <a:ext cx="181613" cy="123825"/>
            </a:xfrm>
            <a:custGeom>
              <a:avLst/>
              <a:gdLst>
                <a:gd name="connsiteX0" fmla="*/ 0 w 181613"/>
                <a:gd name="connsiteY0" fmla="*/ 123825 h 123825"/>
                <a:gd name="connsiteX1" fmla="*/ 90802 w 181613"/>
                <a:gd name="connsiteY1" fmla="*/ 0 h 123825"/>
                <a:gd name="connsiteX2" fmla="*/ 181613 w 181613"/>
                <a:gd name="connsiteY2" fmla="*/ 123825 h 123825"/>
                <a:gd name="connsiteX3" fmla="*/ 0 w 181613"/>
                <a:gd name="connsiteY3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613" h="123825">
                  <a:moveTo>
                    <a:pt x="0" y="123825"/>
                  </a:moveTo>
                  <a:lnTo>
                    <a:pt x="90802" y="0"/>
                  </a:lnTo>
                  <a:lnTo>
                    <a:pt x="181613" y="123825"/>
                  </a:lnTo>
                  <a:lnTo>
                    <a:pt x="0" y="1238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39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8" grpId="0" animBg="1"/>
      <p:bldP spid="8" grpId="1" animBg="1"/>
      <p:bldP spid="2" grpId="0" animBg="1"/>
      <p:bldP spid="2" grpId="1" animBg="1"/>
      <p:bldP spid="5" grpId="0" animBg="1"/>
      <p:bldP spid="5" grpId="1" animBg="1"/>
      <p:bldP spid="10" grpId="0" animBg="1"/>
      <p:bldP spid="6" grpId="0" animBg="1"/>
      <p:bldP spid="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028D-4BDE-E656-C72D-924B71CE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DDCCAB-8B29-5C0D-8D1F-4EDCAB408C15}"/>
              </a:ext>
            </a:extLst>
          </p:cNvPr>
          <p:cNvSpPr txBox="1">
            <a:spLocks/>
          </p:cNvSpPr>
          <p:nvPr/>
        </p:nvSpPr>
        <p:spPr>
          <a:xfrm>
            <a:off x="255818" y="44261"/>
            <a:ext cx="10560489" cy="596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The TMDL Journey</a:t>
            </a:r>
            <a:endParaRPr lang="en-US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B629CB-2A74-89DB-1300-2A8A3AF7D3F7}"/>
              </a:ext>
            </a:extLst>
          </p:cNvPr>
          <p:cNvCxnSpPr>
            <a:cxnSpLocks/>
          </p:cNvCxnSpPr>
          <p:nvPr/>
        </p:nvCxnSpPr>
        <p:spPr>
          <a:xfrm flipV="1">
            <a:off x="563311" y="721050"/>
            <a:ext cx="10227332" cy="22131"/>
          </a:xfrm>
          <a:prstGeom prst="line">
            <a:avLst/>
          </a:prstGeom>
          <a:ln w="7620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4707498-9258-99DE-AD1A-7DAF8CB74FF9}"/>
              </a:ext>
            </a:extLst>
          </p:cNvPr>
          <p:cNvSpPr txBox="1"/>
          <p:nvPr/>
        </p:nvSpPr>
        <p:spPr>
          <a:xfrm>
            <a:off x="563311" y="2227631"/>
            <a:ext cx="733394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1. What</a:t>
            </a:r>
            <a:r>
              <a:rPr kumimoji="0" lang="en-US" sz="6000" b="1" i="0" u="none" kern="1200" cap="none" spc="0" normalizeH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 is TMDL</a:t>
            </a:r>
            <a:endParaRPr kumimoji="0" lang="en-US" sz="6000" b="1" i="0" u="none" kern="1200" cap="none" spc="0" normalizeH="0" baseline="0" noProof="0" dirty="0">
              <a:ln w="0"/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343C1F-271D-4AAD-4E29-AADAC6AD724F}"/>
              </a:ext>
            </a:extLst>
          </p:cNvPr>
          <p:cNvSpPr txBox="1"/>
          <p:nvPr/>
        </p:nvSpPr>
        <p:spPr>
          <a:xfrm>
            <a:off x="563311" y="3089064"/>
            <a:ext cx="920867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2. PBIP &amp; </a:t>
            </a:r>
            <a:r>
              <a:rPr lang="en-US" sz="6000" noProof="0" dirty="0">
                <a:ln w="0"/>
                <a:solidFill>
                  <a:schemeClr val="tx1">
                    <a:lumMod val="50000"/>
                  </a:schemeClr>
                </a:solidFill>
                <a:latin typeface="Roboto" panose="02000000000000000000" pitchFamily="2" charset="0"/>
                <a:cs typeface="Kanit" pitchFamily="2" charset="-34"/>
              </a:rPr>
              <a:t>TMDL</a:t>
            </a:r>
            <a:endParaRPr kumimoji="0" lang="en-US" sz="6000" i="0" u="none" kern="1200" cap="none" spc="0" normalizeH="0" baseline="0" noProof="0" dirty="0">
              <a:ln w="0"/>
              <a:solidFill>
                <a:schemeClr val="tx1">
                  <a:lumMod val="50000"/>
                </a:schemeClr>
              </a:solidFill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B1D0CF-DE05-6C26-9BC5-703945C65C49}"/>
              </a:ext>
            </a:extLst>
          </p:cNvPr>
          <p:cNvSpPr txBox="1"/>
          <p:nvPr/>
        </p:nvSpPr>
        <p:spPr>
          <a:xfrm>
            <a:off x="563311" y="4016905"/>
            <a:ext cx="9945505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3. TMDL View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4BC2A4-22D5-A135-1397-5F30FFF113BB}"/>
              </a:ext>
            </a:extLst>
          </p:cNvPr>
          <p:cNvSpPr txBox="1"/>
          <p:nvPr/>
        </p:nvSpPr>
        <p:spPr>
          <a:xfrm>
            <a:off x="563312" y="4898118"/>
            <a:ext cx="8224549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4. External Tools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EAB7D3-ADD5-4DA7-C08A-9E3E2B80B902}"/>
              </a:ext>
            </a:extLst>
          </p:cNvPr>
          <p:cNvSpPr txBox="1"/>
          <p:nvPr/>
        </p:nvSpPr>
        <p:spPr>
          <a:xfrm>
            <a:off x="563311" y="5821448"/>
            <a:ext cx="6161743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5. Conclusion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A87183-E140-1AFB-3C2A-C29D4874CB52}"/>
              </a:ext>
            </a:extLst>
          </p:cNvPr>
          <p:cNvCxnSpPr>
            <a:cxnSpLocks/>
          </p:cNvCxnSpPr>
          <p:nvPr/>
        </p:nvCxnSpPr>
        <p:spPr>
          <a:xfrm>
            <a:off x="568850" y="1784778"/>
            <a:ext cx="1337733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B0ACCD-5568-5722-6F89-DF298F2BD37A}"/>
              </a:ext>
            </a:extLst>
          </p:cNvPr>
          <p:cNvCxnSpPr>
            <a:cxnSpLocks/>
          </p:cNvCxnSpPr>
          <p:nvPr/>
        </p:nvCxnSpPr>
        <p:spPr>
          <a:xfrm>
            <a:off x="1820395" y="1784778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001750-EC38-63C8-7784-F0A17410BAEF}"/>
              </a:ext>
            </a:extLst>
          </p:cNvPr>
          <p:cNvCxnSpPr>
            <a:cxnSpLocks/>
          </p:cNvCxnSpPr>
          <p:nvPr/>
        </p:nvCxnSpPr>
        <p:spPr>
          <a:xfrm>
            <a:off x="3916306" y="1776127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ADBA2DD-D0F9-1DFA-531F-A75AFF4FA1EC}"/>
              </a:ext>
            </a:extLst>
          </p:cNvPr>
          <p:cNvCxnSpPr>
            <a:cxnSpLocks/>
          </p:cNvCxnSpPr>
          <p:nvPr/>
        </p:nvCxnSpPr>
        <p:spPr>
          <a:xfrm>
            <a:off x="7952848" y="1774306"/>
            <a:ext cx="2792971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9582228-4B75-2149-B75A-C5707DD8CD17}"/>
              </a:ext>
            </a:extLst>
          </p:cNvPr>
          <p:cNvSpPr/>
          <p:nvPr/>
        </p:nvSpPr>
        <p:spPr>
          <a:xfrm>
            <a:off x="1738392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10A1DD-0DC6-EFFF-49A7-2C868A25ECD2}"/>
              </a:ext>
            </a:extLst>
          </p:cNvPr>
          <p:cNvSpPr/>
          <p:nvPr/>
        </p:nvSpPr>
        <p:spPr>
          <a:xfrm>
            <a:off x="3698190" y="162826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F78F95-E4B8-63F3-32F4-80B2274D21FD}"/>
              </a:ext>
            </a:extLst>
          </p:cNvPr>
          <p:cNvCxnSpPr>
            <a:cxnSpLocks/>
          </p:cNvCxnSpPr>
          <p:nvPr/>
        </p:nvCxnSpPr>
        <p:spPr>
          <a:xfrm>
            <a:off x="5804311" y="1784778"/>
            <a:ext cx="2148537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4B40889-A95E-C648-2424-36E71B505CB2}"/>
              </a:ext>
            </a:extLst>
          </p:cNvPr>
          <p:cNvSpPr/>
          <p:nvPr/>
        </p:nvSpPr>
        <p:spPr>
          <a:xfrm rot="306897">
            <a:off x="7806798" y="1632788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DC54D5-CDDF-1A2C-C868-1A77EEF0D0E6}"/>
              </a:ext>
            </a:extLst>
          </p:cNvPr>
          <p:cNvSpPr/>
          <p:nvPr/>
        </p:nvSpPr>
        <p:spPr>
          <a:xfrm>
            <a:off x="10513838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6EC7EE-8589-0609-BC4E-1B0CA33D6BB4}"/>
              </a:ext>
            </a:extLst>
          </p:cNvPr>
          <p:cNvSpPr/>
          <p:nvPr/>
        </p:nvSpPr>
        <p:spPr>
          <a:xfrm>
            <a:off x="5794461" y="163675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5AF588D-4680-42B8-7F06-90360BE0D7F0}"/>
              </a:ext>
            </a:extLst>
          </p:cNvPr>
          <p:cNvGrpSpPr/>
          <p:nvPr/>
        </p:nvGrpSpPr>
        <p:grpSpPr>
          <a:xfrm>
            <a:off x="947887" y="1115852"/>
            <a:ext cx="302639" cy="642703"/>
            <a:chOff x="10179762" y="3593280"/>
            <a:chExt cx="302639" cy="64270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2A14FA-963E-8301-D7F7-2DEBAC56041F}"/>
                </a:ext>
              </a:extLst>
            </p:cNvPr>
            <p:cNvSpPr/>
            <p:nvPr/>
          </p:nvSpPr>
          <p:spPr>
            <a:xfrm>
              <a:off x="10179762" y="3724162"/>
              <a:ext cx="302639" cy="511821"/>
            </a:xfrm>
            <a:custGeom>
              <a:avLst/>
              <a:gdLst>
                <a:gd name="connsiteX0" fmla="*/ 161799 w 228743"/>
                <a:gd name="connsiteY0" fmla="*/ 57200 h 409396"/>
                <a:gd name="connsiteX1" fmla="*/ 190936 w 228743"/>
                <a:gd name="connsiteY1" fmla="*/ 184263 h 409396"/>
                <a:gd name="connsiteX2" fmla="*/ 209986 w 228743"/>
                <a:gd name="connsiteY2" fmla="*/ 199503 h 409396"/>
                <a:gd name="connsiteX3" fmla="*/ 212843 w 228743"/>
                <a:gd name="connsiteY3" fmla="*/ 199503 h 409396"/>
                <a:gd name="connsiteX4" fmla="*/ 228467 w 228743"/>
                <a:gd name="connsiteY4" fmla="*/ 177441 h 409396"/>
                <a:gd name="connsiteX5" fmla="*/ 228083 w 228743"/>
                <a:gd name="connsiteY5" fmla="*/ 175691 h 409396"/>
                <a:gd name="connsiteX6" fmla="*/ 196651 w 228743"/>
                <a:gd name="connsiteY6" fmla="*/ 37169 h 409396"/>
                <a:gd name="connsiteX7" fmla="*/ 189983 w 228743"/>
                <a:gd name="connsiteY7" fmla="*/ 26691 h 409396"/>
                <a:gd name="connsiteX8" fmla="*/ 151883 w 228743"/>
                <a:gd name="connsiteY8" fmla="*/ 6689 h 409396"/>
                <a:gd name="connsiteX9" fmla="*/ 113783 w 228743"/>
                <a:gd name="connsiteY9" fmla="*/ 21 h 409396"/>
                <a:gd name="connsiteX10" fmla="*/ 75683 w 228743"/>
                <a:gd name="connsiteY10" fmla="*/ 6689 h 409396"/>
                <a:gd name="connsiteX11" fmla="*/ 37583 w 228743"/>
                <a:gd name="connsiteY11" fmla="*/ 26691 h 409396"/>
                <a:gd name="connsiteX12" fmla="*/ 30916 w 228743"/>
                <a:gd name="connsiteY12" fmla="*/ 37169 h 409396"/>
                <a:gd name="connsiteX13" fmla="*/ 664 w 228743"/>
                <a:gd name="connsiteY13" fmla="*/ 175224 h 409396"/>
                <a:gd name="connsiteX14" fmla="*/ 14136 w 228743"/>
                <a:gd name="connsiteY14" fmla="*/ 198648 h 409396"/>
                <a:gd name="connsiteX15" fmla="*/ 15904 w 228743"/>
                <a:gd name="connsiteY15" fmla="*/ 199037 h 409396"/>
                <a:gd name="connsiteX16" fmla="*/ 18762 w 228743"/>
                <a:gd name="connsiteY16" fmla="*/ 199037 h 409396"/>
                <a:gd name="connsiteX17" fmla="*/ 37812 w 228743"/>
                <a:gd name="connsiteY17" fmla="*/ 183797 h 409396"/>
                <a:gd name="connsiteX18" fmla="*/ 66196 w 228743"/>
                <a:gd name="connsiteY18" fmla="*/ 57838 h 409396"/>
                <a:gd name="connsiteX19" fmla="*/ 66263 w 228743"/>
                <a:gd name="connsiteY19" fmla="*/ 57838 h 409396"/>
                <a:gd name="connsiteX20" fmla="*/ 66263 w 228743"/>
                <a:gd name="connsiteY20" fmla="*/ 409396 h 409396"/>
                <a:gd name="connsiteX21" fmla="*/ 104363 w 228743"/>
                <a:gd name="connsiteY21" fmla="*/ 409396 h 409396"/>
                <a:gd name="connsiteX22" fmla="*/ 104363 w 228743"/>
                <a:gd name="connsiteY22" fmla="*/ 209495 h 409396"/>
                <a:gd name="connsiteX23" fmla="*/ 123413 w 228743"/>
                <a:gd name="connsiteY23" fmla="*/ 209495 h 409396"/>
                <a:gd name="connsiteX24" fmla="*/ 123413 w 228743"/>
                <a:gd name="connsiteY24" fmla="*/ 409396 h 409396"/>
                <a:gd name="connsiteX25" fmla="*/ 161513 w 228743"/>
                <a:gd name="connsiteY25" fmla="*/ 409396 h 409396"/>
                <a:gd name="connsiteX26" fmla="*/ 161513 w 228743"/>
                <a:gd name="connsiteY26" fmla="*/ 57171 h 40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8743" h="409396">
                  <a:moveTo>
                    <a:pt x="161799" y="57200"/>
                  </a:moveTo>
                  <a:lnTo>
                    <a:pt x="190936" y="184263"/>
                  </a:lnTo>
                  <a:cubicBezTo>
                    <a:pt x="193094" y="193076"/>
                    <a:pt x="200914" y="199332"/>
                    <a:pt x="209986" y="199503"/>
                  </a:cubicBezTo>
                  <a:lnTo>
                    <a:pt x="212843" y="199503"/>
                  </a:lnTo>
                  <a:cubicBezTo>
                    <a:pt x="223250" y="197725"/>
                    <a:pt x="230245" y="187848"/>
                    <a:pt x="228467" y="177441"/>
                  </a:cubicBezTo>
                  <a:cubicBezTo>
                    <a:pt x="228367" y="176851"/>
                    <a:pt x="228239" y="176268"/>
                    <a:pt x="228083" y="175691"/>
                  </a:cubicBezTo>
                  <a:lnTo>
                    <a:pt x="196651" y="37169"/>
                  </a:lnTo>
                  <a:cubicBezTo>
                    <a:pt x="195734" y="32999"/>
                    <a:pt x="193372" y="29288"/>
                    <a:pt x="189983" y="26691"/>
                  </a:cubicBezTo>
                  <a:cubicBezTo>
                    <a:pt x="178689" y="17634"/>
                    <a:pt x="165752" y="10843"/>
                    <a:pt x="151883" y="6689"/>
                  </a:cubicBezTo>
                  <a:cubicBezTo>
                    <a:pt x="139595" y="2548"/>
                    <a:pt x="126748" y="300"/>
                    <a:pt x="113783" y="21"/>
                  </a:cubicBezTo>
                  <a:cubicBezTo>
                    <a:pt x="100771" y="-247"/>
                    <a:pt x="87831" y="2017"/>
                    <a:pt x="75683" y="6689"/>
                  </a:cubicBezTo>
                  <a:cubicBezTo>
                    <a:pt x="61976" y="11230"/>
                    <a:pt x="49106" y="17987"/>
                    <a:pt x="37583" y="26691"/>
                  </a:cubicBezTo>
                  <a:cubicBezTo>
                    <a:pt x="34194" y="29288"/>
                    <a:pt x="31833" y="32999"/>
                    <a:pt x="30916" y="37169"/>
                  </a:cubicBezTo>
                  <a:lnTo>
                    <a:pt x="664" y="175224"/>
                  </a:lnTo>
                  <a:cubicBezTo>
                    <a:pt x="-2085" y="185412"/>
                    <a:pt x="3947" y="195900"/>
                    <a:pt x="14136" y="198648"/>
                  </a:cubicBezTo>
                  <a:cubicBezTo>
                    <a:pt x="14719" y="198806"/>
                    <a:pt x="15309" y="198936"/>
                    <a:pt x="15904" y="199037"/>
                  </a:cubicBezTo>
                  <a:lnTo>
                    <a:pt x="18762" y="199037"/>
                  </a:lnTo>
                  <a:cubicBezTo>
                    <a:pt x="27834" y="198865"/>
                    <a:pt x="35654" y="192609"/>
                    <a:pt x="37812" y="183797"/>
                  </a:cubicBezTo>
                  <a:lnTo>
                    <a:pt x="66196" y="57838"/>
                  </a:lnTo>
                  <a:lnTo>
                    <a:pt x="66263" y="57838"/>
                  </a:lnTo>
                  <a:lnTo>
                    <a:pt x="66263" y="409396"/>
                  </a:lnTo>
                  <a:lnTo>
                    <a:pt x="104363" y="409396"/>
                  </a:lnTo>
                  <a:lnTo>
                    <a:pt x="104363" y="209495"/>
                  </a:lnTo>
                  <a:lnTo>
                    <a:pt x="123413" y="209495"/>
                  </a:lnTo>
                  <a:lnTo>
                    <a:pt x="123413" y="409396"/>
                  </a:lnTo>
                  <a:lnTo>
                    <a:pt x="161513" y="409396"/>
                  </a:lnTo>
                  <a:lnTo>
                    <a:pt x="161513" y="5717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7903C6C-01EC-C058-45A5-159C56AD9E63}"/>
                </a:ext>
              </a:extLst>
            </p:cNvPr>
            <p:cNvSpPr/>
            <p:nvPr/>
          </p:nvSpPr>
          <p:spPr>
            <a:xfrm>
              <a:off x="10267303" y="3593280"/>
              <a:ext cx="126020" cy="119080"/>
            </a:xfrm>
            <a:custGeom>
              <a:avLst/>
              <a:gdLst>
                <a:gd name="connsiteX0" fmla="*/ 95250 w 95250"/>
                <a:gd name="connsiteY0" fmla="*/ 47625 h 95250"/>
                <a:gd name="connsiteX1" fmla="*/ 47625 w 95250"/>
                <a:gd name="connsiteY1" fmla="*/ 95250 h 95250"/>
                <a:gd name="connsiteX2" fmla="*/ 0 w 95250"/>
                <a:gd name="connsiteY2" fmla="*/ 47625 h 95250"/>
                <a:gd name="connsiteX3" fmla="*/ 47625 w 95250"/>
                <a:gd name="connsiteY3" fmla="*/ 0 h 95250"/>
                <a:gd name="connsiteX4" fmla="*/ 95250 w 95250"/>
                <a:gd name="connsiteY4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5250" y="47625"/>
                  </a:moveTo>
                  <a:cubicBezTo>
                    <a:pt x="95250" y="73927"/>
                    <a:pt x="73927" y="95250"/>
                    <a:pt x="47625" y="95250"/>
                  </a:cubicBezTo>
                  <a:cubicBezTo>
                    <a:pt x="21323" y="95250"/>
                    <a:pt x="0" y="73927"/>
                    <a:pt x="0" y="47625"/>
                  </a:cubicBezTo>
                  <a:cubicBezTo>
                    <a:pt x="0" y="21323"/>
                    <a:pt x="21323" y="0"/>
                    <a:pt x="47625" y="0"/>
                  </a:cubicBezTo>
                  <a:cubicBezTo>
                    <a:pt x="73927" y="0"/>
                    <a:pt x="95250" y="21323"/>
                    <a:pt x="95250" y="476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7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42BB-2EDF-2CC7-9A42-952C89E2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41" y="0"/>
            <a:ext cx="10840914" cy="943897"/>
          </a:xfrm>
        </p:spPr>
        <p:txBody>
          <a:bodyPr>
            <a:normAutofit/>
          </a:bodyPr>
          <a:lstStyle/>
          <a:p>
            <a:r>
              <a:rPr lang="en-US" sz="4000" dirty="0"/>
              <a:t>In the Beginning…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6BB25-0439-77F2-9ABF-A8B0D03C5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44" y="1071716"/>
            <a:ext cx="11238271" cy="5191432"/>
          </a:xfrm>
        </p:spPr>
        <p:txBody>
          <a:bodyPr>
            <a:noAutofit/>
          </a:bodyPr>
          <a:lstStyle/>
          <a:p>
            <a:r>
              <a:rPr lang="en-US" sz="3600" dirty="0"/>
              <a:t>SQL Server Analysis Services Tabular</a:t>
            </a:r>
          </a:p>
          <a:p>
            <a:pPr lvl="1"/>
            <a:r>
              <a:rPr lang="en-US" sz="3600" dirty="0"/>
              <a:t>Single BIM File</a:t>
            </a:r>
          </a:p>
          <a:p>
            <a:pPr lvl="1"/>
            <a:r>
              <a:rPr lang="en-US" sz="3600" dirty="0"/>
              <a:t>Tabular Model Scripting Language (TMSL)</a:t>
            </a:r>
          </a:p>
          <a:p>
            <a:pPr lvl="3"/>
            <a:r>
              <a:rPr lang="en-US" sz="3600" dirty="0"/>
              <a:t> JSON Format</a:t>
            </a:r>
          </a:p>
          <a:p>
            <a:r>
              <a:rPr lang="en-US" sz="3600" dirty="0"/>
              <a:t>Creator of Tabular Editor - Daniel </a:t>
            </a:r>
            <a:r>
              <a:rPr lang="en-US" sz="3600" dirty="0" err="1"/>
              <a:t>Otykier</a:t>
            </a:r>
            <a:r>
              <a:rPr lang="en-US" sz="3600" dirty="0"/>
              <a:t> </a:t>
            </a:r>
          </a:p>
          <a:p>
            <a:pPr lvl="1"/>
            <a:r>
              <a:rPr lang="en-US" sz="3400" dirty="0"/>
              <a:t>TE started as a glorified JSON editor</a:t>
            </a:r>
          </a:p>
        </p:txBody>
      </p:sp>
    </p:spTree>
    <p:extLst>
      <p:ext uri="{BB962C8B-B14F-4D97-AF65-F5344CB8AC3E}">
        <p14:creationId xmlns:p14="http://schemas.microsoft.com/office/powerpoint/2010/main" val="264032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C5B6-0863-058F-2807-2DA3C557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5" y="0"/>
            <a:ext cx="10840914" cy="870857"/>
          </a:xfrm>
        </p:spPr>
        <p:txBody>
          <a:bodyPr>
            <a:normAutofit/>
          </a:bodyPr>
          <a:lstStyle/>
          <a:p>
            <a:r>
              <a:rPr lang="en-US" sz="4000" cap="none" dirty="0"/>
              <a:t>Sample </a:t>
            </a:r>
            <a:r>
              <a:rPr lang="en-US" sz="4000" cap="none" dirty="0" err="1"/>
              <a:t>Model.Bim</a:t>
            </a:r>
            <a:r>
              <a:rPr lang="en-US" sz="4000" cap="none" dirty="0"/>
              <a:t> File</a:t>
            </a:r>
          </a:p>
        </p:txBody>
      </p:sp>
      <p:pic>
        <p:nvPicPr>
          <p:cNvPr id="9" name="Content Placeholder 8" descr="A screen shot of a computer">
            <a:extLst>
              <a:ext uri="{FF2B5EF4-FFF2-40B4-BE49-F238E27FC236}">
                <a16:creationId xmlns:a16="http://schemas.microsoft.com/office/drawing/2014/main" id="{7E0C60CE-CE09-9565-E866-4492016B7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3904" y="870857"/>
            <a:ext cx="5864192" cy="5580075"/>
          </a:xfrm>
        </p:spPr>
      </p:pic>
    </p:spTree>
    <p:extLst>
      <p:ext uri="{BB962C8B-B14F-4D97-AF65-F5344CB8AC3E}">
        <p14:creationId xmlns:p14="http://schemas.microsoft.com/office/powerpoint/2010/main" val="4088040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9DBB-18AA-D431-561D-77BF7B92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5" y="0"/>
            <a:ext cx="10840914" cy="77288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  <a:effectLst/>
              </a:rPr>
              <a:t>Issues with a Single Large BIM File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C5856-FE74-0FF8-6FA8-3D1E5E52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89" y="870856"/>
            <a:ext cx="11286853" cy="5225143"/>
          </a:xfrm>
        </p:spPr>
        <p:txBody>
          <a:bodyPr>
            <a:noAutofit/>
          </a:bodyPr>
          <a:lstStyle/>
          <a:p>
            <a:pPr marL="283464" indent="-283464" algn="l" rtl="0" eaLnBrk="1" latinLnBrk="0" hangingPunct="1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FFFF"/>
                </a:solidFill>
                <a:effectLst/>
              </a:rPr>
              <a:t>Difficult to comprehend</a:t>
            </a:r>
          </a:p>
          <a:p>
            <a:pPr marL="740664" lvl="1" indent="-283464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FFFF"/>
                </a:solidFill>
                <a:effectLst/>
              </a:rPr>
              <a:t>Too much text is focused on delimiters {}, ()</a:t>
            </a:r>
          </a:p>
          <a:p>
            <a:pPr marL="283464" indent="-283464" algn="l" rtl="0" eaLnBrk="1" latinLnBrk="0" hangingPunct="1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FFFF"/>
                </a:solidFill>
                <a:effectLst/>
              </a:rPr>
              <a:t>Single, large file - harder to collaborate with others</a:t>
            </a:r>
          </a:p>
          <a:p>
            <a:pPr marL="283464" indent="-283464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Power BI and Fabric are advancing toward complete version control across all assets</a:t>
            </a:r>
          </a:p>
          <a:p>
            <a:pPr marL="740664" lvl="1" indent="-283464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FFFF"/>
                </a:solidFill>
              </a:rPr>
              <a:t>Does it exist if it is not in source control?</a:t>
            </a:r>
          </a:p>
        </p:txBody>
      </p:sp>
    </p:spTree>
    <p:extLst>
      <p:ext uri="{BB962C8B-B14F-4D97-AF65-F5344CB8AC3E}">
        <p14:creationId xmlns:p14="http://schemas.microsoft.com/office/powerpoint/2010/main" val="272508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5D07C-5B27-9D32-E6B1-414E12295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511F-DA5D-4FC2-2B94-0CB337F8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effectLst/>
              </a:rPr>
              <a:t>Power BI PBIX File</a:t>
            </a:r>
            <a:endParaRPr lang="en-US" sz="2800" dirty="0"/>
          </a:p>
        </p:txBody>
      </p:sp>
      <p:pic>
        <p:nvPicPr>
          <p:cNvPr id="5" name="Content Placeholder 4" descr="A black box with yellow logo">
            <a:extLst>
              <a:ext uri="{FF2B5EF4-FFF2-40B4-BE49-F238E27FC236}">
                <a16:creationId xmlns:a16="http://schemas.microsoft.com/office/drawing/2014/main" id="{FC0F1AE8-73C0-0A12-5869-5B6EB310F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150" r="3" b="5967"/>
          <a:stretch>
            <a:fillRect/>
          </a:stretch>
        </p:blipFill>
        <p:spPr>
          <a:xfrm>
            <a:off x="4648200" y="10"/>
            <a:ext cx="7543800" cy="6856204"/>
          </a:xfr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C7A9AE1-448E-103D-24F7-2513DD3FE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/>
          <a:lstStyle/>
          <a:p>
            <a:r>
              <a:rPr lang="en-US" dirty="0"/>
              <a:t>In some ways a step backwards</a:t>
            </a:r>
          </a:p>
        </p:txBody>
      </p:sp>
    </p:spTree>
    <p:extLst>
      <p:ext uri="{BB962C8B-B14F-4D97-AF65-F5344CB8AC3E}">
        <p14:creationId xmlns:p14="http://schemas.microsoft.com/office/powerpoint/2010/main" val="867149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0E94B-2A97-D346-310E-239D122E7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277B-091F-DCF1-A77A-B58B1620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5" y="0"/>
            <a:ext cx="10840914" cy="77288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  <a:effectLst/>
              </a:rPr>
              <a:t>Power BI Developer Mode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AD5B4-A3E7-B2AA-CEAD-163DB647B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89" y="870856"/>
            <a:ext cx="11286853" cy="5225143"/>
          </a:xfrm>
        </p:spPr>
        <p:txBody>
          <a:bodyPr>
            <a:normAutofit/>
          </a:bodyPr>
          <a:lstStyle/>
          <a:p>
            <a:pPr marL="283464" indent="-283464" algn="l" rtl="0" eaLnBrk="1" latinLnBrk="0" hangingPunct="1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FFFF"/>
                </a:solidFill>
                <a:effectLst/>
              </a:rPr>
              <a:t>Store PBIX as a Project Folder</a:t>
            </a:r>
          </a:p>
          <a:p>
            <a:pPr marL="740664" lvl="1" indent="-283464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FFFFFF"/>
                </a:solidFill>
              </a:rPr>
              <a:t>PBIP</a:t>
            </a:r>
            <a:endParaRPr lang="en-US" sz="3400" dirty="0">
              <a:solidFill>
                <a:srgbClr val="FFFFFF"/>
              </a:solidFill>
              <a:effectLst/>
            </a:endParaRPr>
          </a:p>
          <a:p>
            <a:pPr marL="283464" indent="-283464" algn="l" rtl="0" eaLnBrk="1" latinLnBrk="0" hangingPunct="1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FFFF"/>
                </a:solidFill>
              </a:rPr>
              <a:t>Enhanced Format for Semantic Model</a:t>
            </a:r>
          </a:p>
          <a:p>
            <a:pPr marL="740664" lvl="1" indent="-283464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FFFFFF"/>
                </a:solidFill>
              </a:rPr>
              <a:t>TMDL</a:t>
            </a:r>
          </a:p>
          <a:p>
            <a:pPr marL="283464" indent="-283464" algn="l" rtl="0" eaLnBrk="1" latinLnBrk="0" hangingPunct="1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FFFF"/>
                </a:solidFill>
              </a:rPr>
              <a:t>Enhanced Format for Reports </a:t>
            </a:r>
          </a:p>
          <a:p>
            <a:pPr marL="740664" lvl="1" indent="-283464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</a:rPr>
              <a:t>PBIR</a:t>
            </a:r>
          </a:p>
        </p:txBody>
      </p:sp>
    </p:spTree>
    <p:extLst>
      <p:ext uri="{BB962C8B-B14F-4D97-AF65-F5344CB8AC3E}">
        <p14:creationId xmlns:p14="http://schemas.microsoft.com/office/powerpoint/2010/main" val="88780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5EA3-6E7E-F362-6E70-B7CA2DA2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135" y="0"/>
            <a:ext cx="10840914" cy="813547"/>
          </a:xfrm>
        </p:spPr>
        <p:txBody>
          <a:bodyPr>
            <a:normAutofit/>
          </a:bodyPr>
          <a:lstStyle/>
          <a:p>
            <a:r>
              <a:rPr lang="en-US" sz="4000"/>
              <a:t>What’s in a Name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14AC5-EED9-2EF7-1A15-0C535EECE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50" y="813546"/>
            <a:ext cx="10944993" cy="50429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6000" b="1" u="sng"/>
              <a:t>TMDL</a:t>
            </a:r>
            <a:endParaRPr lang="en-US" sz="6000" b="1" u="sng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6000" b="1">
                <a:solidFill>
                  <a:schemeClr val="accent2"/>
                </a:solidFill>
              </a:rPr>
              <a:t>T</a:t>
            </a:r>
            <a:r>
              <a:rPr lang="en-US" sz="6000"/>
              <a:t>abular </a:t>
            </a:r>
          </a:p>
          <a:p>
            <a:pPr marL="0" indent="0">
              <a:buNone/>
            </a:pPr>
            <a:r>
              <a:rPr lang="en-US" sz="6000">
                <a:solidFill>
                  <a:schemeClr val="accent2"/>
                </a:solidFill>
              </a:rPr>
              <a:t>  </a:t>
            </a:r>
            <a:r>
              <a:rPr lang="en-US" sz="6000" b="1">
                <a:solidFill>
                  <a:schemeClr val="accent2"/>
                </a:solidFill>
              </a:rPr>
              <a:t>M</a:t>
            </a:r>
            <a:r>
              <a:rPr lang="en-US" sz="6000"/>
              <a:t>odel </a:t>
            </a:r>
          </a:p>
          <a:p>
            <a:pPr marL="0" indent="0">
              <a:buNone/>
            </a:pPr>
            <a:r>
              <a:rPr lang="en-US" sz="6000">
                <a:solidFill>
                  <a:schemeClr val="accent2"/>
                </a:solidFill>
              </a:rPr>
              <a:t>      </a:t>
            </a:r>
            <a:r>
              <a:rPr lang="en-US" sz="6000" b="1">
                <a:solidFill>
                  <a:schemeClr val="accent2"/>
                </a:solidFill>
              </a:rPr>
              <a:t>D</a:t>
            </a:r>
            <a:r>
              <a:rPr lang="en-US" sz="6000"/>
              <a:t>efinition </a:t>
            </a:r>
          </a:p>
          <a:p>
            <a:pPr marL="0" indent="0">
              <a:buNone/>
            </a:pPr>
            <a:r>
              <a:rPr lang="en-US" sz="6000">
                <a:solidFill>
                  <a:schemeClr val="accent2"/>
                </a:solidFill>
              </a:rPr>
              <a:t>        </a:t>
            </a:r>
            <a:r>
              <a:rPr lang="en-US" sz="6000" b="1">
                <a:solidFill>
                  <a:schemeClr val="accent2"/>
                </a:solidFill>
              </a:rPr>
              <a:t>L</a:t>
            </a:r>
            <a:r>
              <a:rPr lang="en-US" sz="6000"/>
              <a:t>anguage</a:t>
            </a:r>
            <a:endParaRPr lang="en-US" sz="6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F9871E-1F54-07B2-BB11-CDA6CC328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79" y="0"/>
            <a:ext cx="3641270" cy="242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4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AB9C-1B1C-CA8F-CBBB-C4FB04AC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4" y="-13447"/>
            <a:ext cx="10840914" cy="908136"/>
          </a:xfrm>
        </p:spPr>
        <p:txBody>
          <a:bodyPr>
            <a:normAutofit/>
          </a:bodyPr>
          <a:lstStyle/>
          <a:p>
            <a:r>
              <a:rPr lang="en-US" sz="4000" dirty="0"/>
              <a:t>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B21D5-0C48-F8E5-A021-10A79ED64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8" y="894688"/>
            <a:ext cx="10564609" cy="4907397"/>
          </a:xfrm>
        </p:spPr>
        <p:txBody>
          <a:bodyPr>
            <a:normAutofit/>
          </a:bodyPr>
          <a:lstStyle/>
          <a:p>
            <a:r>
              <a:rPr lang="en-US" sz="4400" dirty="0"/>
              <a:t>Ease of reading – similar to YAML</a:t>
            </a:r>
          </a:p>
          <a:p>
            <a:r>
              <a:rPr lang="en-US" sz="4400" dirty="0"/>
              <a:t>Folder structure – separate files for each table, perspective, role, and culture</a:t>
            </a:r>
          </a:p>
          <a:p>
            <a:pPr lvl="1"/>
            <a:r>
              <a:rPr lang="en-US" sz="4200" dirty="0"/>
              <a:t>Increases collaboration</a:t>
            </a:r>
          </a:p>
          <a:p>
            <a:r>
              <a:rPr lang="en-US" sz="4400" dirty="0"/>
              <a:t>Minimal delimiters</a:t>
            </a:r>
          </a:p>
          <a:p>
            <a:r>
              <a:rPr lang="en-US" sz="4400" dirty="0"/>
              <a:t>AI-ready: plain text = Copilot-friendly</a:t>
            </a:r>
          </a:p>
        </p:txBody>
      </p:sp>
    </p:spTree>
    <p:extLst>
      <p:ext uri="{BB962C8B-B14F-4D97-AF65-F5344CB8AC3E}">
        <p14:creationId xmlns:p14="http://schemas.microsoft.com/office/powerpoint/2010/main" val="200718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1631-D459-B468-E0A5-19A164EAAC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3045" y="2529820"/>
            <a:ext cx="6796425" cy="1258887"/>
          </a:xfrm>
        </p:spPr>
        <p:txBody>
          <a:bodyPr/>
          <a:lstStyle/>
          <a:p>
            <a:r>
              <a:rPr lang="en-US" sz="3600" dirty="0">
                <a:solidFill>
                  <a:srgbClr val="FFFFFF"/>
                </a:solidFill>
                <a:effectLst/>
              </a:rPr>
              <a:t>This is not in JSON format.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402033-04CE-80FA-59F8-0383E4C459AA}"/>
              </a:ext>
            </a:extLst>
          </p:cNvPr>
          <p:cNvSpPr txBox="1">
            <a:spLocks/>
          </p:cNvSpPr>
          <p:nvPr/>
        </p:nvSpPr>
        <p:spPr>
          <a:xfrm>
            <a:off x="478427" y="0"/>
            <a:ext cx="10840914" cy="71941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dirty="0">
                <a:latin typeface="Roboto" panose="02000000000000000000" pitchFamily="2" charset="0"/>
              </a:rPr>
              <a:t>What it is not</a:t>
            </a:r>
          </a:p>
        </p:txBody>
      </p:sp>
      <p:pic>
        <p:nvPicPr>
          <p:cNvPr id="4" name="Picture 3" descr="A green jersey with white numbers on it&#10;&#10;AI-generated content may be incorrect.">
            <a:extLst>
              <a:ext uri="{FF2B5EF4-FFF2-40B4-BE49-F238E27FC236}">
                <a16:creationId xmlns:a16="http://schemas.microsoft.com/office/drawing/2014/main" id="{8AF259B0-0C5C-1BE3-6D2A-333C2F45A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-1"/>
            <a:ext cx="5143500" cy="6858000"/>
          </a:xfrm>
          <a:prstGeom prst="rect">
            <a:avLst/>
          </a:prstGeom>
          <a:effectLst>
            <a:softEdge rad="15240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329C3E8-FA44-AB00-B008-137E98B12E7A}"/>
              </a:ext>
            </a:extLst>
          </p:cNvPr>
          <p:cNvSpPr txBox="1">
            <a:spLocks/>
          </p:cNvSpPr>
          <p:nvPr/>
        </p:nvSpPr>
        <p:spPr bwMode="white">
          <a:xfrm>
            <a:off x="7271385" y="5515534"/>
            <a:ext cx="4823235" cy="793377"/>
          </a:xfrm>
          <a:prstGeom prst="rect">
            <a:avLst/>
          </a:prstGeom>
          <a:solidFill>
            <a:srgbClr val="00B050"/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WWW.smlcrew.com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14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096F-D4BA-E8DF-B940-AD6F561C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177F-1D3C-3C8F-B8BD-311B3A8C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43" y="0"/>
            <a:ext cx="10840914" cy="746312"/>
          </a:xfrm>
        </p:spPr>
        <p:txBody>
          <a:bodyPr>
            <a:normAutofit/>
          </a:bodyPr>
          <a:lstStyle/>
          <a:p>
            <a:r>
              <a:rPr lang="en-US" sz="4000" dirty="0"/>
              <a:t>TMDL Credit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BFF71-67EA-6424-B3B7-9E257A5F8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01" y="1226036"/>
            <a:ext cx="10840914" cy="3921600"/>
          </a:xfrm>
        </p:spPr>
        <p:txBody>
          <a:bodyPr>
            <a:normAutofit/>
          </a:bodyPr>
          <a:lstStyle/>
          <a:p>
            <a:r>
              <a:rPr lang="en-US" sz="5400" dirty="0"/>
              <a:t>Mathias Thierbach</a:t>
            </a:r>
          </a:p>
          <a:p>
            <a:pPr lvl="1"/>
            <a:r>
              <a:rPr lang="en-US" sz="5400" dirty="0"/>
              <a:t>Microsoft MVP</a:t>
            </a:r>
          </a:p>
          <a:p>
            <a:pPr lvl="1"/>
            <a:r>
              <a:rPr lang="en-US" sz="5400" dirty="0" err="1"/>
              <a:t>pbi</a:t>
            </a:r>
            <a:r>
              <a:rPr lang="en-US" sz="5400" dirty="0"/>
              <a:t>-tools</a:t>
            </a:r>
          </a:p>
          <a:p>
            <a:r>
              <a:rPr lang="en-US" sz="5400" dirty="0"/>
              <a:t>Community involvement</a:t>
            </a:r>
          </a:p>
        </p:txBody>
      </p:sp>
    </p:spTree>
    <p:extLst>
      <p:ext uri="{BB962C8B-B14F-4D97-AF65-F5344CB8AC3E}">
        <p14:creationId xmlns:p14="http://schemas.microsoft.com/office/powerpoint/2010/main" val="196599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7C1B3-68C0-09EA-9D3F-0F0366F1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ADD91-E6DC-96EF-941C-83D5493B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43" y="0"/>
            <a:ext cx="10840914" cy="746312"/>
          </a:xfrm>
        </p:spPr>
        <p:txBody>
          <a:bodyPr>
            <a:normAutofit/>
          </a:bodyPr>
          <a:lstStyle/>
          <a:p>
            <a:r>
              <a:rPr lang="en-US" sz="4000" dirty="0"/>
              <a:t>Dual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AF78C-549E-274E-9B58-8D873A36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01" y="1226036"/>
            <a:ext cx="10840914" cy="392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1. Definition Language</a:t>
            </a:r>
          </a:p>
          <a:p>
            <a:endParaRPr lang="en-US" sz="5400" dirty="0"/>
          </a:p>
          <a:p>
            <a:pPr marL="0" indent="0">
              <a:buNone/>
            </a:pPr>
            <a:r>
              <a:rPr lang="en-US" sz="5400" dirty="0"/>
              <a:t>2. Scripting Language</a:t>
            </a:r>
          </a:p>
        </p:txBody>
      </p:sp>
    </p:spTree>
    <p:extLst>
      <p:ext uri="{BB962C8B-B14F-4D97-AF65-F5344CB8AC3E}">
        <p14:creationId xmlns:p14="http://schemas.microsoft.com/office/powerpoint/2010/main" val="134541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9EF3D-935A-DA46-B9EB-FD86819C0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27D1-9745-4E29-46D0-EA75AF81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0"/>
            <a:ext cx="10449028" cy="775447"/>
          </a:xfrm>
        </p:spPr>
        <p:txBody>
          <a:bodyPr>
            <a:normAutofit/>
          </a:bodyPr>
          <a:lstStyle/>
          <a:p>
            <a:r>
              <a:rPr lang="en-US" sz="4000" dirty="0"/>
              <a:t>Unlocking the Power of TMDL</a:t>
            </a:r>
            <a:endParaRPr lang="en-US" sz="4000" cap="non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F01A9-96B9-ED03-49B0-761B28D02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75447"/>
            <a:ext cx="10840914" cy="5474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/>
              <a:t>With code:</a:t>
            </a:r>
          </a:p>
          <a:p>
            <a:pPr lvl="1"/>
            <a:r>
              <a:rPr lang="en-US" sz="3400" dirty="0"/>
              <a:t>Create Date Table</a:t>
            </a:r>
          </a:p>
          <a:p>
            <a:pPr lvl="1"/>
            <a:r>
              <a:rPr lang="en-US" sz="3400" dirty="0"/>
              <a:t>Turn on or off features</a:t>
            </a:r>
          </a:p>
          <a:p>
            <a:pPr lvl="2"/>
            <a:r>
              <a:rPr lang="en-US" sz="3200" dirty="0"/>
              <a:t>Auto Date/Time</a:t>
            </a:r>
          </a:p>
          <a:p>
            <a:pPr lvl="2"/>
            <a:r>
              <a:rPr lang="en-US" sz="3200" dirty="0"/>
              <a:t>Discourage Implicit Measures</a:t>
            </a:r>
          </a:p>
          <a:p>
            <a:pPr lvl="1"/>
            <a:r>
              <a:rPr lang="en-US" sz="3400" dirty="0"/>
              <a:t>Quickly Create Objects</a:t>
            </a:r>
          </a:p>
          <a:p>
            <a:pPr lvl="1"/>
            <a:r>
              <a:rPr lang="en-US" sz="3400" dirty="0"/>
              <a:t>Move object between Projects</a:t>
            </a:r>
            <a:endParaRPr lang="en-US" dirty="0"/>
          </a:p>
          <a:p>
            <a:pPr lvl="1"/>
            <a:r>
              <a:rPr lang="en-US" sz="3600" dirty="0"/>
              <a:t>Make mass changes quickly</a:t>
            </a:r>
          </a:p>
        </p:txBody>
      </p:sp>
    </p:spTree>
    <p:extLst>
      <p:ext uri="{BB962C8B-B14F-4D97-AF65-F5344CB8AC3E}">
        <p14:creationId xmlns:p14="http://schemas.microsoft.com/office/powerpoint/2010/main" val="191516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9861E-53AB-E48B-D8BE-B68F41D0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7868-49C1-6A8F-86B4-F3313089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r>
              <a:rPr lang="en-US" cap="none" dirty="0"/>
              <a:t>Example of  TMDL</a:t>
            </a:r>
          </a:p>
        </p:txBody>
      </p:sp>
      <p:pic>
        <p:nvPicPr>
          <p:cNvPr id="9" name="Content Placeholder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8031527-C8D3-3204-D298-8BB296369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3675" y="0"/>
            <a:ext cx="7438325" cy="6858000"/>
          </a:xfrm>
          <a:noFill/>
        </p:spPr>
      </p:pic>
    </p:spTree>
    <p:extLst>
      <p:ext uri="{BB962C8B-B14F-4D97-AF65-F5344CB8AC3E}">
        <p14:creationId xmlns:p14="http://schemas.microsoft.com/office/powerpoint/2010/main" val="743031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57AD0-2989-CDAD-9DA2-45BFB38DE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5BEB-3142-E12E-BC41-F024F385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0"/>
            <a:ext cx="10449028" cy="775447"/>
          </a:xfrm>
        </p:spPr>
        <p:txBody>
          <a:bodyPr>
            <a:normAutofit/>
          </a:bodyPr>
          <a:lstStyle/>
          <a:p>
            <a:r>
              <a:rPr lang="en-US" sz="4000" b="1" cap="none" dirty="0"/>
              <a:t>Quick TMDL Primer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42E7D-A21E-6B77-5645-E8E199E5B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75447"/>
            <a:ext cx="10840914" cy="5330385"/>
          </a:xfrm>
        </p:spPr>
        <p:txBody>
          <a:bodyPr>
            <a:normAutofit lnSpcReduction="10000"/>
          </a:bodyPr>
          <a:lstStyle/>
          <a:p>
            <a:r>
              <a:rPr lang="en-US" sz="4400" dirty="0"/>
              <a:t>Whitespace for indenting</a:t>
            </a:r>
          </a:p>
          <a:p>
            <a:r>
              <a:rPr lang="en-US" sz="4400" dirty="0"/>
              <a:t>Hierarchy</a:t>
            </a:r>
          </a:p>
          <a:p>
            <a:pPr lvl="1"/>
            <a:r>
              <a:rPr lang="en-US" sz="4400" dirty="0"/>
              <a:t>Table</a:t>
            </a:r>
          </a:p>
          <a:p>
            <a:pPr lvl="2"/>
            <a:r>
              <a:rPr lang="en-US" sz="4400" dirty="0"/>
              <a:t>Column</a:t>
            </a:r>
          </a:p>
          <a:p>
            <a:pPr lvl="3"/>
            <a:r>
              <a:rPr lang="en-US" sz="4200" dirty="0"/>
              <a:t>Properties</a:t>
            </a:r>
          </a:p>
          <a:p>
            <a:pPr lvl="2"/>
            <a:r>
              <a:rPr lang="en-US" sz="4400" dirty="0"/>
              <a:t>Measure</a:t>
            </a:r>
          </a:p>
          <a:p>
            <a:pPr lvl="3"/>
            <a:r>
              <a:rPr lang="en-US" sz="4400" dirty="0"/>
              <a:t>Properties</a:t>
            </a:r>
          </a:p>
          <a:p>
            <a:pPr marL="0" indent="0">
              <a:buNone/>
            </a:pP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20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AF0D0-D963-D836-F4E1-E620C5B2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10229-6C22-8FC4-1417-C6F9D977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0"/>
            <a:ext cx="10449028" cy="775447"/>
          </a:xfrm>
        </p:spPr>
        <p:txBody>
          <a:bodyPr>
            <a:normAutofit/>
          </a:bodyPr>
          <a:lstStyle/>
          <a:p>
            <a:r>
              <a:rPr lang="en-US" sz="4000" cap="none" dirty="0"/>
              <a:t>More TMDL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BDB64-217E-4CCA-E538-3ADEEE051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75447"/>
            <a:ext cx="10840914" cy="5330385"/>
          </a:xfrm>
        </p:spPr>
        <p:txBody>
          <a:bodyPr>
            <a:normAutofit/>
          </a:bodyPr>
          <a:lstStyle/>
          <a:p>
            <a:r>
              <a:rPr lang="en-US" sz="4000" dirty="0"/>
              <a:t>Triple slash (///) syntax</a:t>
            </a:r>
          </a:p>
          <a:p>
            <a:pPr lvl="1"/>
            <a:r>
              <a:rPr lang="en-US" sz="4000" dirty="0"/>
              <a:t>Description – good for documentation</a:t>
            </a:r>
          </a:p>
          <a:p>
            <a:pPr lvl="2"/>
            <a:r>
              <a:rPr lang="en-US" sz="4000" dirty="0"/>
              <a:t>For example /// Table Description</a:t>
            </a:r>
          </a:p>
          <a:p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3D3FC-19A3-EA16-E4B9-326C3563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7625-2EC5-568C-019D-A414AD58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0"/>
            <a:ext cx="10449028" cy="775447"/>
          </a:xfrm>
        </p:spPr>
        <p:txBody>
          <a:bodyPr>
            <a:normAutofit/>
          </a:bodyPr>
          <a:lstStyle/>
          <a:p>
            <a:r>
              <a:rPr lang="en-US" sz="4000" cap="none" dirty="0"/>
              <a:t>Best Way to Learn Syntax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B96F7-0D02-A4A5-3293-F210A358B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35742"/>
            <a:ext cx="10840914" cy="4811058"/>
          </a:xfrm>
        </p:spPr>
        <p:txBody>
          <a:bodyPr>
            <a:normAutofit/>
          </a:bodyPr>
          <a:lstStyle/>
          <a:p>
            <a:r>
              <a:rPr lang="en-US" sz="6000" dirty="0"/>
              <a:t>Create Object in GUI</a:t>
            </a:r>
          </a:p>
          <a:p>
            <a:pPr lvl="1"/>
            <a:r>
              <a:rPr lang="en-US" sz="6000" dirty="0"/>
              <a:t>Script out object</a:t>
            </a:r>
          </a:p>
          <a:p>
            <a:r>
              <a:rPr lang="en-US" sz="6200"/>
              <a:t>View snippets </a:t>
            </a:r>
            <a:endParaRPr lang="en-US" sz="6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9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2C4A-69BC-F453-48F3-4A6B29BE6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FF96C2-B3D8-5C4D-A069-5D5FA9BDEA49}"/>
              </a:ext>
            </a:extLst>
          </p:cNvPr>
          <p:cNvSpPr txBox="1">
            <a:spLocks/>
          </p:cNvSpPr>
          <p:nvPr/>
        </p:nvSpPr>
        <p:spPr>
          <a:xfrm>
            <a:off x="255818" y="34525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The TMDL Journey</a:t>
            </a:r>
            <a:endParaRPr lang="en-US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D95782-DEA8-59FC-05C9-A75E179B40B2}"/>
              </a:ext>
            </a:extLst>
          </p:cNvPr>
          <p:cNvCxnSpPr>
            <a:cxnSpLocks/>
          </p:cNvCxnSpPr>
          <p:nvPr/>
        </p:nvCxnSpPr>
        <p:spPr>
          <a:xfrm flipV="1">
            <a:off x="563311" y="721050"/>
            <a:ext cx="10227332" cy="22131"/>
          </a:xfrm>
          <a:prstGeom prst="line">
            <a:avLst/>
          </a:prstGeom>
          <a:ln w="7620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991CC1C-EBD1-5FE4-629D-A3D98F1A1BC7}"/>
              </a:ext>
            </a:extLst>
          </p:cNvPr>
          <p:cNvSpPr txBox="1"/>
          <p:nvPr/>
        </p:nvSpPr>
        <p:spPr>
          <a:xfrm>
            <a:off x="563311" y="2227631"/>
            <a:ext cx="733394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b="1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1. What</a:t>
            </a:r>
            <a:r>
              <a:rPr kumimoji="0" lang="en-US" sz="6000" b="1" i="0" u="none" kern="1200" cap="none" spc="0" normalizeH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 is TMDL</a:t>
            </a:r>
            <a:endParaRPr kumimoji="0" lang="en-US" sz="6000" b="1" i="0" u="none" kern="1200" cap="none" spc="0" normalizeH="0" baseline="0" noProof="0" dirty="0">
              <a:ln w="0"/>
              <a:solidFill>
                <a:schemeClr val="tx1">
                  <a:lumMod val="50000"/>
                </a:schemeClr>
              </a:solidFill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CE9142-B721-CD78-393B-7AA9317B6981}"/>
              </a:ext>
            </a:extLst>
          </p:cNvPr>
          <p:cNvSpPr txBox="1"/>
          <p:nvPr/>
        </p:nvSpPr>
        <p:spPr>
          <a:xfrm>
            <a:off x="563311" y="3089064"/>
            <a:ext cx="920867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2. PBIP &amp; </a:t>
            </a:r>
            <a:r>
              <a:rPr lang="en-US" sz="6000" b="1" noProof="0" dirty="0">
                <a:ln w="0"/>
                <a:latin typeface="Roboto" panose="02000000000000000000" pitchFamily="2" charset="0"/>
                <a:cs typeface="Kanit" pitchFamily="2" charset="-34"/>
              </a:rPr>
              <a:t>TMDL</a:t>
            </a:r>
            <a:endParaRPr kumimoji="0" lang="en-US" sz="6000" b="1" i="0" u="none" kern="1200" cap="none" spc="0" normalizeH="0" baseline="0" noProof="0" dirty="0">
              <a:ln w="0"/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652071-2CEE-DBC2-FF08-C2C58365D074}"/>
              </a:ext>
            </a:extLst>
          </p:cNvPr>
          <p:cNvSpPr txBox="1"/>
          <p:nvPr/>
        </p:nvSpPr>
        <p:spPr>
          <a:xfrm>
            <a:off x="563311" y="4016905"/>
            <a:ext cx="9945505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3. TMDL View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85B1D9-84CE-3BF1-65AA-CFAD0FFD2F2B}"/>
              </a:ext>
            </a:extLst>
          </p:cNvPr>
          <p:cNvSpPr txBox="1"/>
          <p:nvPr/>
        </p:nvSpPr>
        <p:spPr>
          <a:xfrm>
            <a:off x="563312" y="4898118"/>
            <a:ext cx="8224549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4. External Tools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84F3EB-A28E-0E11-DD5A-14D1A33A18BA}"/>
              </a:ext>
            </a:extLst>
          </p:cNvPr>
          <p:cNvSpPr txBox="1"/>
          <p:nvPr/>
        </p:nvSpPr>
        <p:spPr>
          <a:xfrm>
            <a:off x="563311" y="5821448"/>
            <a:ext cx="6161743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5. Conclusion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A68984-BD24-B633-2BC0-6FFCA55B4B85}"/>
              </a:ext>
            </a:extLst>
          </p:cNvPr>
          <p:cNvCxnSpPr>
            <a:cxnSpLocks/>
          </p:cNvCxnSpPr>
          <p:nvPr/>
        </p:nvCxnSpPr>
        <p:spPr>
          <a:xfrm>
            <a:off x="568850" y="1784778"/>
            <a:ext cx="1337733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BDABA9-D0A7-9BC8-8F0F-89AF5F272E54}"/>
              </a:ext>
            </a:extLst>
          </p:cNvPr>
          <p:cNvCxnSpPr>
            <a:cxnSpLocks/>
          </p:cNvCxnSpPr>
          <p:nvPr/>
        </p:nvCxnSpPr>
        <p:spPr>
          <a:xfrm>
            <a:off x="1820395" y="1784778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C95B04-B370-2C6C-3E5E-E279A2A4DBFC}"/>
              </a:ext>
            </a:extLst>
          </p:cNvPr>
          <p:cNvCxnSpPr>
            <a:cxnSpLocks/>
          </p:cNvCxnSpPr>
          <p:nvPr/>
        </p:nvCxnSpPr>
        <p:spPr>
          <a:xfrm>
            <a:off x="3916306" y="1776127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76D79F-7D30-2AF6-C7D9-98B75147F8FB}"/>
              </a:ext>
            </a:extLst>
          </p:cNvPr>
          <p:cNvCxnSpPr>
            <a:cxnSpLocks/>
          </p:cNvCxnSpPr>
          <p:nvPr/>
        </p:nvCxnSpPr>
        <p:spPr>
          <a:xfrm>
            <a:off x="7952848" y="1774306"/>
            <a:ext cx="2792971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2EF4876-E2F0-09C8-AA79-F084270B9656}"/>
              </a:ext>
            </a:extLst>
          </p:cNvPr>
          <p:cNvSpPr/>
          <p:nvPr/>
        </p:nvSpPr>
        <p:spPr>
          <a:xfrm>
            <a:off x="1738392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ABD5DDE-59C6-73CD-DE7F-ACE3D1CCBB58}"/>
              </a:ext>
            </a:extLst>
          </p:cNvPr>
          <p:cNvSpPr/>
          <p:nvPr/>
        </p:nvSpPr>
        <p:spPr>
          <a:xfrm>
            <a:off x="3698190" y="162826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B2A3BC-1D92-76A7-F9A0-35C4641EEFF1}"/>
              </a:ext>
            </a:extLst>
          </p:cNvPr>
          <p:cNvCxnSpPr>
            <a:cxnSpLocks/>
          </p:cNvCxnSpPr>
          <p:nvPr/>
        </p:nvCxnSpPr>
        <p:spPr>
          <a:xfrm>
            <a:off x="5804311" y="1784778"/>
            <a:ext cx="2148537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6FF81DC-032B-A40E-52CA-FE432D0913D6}"/>
              </a:ext>
            </a:extLst>
          </p:cNvPr>
          <p:cNvSpPr/>
          <p:nvPr/>
        </p:nvSpPr>
        <p:spPr>
          <a:xfrm rot="306897">
            <a:off x="7806798" y="1632788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D8786E-A769-6E87-3ACC-C8671116CDD2}"/>
              </a:ext>
            </a:extLst>
          </p:cNvPr>
          <p:cNvSpPr/>
          <p:nvPr/>
        </p:nvSpPr>
        <p:spPr>
          <a:xfrm>
            <a:off x="10513838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A92952-6BD2-0AE8-DB3C-E321A053F92B}"/>
              </a:ext>
            </a:extLst>
          </p:cNvPr>
          <p:cNvSpPr/>
          <p:nvPr/>
        </p:nvSpPr>
        <p:spPr>
          <a:xfrm>
            <a:off x="5794461" y="163675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pic>
        <p:nvPicPr>
          <p:cNvPr id="4" name="Graphic 3" descr="Luggage with solid fill">
            <a:extLst>
              <a:ext uri="{FF2B5EF4-FFF2-40B4-BE49-F238E27FC236}">
                <a16:creationId xmlns:a16="http://schemas.microsoft.com/office/drawing/2014/main" id="{47562B65-D4A1-9DC6-E8DD-15C93271A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8470" y="9160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08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38D43-BA3A-AFD9-C589-67281556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0"/>
            <a:ext cx="10840914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ffectLst/>
              </a:rPr>
              <a:t>TMDL in Power BI Desktop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E4FA-0E10-3414-9444-B89A1C95E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390" y="947058"/>
            <a:ext cx="11499125" cy="4931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Related but independent</a:t>
            </a:r>
            <a:endParaRPr lang="en-US" sz="4800" dirty="0">
              <a:ea typeface="Roboto" panose="02000000000000000000" pitchFamily="2" charset="0"/>
            </a:endParaRPr>
          </a:p>
          <a:p>
            <a:r>
              <a:rPr lang="en-US" sz="4800" dirty="0">
                <a:ea typeface="Roboto" panose="02000000000000000000" pitchFamily="2" charset="0"/>
              </a:rPr>
              <a:t>Power BI Project (.</a:t>
            </a:r>
            <a:r>
              <a:rPr lang="en-US" sz="4800" dirty="0" err="1">
                <a:ea typeface="Roboto" panose="02000000000000000000" pitchFamily="2" charset="0"/>
              </a:rPr>
              <a:t>pbip</a:t>
            </a:r>
            <a:r>
              <a:rPr lang="en-US" sz="4800" dirty="0">
                <a:ea typeface="Roboto" panose="02000000000000000000" pitchFamily="2" charset="0"/>
              </a:rPr>
              <a:t>)</a:t>
            </a:r>
          </a:p>
          <a:p>
            <a:pPr lvl="1"/>
            <a:r>
              <a:rPr lang="en-US" sz="4800" dirty="0">
                <a:ea typeface="Roboto" panose="02000000000000000000" pitchFamily="2" charset="0"/>
              </a:rPr>
              <a:t>Store semantic model in TMDL format</a:t>
            </a:r>
          </a:p>
          <a:p>
            <a:r>
              <a:rPr lang="en-US" sz="4800" dirty="0">
                <a:ea typeface="Roboto" panose="02000000000000000000" pitchFamily="2" charset="0"/>
              </a:rPr>
              <a:t>TMDL View </a:t>
            </a:r>
          </a:p>
          <a:p>
            <a:pPr lvl="1"/>
            <a:r>
              <a:rPr lang="en-US" sz="4800" dirty="0">
                <a:ea typeface="Roboto" panose="02000000000000000000" pitchFamily="2" charset="0"/>
              </a:rPr>
              <a:t>Can be used with PBIX files</a:t>
            </a:r>
          </a:p>
        </p:txBody>
      </p:sp>
    </p:spTree>
    <p:extLst>
      <p:ext uri="{BB962C8B-B14F-4D97-AF65-F5344CB8AC3E}">
        <p14:creationId xmlns:p14="http://schemas.microsoft.com/office/powerpoint/2010/main" val="17746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A1561-CF07-7C08-7130-441978B5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550B-E3BA-199F-0410-A00042AF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0"/>
            <a:ext cx="11605845" cy="1260000"/>
          </a:xfrm>
        </p:spPr>
        <p:txBody>
          <a:bodyPr anchor="ctr">
            <a:noAutofit/>
          </a:bodyPr>
          <a:lstStyle/>
          <a:p>
            <a:r>
              <a:rPr lang="en-US" sz="4800" b="1" dirty="0">
                <a:effectLst/>
              </a:rPr>
              <a:t>Breaking News – Read All About it</a:t>
            </a:r>
            <a:endParaRPr lang="en-US" sz="4800" b="1" u="sng" cap="non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2B711-1C4A-6570-F585-B1A65E222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27638"/>
            <a:ext cx="11260776" cy="4463563"/>
          </a:xfrm>
        </p:spPr>
        <p:txBody>
          <a:bodyPr>
            <a:normAutofit/>
          </a:bodyPr>
          <a:lstStyle/>
          <a:p>
            <a:r>
              <a:rPr lang="en-US" sz="4800" dirty="0"/>
              <a:t>September 2025 Power BI Released</a:t>
            </a:r>
          </a:p>
          <a:p>
            <a:pPr lvl="1"/>
            <a:r>
              <a:rPr lang="en-US" sz="4600" dirty="0"/>
              <a:t>TMDL View is GA</a:t>
            </a:r>
          </a:p>
          <a:p>
            <a:pPr lvl="1"/>
            <a:r>
              <a:rPr lang="en-US" sz="3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September 2025 Feature Summary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9192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A1561-CF07-7C08-7130-441978B5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550B-E3BA-199F-0410-A00042AF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>
            <a:normAutofit/>
          </a:bodyPr>
          <a:lstStyle/>
          <a:p>
            <a:r>
              <a:rPr lang="en-US" b="1" dirty="0">
                <a:effectLst/>
              </a:rPr>
              <a:t>Preview Options - Power </a:t>
            </a:r>
            <a:r>
              <a:rPr lang="en-US" b="1">
                <a:effectLst/>
              </a:rPr>
              <a:t>BI Project</a:t>
            </a:r>
            <a:endParaRPr lang="en-US" b="1" u="sng" cap="none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970F9C-83E7-027B-DB5B-FF2471BCF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475287"/>
            <a:ext cx="10840914" cy="2710228"/>
          </a:xfrm>
          <a:noFill/>
        </p:spPr>
      </p:pic>
    </p:spTree>
    <p:extLst>
      <p:ext uri="{BB962C8B-B14F-4D97-AF65-F5344CB8AC3E}">
        <p14:creationId xmlns:p14="http://schemas.microsoft.com/office/powerpoint/2010/main" val="4150155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0C0F-5D81-12D0-4500-0A2D6E916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>
            <a:normAutofit/>
          </a:bodyPr>
          <a:lstStyle/>
          <a:p>
            <a:r>
              <a:rPr lang="en-US"/>
              <a:t>Learn More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3ACDB1-3D36-2739-D78C-3A8C556D8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502389"/>
            <a:ext cx="10840914" cy="2656023"/>
          </a:xfrm>
          <a:noFill/>
        </p:spPr>
      </p:pic>
    </p:spTree>
    <p:extLst>
      <p:ext uri="{BB962C8B-B14F-4D97-AF65-F5344CB8AC3E}">
        <p14:creationId xmlns:p14="http://schemas.microsoft.com/office/powerpoint/2010/main" val="2964632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A7A0-6A4C-15B1-BCF7-F4D33111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6A55-0A5E-609F-5C69-C4012A876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0"/>
            <a:ext cx="10840914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ffectLst/>
              </a:rPr>
              <a:t>TMDL in Power BI Desktop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ACB8-6C88-93BD-5293-EE1106601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89" y="1120876"/>
            <a:ext cx="11493911" cy="4757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>
                <a:ea typeface="Roboto" panose="02000000000000000000" pitchFamily="2" charset="0"/>
              </a:rPr>
              <a:t>1.Power BI Project (.</a:t>
            </a:r>
            <a:r>
              <a:rPr lang="en-US" sz="4800" dirty="0" err="1">
                <a:ea typeface="Roboto" panose="02000000000000000000" pitchFamily="2" charset="0"/>
              </a:rPr>
              <a:t>pbip</a:t>
            </a:r>
            <a:r>
              <a:rPr lang="en-US" sz="4800" dirty="0">
                <a:ea typeface="Roboto" panose="02000000000000000000" pitchFamily="2" charset="0"/>
              </a:rPr>
              <a:t>)</a:t>
            </a:r>
          </a:p>
          <a:p>
            <a:pPr lvl="1"/>
            <a:r>
              <a:rPr lang="en-US" sz="4800" dirty="0">
                <a:ea typeface="Roboto" panose="02000000000000000000" pitchFamily="2" charset="0"/>
              </a:rPr>
              <a:t>Store semantic model in TMDL format</a:t>
            </a:r>
          </a:p>
        </p:txBody>
      </p:sp>
    </p:spTree>
    <p:extLst>
      <p:ext uri="{BB962C8B-B14F-4D97-AF65-F5344CB8AC3E}">
        <p14:creationId xmlns:p14="http://schemas.microsoft.com/office/powerpoint/2010/main" val="2470003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7C9A-2725-3D83-3C60-CBA8807CE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5" y="0"/>
            <a:ext cx="11732680" cy="717755"/>
          </a:xfrm>
        </p:spPr>
        <p:txBody>
          <a:bodyPr>
            <a:noAutofit/>
          </a:bodyPr>
          <a:lstStyle/>
          <a:p>
            <a:r>
              <a:rPr lang="en-US" sz="4000" dirty="0"/>
              <a:t>Folder Renaming is NOT Version Control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5C17613E-5C82-7930-0DC9-8A63E3945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930" y="1649362"/>
            <a:ext cx="10530139" cy="3559276"/>
          </a:xfrm>
        </p:spPr>
      </p:pic>
    </p:spTree>
    <p:extLst>
      <p:ext uri="{BB962C8B-B14F-4D97-AF65-F5344CB8AC3E}">
        <p14:creationId xmlns:p14="http://schemas.microsoft.com/office/powerpoint/2010/main" val="1870166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0185-805A-6CA6-104C-2B65408D2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8733-02CF-1913-7301-A2E4A5B4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r>
              <a:rPr lang="en-US"/>
              <a:t>Visual Studio Code Demo</a:t>
            </a:r>
          </a:p>
        </p:txBody>
      </p:sp>
      <p:pic>
        <p:nvPicPr>
          <p:cNvPr id="6" name="Picture 5" descr="Complex math formulas on a blackboard">
            <a:extLst>
              <a:ext uri="{FF2B5EF4-FFF2-40B4-BE49-F238E27FC236}">
                <a16:creationId xmlns:a16="http://schemas.microsoft.com/office/drawing/2014/main" id="{525FDD79-3BFD-8146-05D8-62E870CCA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01" r="2878" b="-1"/>
          <a:stretch>
            <a:fillRect/>
          </a:stretch>
        </p:blipFill>
        <p:spPr>
          <a:xfrm>
            <a:off x="4648200" y="10"/>
            <a:ext cx="7543800" cy="6856204"/>
          </a:xfrm>
          <a:prstGeom prst="rect">
            <a:avLst/>
          </a:prstGeom>
          <a:noFill/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8C7DF2-EF9F-637F-DC69-78CC42D23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55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560B4-8B50-E418-CFA0-A5286F47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E201-882D-3D1C-E658-57DEB9C3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04" y="0"/>
            <a:ext cx="10531632" cy="847165"/>
          </a:xfrm>
        </p:spPr>
        <p:txBody>
          <a:bodyPr>
            <a:normAutofit/>
          </a:bodyPr>
          <a:lstStyle/>
          <a:p>
            <a:r>
              <a:rPr lang="en-US" sz="4000"/>
              <a:t>Power BI – TMDL Issue</a:t>
            </a:r>
            <a:endParaRPr lang="en-US" sz="4000" dirty="0"/>
          </a:p>
        </p:txBody>
      </p:sp>
      <p:pic>
        <p:nvPicPr>
          <p:cNvPr id="7" name="Content Placeholder 6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7C6C8F9B-0CF0-4DA4-3B57-6979B391C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143" y="847165"/>
            <a:ext cx="7062553" cy="5711456"/>
          </a:xfrm>
        </p:spPr>
      </p:pic>
    </p:spTree>
    <p:extLst>
      <p:ext uri="{BB962C8B-B14F-4D97-AF65-F5344CB8AC3E}">
        <p14:creationId xmlns:p14="http://schemas.microsoft.com/office/powerpoint/2010/main" val="3841810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1706-6861-3F72-1F81-F2370515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8C9E-A6F1-0B74-CDEC-63D2E922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r>
              <a:rPr lang="en-US" b="1" cap="none" dirty="0"/>
              <a:t>Git Changes</a:t>
            </a:r>
            <a:br>
              <a:rPr lang="en-US" b="1" cap="none" dirty="0"/>
            </a:br>
            <a:endParaRPr lang="en-US" b="1" cap="none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A6CC268-D0DC-2A48-20B2-B0DC40036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0021" y="80682"/>
            <a:ext cx="3942323" cy="6705600"/>
          </a:xfr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66E9AD6-98D4-1CBD-1925-412556332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449" y="2509934"/>
            <a:ext cx="3814235" cy="2016600"/>
          </a:xfrm>
        </p:spPr>
        <p:txBody>
          <a:bodyPr/>
          <a:lstStyle/>
          <a:p>
            <a:r>
              <a:rPr lang="en-US" b="1" dirty="0"/>
              <a:t>From PBIX to PBIP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063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9A34D-0C40-BED2-5C01-B9DAAC07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CD2E189-2B2A-9669-3EF6-D12261E4017F}"/>
              </a:ext>
            </a:extLst>
          </p:cNvPr>
          <p:cNvSpPr txBox="1">
            <a:spLocks/>
          </p:cNvSpPr>
          <p:nvPr/>
        </p:nvSpPr>
        <p:spPr>
          <a:xfrm>
            <a:off x="255818" y="34525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4800" b="1" dirty="0">
                <a:latin typeface="Roboto" panose="02000000000000000000" pitchFamily="2" charset="0"/>
                <a:ea typeface="Roboto" panose="02000000000000000000" pitchFamily="2" charset="0"/>
              </a:rPr>
              <a:t>The TMDL Journey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29FAD2-E6D0-50AF-F12B-07760CFB9A52}"/>
              </a:ext>
            </a:extLst>
          </p:cNvPr>
          <p:cNvCxnSpPr>
            <a:cxnSpLocks/>
          </p:cNvCxnSpPr>
          <p:nvPr/>
        </p:nvCxnSpPr>
        <p:spPr>
          <a:xfrm flipV="1">
            <a:off x="563311" y="721050"/>
            <a:ext cx="10227332" cy="22131"/>
          </a:xfrm>
          <a:prstGeom prst="line">
            <a:avLst/>
          </a:prstGeom>
          <a:ln w="7620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C7AFAF6-4FBF-574A-A448-784F9DF557F9}"/>
              </a:ext>
            </a:extLst>
          </p:cNvPr>
          <p:cNvSpPr txBox="1"/>
          <p:nvPr/>
        </p:nvSpPr>
        <p:spPr>
          <a:xfrm>
            <a:off x="563311" y="2227631"/>
            <a:ext cx="733394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1. What</a:t>
            </a:r>
            <a:r>
              <a:rPr kumimoji="0" lang="en-US" sz="6000" i="0" u="none" kern="1200" cap="none" spc="0" normalizeH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 is TMDL</a:t>
            </a:r>
            <a:endParaRPr kumimoji="0" lang="en-US" sz="6000" i="0" u="none" kern="1200" cap="none" spc="0" normalizeH="0" baseline="0" noProof="0" dirty="0">
              <a:ln w="0"/>
              <a:solidFill>
                <a:schemeClr val="tx1">
                  <a:lumMod val="50000"/>
                </a:schemeClr>
              </a:solidFill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DAA2AA-DCFA-C8B4-8A35-629E5CEA01B2}"/>
              </a:ext>
            </a:extLst>
          </p:cNvPr>
          <p:cNvSpPr txBox="1"/>
          <p:nvPr/>
        </p:nvSpPr>
        <p:spPr>
          <a:xfrm>
            <a:off x="563311" y="3089064"/>
            <a:ext cx="920867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2. PBIP &amp; </a:t>
            </a:r>
            <a:r>
              <a:rPr lang="en-US" sz="6000" noProof="0" dirty="0">
                <a:ln w="0"/>
                <a:solidFill>
                  <a:schemeClr val="tx1">
                    <a:lumMod val="50000"/>
                  </a:schemeClr>
                </a:solidFill>
                <a:latin typeface="Roboto" panose="02000000000000000000" pitchFamily="2" charset="0"/>
                <a:cs typeface="Kanit" pitchFamily="2" charset="-34"/>
              </a:rPr>
              <a:t>TMDL</a:t>
            </a:r>
            <a:endParaRPr kumimoji="0" lang="en-US" sz="6000" i="0" u="none" kern="1200" cap="none" spc="0" normalizeH="0" baseline="0" noProof="0" dirty="0">
              <a:ln w="0"/>
              <a:solidFill>
                <a:schemeClr val="tx1">
                  <a:lumMod val="50000"/>
                </a:schemeClr>
              </a:solidFill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3CAAC0-32C2-CFEB-104F-B7F025224D0F}"/>
              </a:ext>
            </a:extLst>
          </p:cNvPr>
          <p:cNvSpPr txBox="1"/>
          <p:nvPr/>
        </p:nvSpPr>
        <p:spPr>
          <a:xfrm>
            <a:off x="563311" y="4016905"/>
            <a:ext cx="9945505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3. TMDL View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50626E-22DD-1C93-82EC-F4A1E35228FA}"/>
              </a:ext>
            </a:extLst>
          </p:cNvPr>
          <p:cNvSpPr txBox="1"/>
          <p:nvPr/>
        </p:nvSpPr>
        <p:spPr>
          <a:xfrm>
            <a:off x="563312" y="4898118"/>
            <a:ext cx="8224549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4. External Tools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C3D309-34BD-F719-68DB-94BC0C7CF052}"/>
              </a:ext>
            </a:extLst>
          </p:cNvPr>
          <p:cNvSpPr txBox="1"/>
          <p:nvPr/>
        </p:nvSpPr>
        <p:spPr>
          <a:xfrm>
            <a:off x="563311" y="5821448"/>
            <a:ext cx="6161743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5. Conclusion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8A0B31-F85E-FBB2-2154-41A4D52944B2}"/>
              </a:ext>
            </a:extLst>
          </p:cNvPr>
          <p:cNvCxnSpPr>
            <a:cxnSpLocks/>
          </p:cNvCxnSpPr>
          <p:nvPr/>
        </p:nvCxnSpPr>
        <p:spPr>
          <a:xfrm>
            <a:off x="568850" y="1784778"/>
            <a:ext cx="1337733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BFD0FA-37AB-C58D-0260-4030AE1B57DD}"/>
              </a:ext>
            </a:extLst>
          </p:cNvPr>
          <p:cNvCxnSpPr>
            <a:cxnSpLocks/>
          </p:cNvCxnSpPr>
          <p:nvPr/>
        </p:nvCxnSpPr>
        <p:spPr>
          <a:xfrm>
            <a:off x="1820395" y="1784778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FDA3EC-BFFB-A721-1985-1FB67530DECD}"/>
              </a:ext>
            </a:extLst>
          </p:cNvPr>
          <p:cNvCxnSpPr>
            <a:cxnSpLocks/>
          </p:cNvCxnSpPr>
          <p:nvPr/>
        </p:nvCxnSpPr>
        <p:spPr>
          <a:xfrm>
            <a:off x="3916306" y="1776127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1D8057-EEA3-C29A-1C5D-79979531940D}"/>
              </a:ext>
            </a:extLst>
          </p:cNvPr>
          <p:cNvCxnSpPr>
            <a:cxnSpLocks/>
          </p:cNvCxnSpPr>
          <p:nvPr/>
        </p:nvCxnSpPr>
        <p:spPr>
          <a:xfrm>
            <a:off x="7952848" y="1774306"/>
            <a:ext cx="2792971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9BD4AFC-5691-FC79-9CC8-C0B3AD7D704C}"/>
              </a:ext>
            </a:extLst>
          </p:cNvPr>
          <p:cNvSpPr/>
          <p:nvPr/>
        </p:nvSpPr>
        <p:spPr>
          <a:xfrm>
            <a:off x="1738392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B7E4BC-7917-5BCD-BC7D-3B5361633D87}"/>
              </a:ext>
            </a:extLst>
          </p:cNvPr>
          <p:cNvSpPr/>
          <p:nvPr/>
        </p:nvSpPr>
        <p:spPr>
          <a:xfrm>
            <a:off x="3698190" y="162826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AA6EAEB-E8A4-6892-2938-CC907957806E}"/>
              </a:ext>
            </a:extLst>
          </p:cNvPr>
          <p:cNvCxnSpPr>
            <a:cxnSpLocks/>
          </p:cNvCxnSpPr>
          <p:nvPr/>
        </p:nvCxnSpPr>
        <p:spPr>
          <a:xfrm>
            <a:off x="5804311" y="1784778"/>
            <a:ext cx="2148537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D89F381D-5D2D-193E-599E-CE4DB6CD03BA}"/>
              </a:ext>
            </a:extLst>
          </p:cNvPr>
          <p:cNvSpPr/>
          <p:nvPr/>
        </p:nvSpPr>
        <p:spPr>
          <a:xfrm rot="306897">
            <a:off x="7806798" y="1632788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F4D944-49C6-1494-D9D4-DCD5ECA05C55}"/>
              </a:ext>
            </a:extLst>
          </p:cNvPr>
          <p:cNvSpPr/>
          <p:nvPr/>
        </p:nvSpPr>
        <p:spPr>
          <a:xfrm>
            <a:off x="10513838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EE5260-75E5-C2FF-DD31-032897EE6A72}"/>
              </a:ext>
            </a:extLst>
          </p:cNvPr>
          <p:cNvSpPr/>
          <p:nvPr/>
        </p:nvSpPr>
        <p:spPr>
          <a:xfrm>
            <a:off x="5794461" y="163675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pic>
        <p:nvPicPr>
          <p:cNvPr id="21" name="Graphic 20" descr="Hotel Bell with solid fill">
            <a:extLst>
              <a:ext uri="{FF2B5EF4-FFF2-40B4-BE49-F238E27FC236}">
                <a16:creationId xmlns:a16="http://schemas.microsoft.com/office/drawing/2014/main" id="{103CFF0A-353B-699E-6D5D-9FEA88442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3709" y="9948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081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144D-0DD5-08C4-515E-7AA86E87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8E5C-3594-6BA5-0750-FB86EBBA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0"/>
            <a:ext cx="10840914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ffectLst/>
              </a:rPr>
              <a:t>TMDL in Power BI Desktop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508F0-2795-42A7-332C-30312A06F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257300"/>
            <a:ext cx="11636829" cy="4620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ea typeface="Roboto" panose="02000000000000000000" pitchFamily="2" charset="0"/>
              </a:rPr>
              <a:t>2.TMDL View </a:t>
            </a:r>
          </a:p>
          <a:p>
            <a:pPr lvl="1"/>
            <a:r>
              <a:rPr lang="en-US" sz="6000" dirty="0">
                <a:ea typeface="Roboto" panose="02000000000000000000" pitchFamily="2" charset="0"/>
              </a:rPr>
              <a:t>Can be used with PBIX files</a:t>
            </a:r>
          </a:p>
        </p:txBody>
      </p:sp>
    </p:spTree>
    <p:extLst>
      <p:ext uri="{BB962C8B-B14F-4D97-AF65-F5344CB8AC3E}">
        <p14:creationId xmlns:p14="http://schemas.microsoft.com/office/powerpoint/2010/main" val="3164539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2C6FD-1791-FE18-CE2B-1DED8017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0B43-59A0-9864-6662-8441A88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2" y="0"/>
            <a:ext cx="10531632" cy="847165"/>
          </a:xfrm>
        </p:spPr>
        <p:txBody>
          <a:bodyPr>
            <a:normAutofit/>
          </a:bodyPr>
          <a:lstStyle/>
          <a:p>
            <a:r>
              <a:rPr lang="en-US" sz="4000" dirty="0"/>
              <a:t>Warning</a:t>
            </a:r>
          </a:p>
        </p:txBody>
      </p:sp>
      <p:pic>
        <p:nvPicPr>
          <p:cNvPr id="7" name="Content Placeholder 6" descr="A screenshot of a computer">
            <a:extLst>
              <a:ext uri="{FF2B5EF4-FFF2-40B4-BE49-F238E27FC236}">
                <a16:creationId xmlns:a16="http://schemas.microsoft.com/office/drawing/2014/main" id="{1372C9D9-3765-7773-B9AC-A134DDDFA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563" y="1926014"/>
            <a:ext cx="8862874" cy="1637318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3E4418-03B2-991E-5434-F8620DFAB54D}"/>
              </a:ext>
            </a:extLst>
          </p:cNvPr>
          <p:cNvSpPr txBox="1">
            <a:spLocks/>
          </p:cNvSpPr>
          <p:nvPr/>
        </p:nvSpPr>
        <p:spPr bwMode="white">
          <a:xfrm>
            <a:off x="696686" y="4392891"/>
            <a:ext cx="11636829" cy="115949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200" dirty="0">
                <a:ea typeface="Roboto" panose="02000000000000000000" pitchFamily="2" charset="0"/>
              </a:rPr>
              <a:t>Learn More: https://learn.microsoft.com/en-us/power-bi/developer/projects/projects-overview#model-authoring</a:t>
            </a:r>
          </a:p>
        </p:txBody>
      </p:sp>
    </p:spTree>
    <p:extLst>
      <p:ext uri="{BB962C8B-B14F-4D97-AF65-F5344CB8AC3E}">
        <p14:creationId xmlns:p14="http://schemas.microsoft.com/office/powerpoint/2010/main" val="3835174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77A1-13DB-D74A-81AD-BC342822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3283-24D0-1264-C267-4AD34FCDF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2" y="0"/>
            <a:ext cx="10531632" cy="847165"/>
          </a:xfrm>
        </p:spPr>
        <p:txBody>
          <a:bodyPr>
            <a:normAutofit/>
          </a:bodyPr>
          <a:lstStyle/>
          <a:p>
            <a:r>
              <a:rPr lang="en-US" sz="4000" dirty="0"/>
              <a:t>TMDL View Button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CD3027-C44F-EA67-1932-2B797E712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590365" y="1017289"/>
            <a:ext cx="4854387" cy="5428193"/>
          </a:xfrm>
        </p:spPr>
      </p:pic>
    </p:spTree>
    <p:extLst>
      <p:ext uri="{BB962C8B-B14F-4D97-AF65-F5344CB8AC3E}">
        <p14:creationId xmlns:p14="http://schemas.microsoft.com/office/powerpoint/2010/main" val="29011484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BAE2-1479-5230-108B-F810D5BE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4" y="0"/>
            <a:ext cx="10388630" cy="1066800"/>
          </a:xfrm>
        </p:spPr>
        <p:txBody>
          <a:bodyPr>
            <a:normAutofit/>
          </a:bodyPr>
          <a:lstStyle/>
          <a:p>
            <a:r>
              <a:rPr lang="en-US" sz="4000" dirty="0"/>
              <a:t>Script TMDL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5647A0-D80D-AE9E-9B3A-BCAD156B4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2560" y="1066800"/>
            <a:ext cx="5046879" cy="521601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C32C9-5F49-54B2-5635-D738B43263D4}"/>
              </a:ext>
            </a:extLst>
          </p:cNvPr>
          <p:cNvSpPr/>
          <p:nvPr/>
        </p:nvSpPr>
        <p:spPr>
          <a:xfrm>
            <a:off x="5987845" y="3510116"/>
            <a:ext cx="2631594" cy="26448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31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6CD0-E814-53BE-1F38-8FE23B3C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A1FA9-90A8-ACF0-3577-D91C62ED7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8" y="0"/>
            <a:ext cx="10408295" cy="867266"/>
          </a:xfrm>
        </p:spPr>
        <p:txBody>
          <a:bodyPr>
            <a:normAutofit/>
          </a:bodyPr>
          <a:lstStyle/>
          <a:p>
            <a:r>
              <a:rPr lang="en-US" sz="4000" dirty="0"/>
              <a:t>Can be in Table or Model Selection</a:t>
            </a: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26DC3B3F-27A5-A387-5625-BA73232F8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8057" y="867266"/>
            <a:ext cx="2730344" cy="5561814"/>
          </a:xfrm>
        </p:spPr>
      </p:pic>
    </p:spTree>
    <p:extLst>
      <p:ext uri="{BB962C8B-B14F-4D97-AF65-F5344CB8AC3E}">
        <p14:creationId xmlns:p14="http://schemas.microsoft.com/office/powerpoint/2010/main" val="475551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A8CD-AF54-9542-562F-FB5229F9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65BA-F03C-EF8E-8596-5D25A975D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77" y="196644"/>
            <a:ext cx="10840914" cy="793169"/>
          </a:xfrm>
        </p:spPr>
        <p:txBody>
          <a:bodyPr>
            <a:noAutofit/>
          </a:bodyPr>
          <a:lstStyle/>
          <a:p>
            <a:r>
              <a:rPr lang="en-US" sz="4000" dirty="0"/>
              <a:t>Can script to Script Tab or Clipboard</a:t>
            </a:r>
            <a:br>
              <a:rPr lang="en-US" sz="4000" dirty="0"/>
            </a:br>
            <a:r>
              <a:rPr lang="en-US" sz="4000" dirty="0"/>
              <a:t>    </a:t>
            </a:r>
            <a:r>
              <a:rPr lang="en-US" sz="3200" b="1" dirty="0"/>
              <a:t>Also, Drag and Drop to Tab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7D25D0-8334-F31A-1025-C044819C2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5689" y="1212963"/>
            <a:ext cx="2660622" cy="5377110"/>
          </a:xfrm>
        </p:spPr>
      </p:pic>
    </p:spTree>
    <p:extLst>
      <p:ext uri="{BB962C8B-B14F-4D97-AF65-F5344CB8AC3E}">
        <p14:creationId xmlns:p14="http://schemas.microsoft.com/office/powerpoint/2010/main" val="34530132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FC37-6942-F9F4-F2E4-E542E1B7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5D6A-7DBF-A27E-1BB4-128A468BA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18" y="0"/>
            <a:ext cx="10531632" cy="847165"/>
          </a:xfrm>
        </p:spPr>
        <p:txBody>
          <a:bodyPr>
            <a:normAutofit/>
          </a:bodyPr>
          <a:lstStyle/>
          <a:p>
            <a:r>
              <a:rPr lang="en-US" sz="4000" dirty="0"/>
              <a:t>TMDL View – Script Tab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0BD6E-D119-703D-9361-D4B603918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478491" y="892191"/>
            <a:ext cx="4966261" cy="5553291"/>
          </a:xfrm>
        </p:spPr>
      </p:pic>
    </p:spTree>
    <p:extLst>
      <p:ext uri="{BB962C8B-B14F-4D97-AF65-F5344CB8AC3E}">
        <p14:creationId xmlns:p14="http://schemas.microsoft.com/office/powerpoint/2010/main" val="36994502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3AF51-DF7D-63F2-6C47-A7CAE1F9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102C-709E-5A37-BB13-04B7D1B36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r>
              <a:rPr lang="en-US"/>
              <a:t>TMDL View – Code Interface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F1A98E-35C4-C5F7-8217-A9B3836E6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420506" y="0"/>
            <a:ext cx="5999187" cy="6856214"/>
          </a:xfrm>
          <a:noFill/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50FB1B6A-89F6-430C-00A5-2C08F7585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76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3D54-5BBA-9FA3-9429-945E93B3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D45C-D031-2BA3-3175-A09CAAC0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8" y="1874308"/>
            <a:ext cx="3454400" cy="1260000"/>
          </a:xfrm>
        </p:spPr>
        <p:txBody>
          <a:bodyPr anchor="ctr">
            <a:normAutofit/>
          </a:bodyPr>
          <a:lstStyle/>
          <a:p>
            <a:r>
              <a:rPr lang="en-US" dirty="0"/>
              <a:t>Code Interface - Preview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1EF632-BE2E-3B84-C935-5F7E25F59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6311" y="895421"/>
            <a:ext cx="8410221" cy="5067158"/>
          </a:xfrm>
          <a:noFill/>
        </p:spPr>
      </p:pic>
    </p:spTree>
    <p:extLst>
      <p:ext uri="{BB962C8B-B14F-4D97-AF65-F5344CB8AC3E}">
        <p14:creationId xmlns:p14="http://schemas.microsoft.com/office/powerpoint/2010/main" val="2378964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FEAFB-2010-B659-441A-EBD18FEB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FF6B-A654-4CCD-484C-683FC964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0"/>
            <a:ext cx="10840914" cy="820132"/>
          </a:xfrm>
        </p:spPr>
        <p:txBody>
          <a:bodyPr>
            <a:normAutofit/>
          </a:bodyPr>
          <a:lstStyle/>
          <a:p>
            <a:r>
              <a:rPr lang="en-US" sz="4000" dirty="0"/>
              <a:t>TMDL View – Rename Tabs</a:t>
            </a:r>
          </a:p>
        </p:txBody>
      </p:sp>
      <p:pic>
        <p:nvPicPr>
          <p:cNvPr id="6" name="Content Placeholder 5" descr="A screenshot of a computer program">
            <a:extLst>
              <a:ext uri="{FF2B5EF4-FFF2-40B4-BE49-F238E27FC236}">
                <a16:creationId xmlns:a16="http://schemas.microsoft.com/office/drawing/2014/main" id="{DB23F1FA-DF77-ABFB-3B66-93276E019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706" y="1193392"/>
            <a:ext cx="10792588" cy="4471215"/>
          </a:xfrm>
        </p:spPr>
      </p:pic>
    </p:spTree>
    <p:extLst>
      <p:ext uri="{BB962C8B-B14F-4D97-AF65-F5344CB8AC3E}">
        <p14:creationId xmlns:p14="http://schemas.microsoft.com/office/powerpoint/2010/main" val="4092791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01969-EFC1-2A2D-549A-51782F829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9FFEE-C00B-E18A-3F39-E269D106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0"/>
            <a:ext cx="10447624" cy="934571"/>
          </a:xfrm>
        </p:spPr>
        <p:txBody>
          <a:bodyPr>
            <a:normAutofit/>
          </a:bodyPr>
          <a:lstStyle/>
          <a:p>
            <a:r>
              <a:rPr lang="en-US" sz="4000" dirty="0"/>
              <a:t>TMDL Scripts – Saved in File (PBIP/PBIX)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8F879D-6896-8B14-55F9-5F155C1FF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258" y="1285522"/>
            <a:ext cx="11523483" cy="4286955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ABD313-8A76-2B0D-B166-DEBCF1286518}"/>
              </a:ext>
            </a:extLst>
          </p:cNvPr>
          <p:cNvSpPr/>
          <p:nvPr/>
        </p:nvSpPr>
        <p:spPr>
          <a:xfrm>
            <a:off x="393290" y="2802760"/>
            <a:ext cx="2262554" cy="62624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091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EF08-A899-0209-6D20-8B759451E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9" y="0"/>
            <a:ext cx="12192000" cy="95372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effectLst/>
              </a:rPr>
              <a:t>Enables functionalities Without External tool</a:t>
            </a:r>
            <a:endParaRPr lang="en-US" sz="32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1B081-C3B2-12B8-9086-AD1912EB8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72" y="1112363"/>
            <a:ext cx="10840914" cy="4392891"/>
          </a:xfrm>
        </p:spPr>
        <p:txBody>
          <a:bodyPr>
            <a:normAutofit/>
          </a:bodyPr>
          <a:lstStyle/>
          <a:p>
            <a:pPr marL="740664" indent="-283464">
              <a:buNone/>
            </a:pPr>
            <a:r>
              <a:rPr lang="en-US" sz="6000" dirty="0">
                <a:solidFill>
                  <a:srgbClr val="FFFFFF"/>
                </a:solidFill>
                <a:effectLst/>
              </a:rPr>
              <a:t>For example:</a:t>
            </a:r>
          </a:p>
          <a:p>
            <a:pPr marL="1197864" lvl="1" indent="-283464">
              <a:buFont typeface="Arial" panose="020B0604020202020204" pitchFamily="34" charset="0"/>
              <a:buChar char="•"/>
            </a:pPr>
            <a:r>
              <a:rPr lang="en-US" sz="5800" dirty="0">
                <a:solidFill>
                  <a:srgbClr val="FFFFFF"/>
                </a:solidFill>
                <a:effectLst/>
              </a:rPr>
              <a:t>Perspectives</a:t>
            </a:r>
          </a:p>
          <a:p>
            <a:pPr marL="1197864" lvl="1" indent="-283464">
              <a:buFont typeface="Arial" panose="020B0604020202020204" pitchFamily="34" charset="0"/>
              <a:buChar char="•"/>
            </a:pPr>
            <a:r>
              <a:rPr lang="en-US" sz="5800" dirty="0">
                <a:solidFill>
                  <a:srgbClr val="FFFFFF"/>
                </a:solidFill>
              </a:rPr>
              <a:t>Translations</a:t>
            </a:r>
            <a:endParaRPr lang="en-US" sz="5800" dirty="0">
              <a:solidFill>
                <a:srgbClr val="FFFFFF"/>
              </a:solidFill>
              <a:effectLst/>
            </a:endParaRPr>
          </a:p>
          <a:p>
            <a:pPr marL="740664" indent="-283464" algn="l" rtl="0" eaLnBrk="1" latinLnBrk="0" hangingPunct="1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67040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B908-5B4B-0CD8-837D-BA05D2F2C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0"/>
            <a:ext cx="10721812" cy="980388"/>
          </a:xfrm>
        </p:spPr>
        <p:txBody>
          <a:bodyPr>
            <a:normAutofit/>
          </a:bodyPr>
          <a:lstStyle/>
          <a:p>
            <a:r>
              <a:rPr lang="en-US" sz="4000" cap="none" dirty="0"/>
              <a:t>Share TMDL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371CC-496F-19DF-9660-EDF856AF0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42" y="1259999"/>
            <a:ext cx="11392527" cy="5110655"/>
          </a:xfrm>
        </p:spPr>
        <p:txBody>
          <a:bodyPr>
            <a:normAutofit lnSpcReduction="10000"/>
          </a:bodyPr>
          <a:lstStyle/>
          <a:p>
            <a:r>
              <a:rPr lang="en-US" sz="4400" dirty="0"/>
              <a:t>Centralized collection</a:t>
            </a:r>
          </a:p>
          <a:p>
            <a:pPr lvl="1"/>
            <a:r>
              <a:rPr lang="en-US" sz="4400" dirty="0"/>
              <a:t>SharePoint site or Teams</a:t>
            </a:r>
          </a:p>
          <a:p>
            <a:r>
              <a:rPr lang="en-US" sz="4400" dirty="0"/>
              <a:t>Sites with </a:t>
            </a:r>
            <a:r>
              <a:rPr lang="en-US" sz="4400"/>
              <a:t>TMDL samples</a:t>
            </a:r>
            <a:endParaRPr lang="en-US" sz="4400" dirty="0"/>
          </a:p>
          <a:p>
            <a:pPr lvl="1"/>
            <a:r>
              <a:rPr lang="en-US" sz="4200" dirty="0"/>
              <a:t>TMDL Gallery</a:t>
            </a:r>
          </a:p>
          <a:p>
            <a:pPr lvl="1"/>
            <a:r>
              <a:rPr lang="en-US" sz="4200" dirty="0" err="1"/>
              <a:t>FabSnippets</a:t>
            </a:r>
            <a:endParaRPr lang="en-US" sz="4200" dirty="0"/>
          </a:p>
          <a:p>
            <a:r>
              <a:rPr lang="en-US" sz="4400" dirty="0"/>
              <a:t>Article in resources regarding security precautions</a:t>
            </a:r>
          </a:p>
        </p:txBody>
      </p:sp>
    </p:spTree>
    <p:extLst>
      <p:ext uri="{BB962C8B-B14F-4D97-AF65-F5344CB8AC3E}">
        <p14:creationId xmlns:p14="http://schemas.microsoft.com/office/powerpoint/2010/main" val="262238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A9D3-0652-F424-444F-B86896D7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r>
              <a:rPr lang="en-US" dirty="0"/>
              <a:t>TMDL View Demo</a:t>
            </a:r>
          </a:p>
        </p:txBody>
      </p:sp>
      <p:pic>
        <p:nvPicPr>
          <p:cNvPr id="4" name="Picture 3" descr="Letters magnified through eyeglasses">
            <a:extLst>
              <a:ext uri="{FF2B5EF4-FFF2-40B4-BE49-F238E27FC236}">
                <a16:creationId xmlns:a16="http://schemas.microsoft.com/office/drawing/2014/main" id="{66507614-321E-94CD-CF2F-C017B8CA3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86" r="9071" b="1"/>
          <a:stretch>
            <a:fillRect/>
          </a:stretch>
        </p:blipFill>
        <p:spPr>
          <a:xfrm>
            <a:off x="4648200" y="10"/>
            <a:ext cx="7543800" cy="6856204"/>
          </a:xfrm>
          <a:prstGeom prst="rect">
            <a:avLst/>
          </a:prstGeom>
          <a:noFill/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7EB8D3-EBFC-4604-9AEB-5E67324E0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446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BCBA0-5641-E3C6-B81E-0E74E8EA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4BF8A24-A744-D66A-D42B-9EC7334C0A05}"/>
              </a:ext>
            </a:extLst>
          </p:cNvPr>
          <p:cNvSpPr txBox="1">
            <a:spLocks/>
          </p:cNvSpPr>
          <p:nvPr/>
        </p:nvSpPr>
        <p:spPr>
          <a:xfrm>
            <a:off x="255818" y="34525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The TMDL Journey</a:t>
            </a:r>
            <a:endParaRPr lang="en-US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49700B-65CE-076E-4818-7CB73E7FA4DA}"/>
              </a:ext>
            </a:extLst>
          </p:cNvPr>
          <p:cNvCxnSpPr>
            <a:cxnSpLocks/>
          </p:cNvCxnSpPr>
          <p:nvPr/>
        </p:nvCxnSpPr>
        <p:spPr>
          <a:xfrm flipV="1">
            <a:off x="563311" y="721050"/>
            <a:ext cx="10227332" cy="22131"/>
          </a:xfrm>
          <a:prstGeom prst="line">
            <a:avLst/>
          </a:prstGeom>
          <a:ln w="7620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253FBE5-8A19-6EAF-CF1E-8BF5D08D742A}"/>
              </a:ext>
            </a:extLst>
          </p:cNvPr>
          <p:cNvSpPr txBox="1"/>
          <p:nvPr/>
        </p:nvSpPr>
        <p:spPr>
          <a:xfrm>
            <a:off x="563311" y="2227631"/>
            <a:ext cx="733394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1. What</a:t>
            </a:r>
            <a:r>
              <a:rPr kumimoji="0" lang="en-US" sz="6000" i="0" u="none" kern="1200" cap="none" spc="0" normalizeH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 is TMDL</a:t>
            </a:r>
            <a:endParaRPr kumimoji="0" lang="en-US" sz="6000" i="0" u="none" kern="1200" cap="none" spc="0" normalizeH="0" baseline="0" noProof="0" dirty="0">
              <a:ln w="0"/>
              <a:solidFill>
                <a:schemeClr val="tx1">
                  <a:lumMod val="50000"/>
                </a:schemeClr>
              </a:solidFill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95DAE4-0EC3-9AE1-F329-F5CB1421A5D7}"/>
              </a:ext>
            </a:extLst>
          </p:cNvPr>
          <p:cNvSpPr txBox="1"/>
          <p:nvPr/>
        </p:nvSpPr>
        <p:spPr>
          <a:xfrm>
            <a:off x="563311" y="3089064"/>
            <a:ext cx="920867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2. PBIP &amp; </a:t>
            </a:r>
            <a:r>
              <a:rPr lang="en-US" sz="6000" noProof="0" dirty="0">
                <a:ln w="0"/>
                <a:solidFill>
                  <a:schemeClr val="tx1">
                    <a:lumMod val="50000"/>
                  </a:schemeClr>
                </a:solidFill>
                <a:latin typeface="Roboto" panose="02000000000000000000" pitchFamily="2" charset="0"/>
                <a:cs typeface="Kanit" pitchFamily="2" charset="-34"/>
              </a:rPr>
              <a:t>TMDL</a:t>
            </a:r>
            <a:endParaRPr kumimoji="0" lang="en-US" sz="6000" i="0" u="none" kern="1200" cap="none" spc="0" normalizeH="0" baseline="0" noProof="0" dirty="0">
              <a:ln w="0"/>
              <a:solidFill>
                <a:schemeClr val="tx1">
                  <a:lumMod val="50000"/>
                </a:schemeClr>
              </a:solidFill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83DB96-F816-76E6-0593-5916536E1FDF}"/>
              </a:ext>
            </a:extLst>
          </p:cNvPr>
          <p:cNvSpPr txBox="1"/>
          <p:nvPr/>
        </p:nvSpPr>
        <p:spPr>
          <a:xfrm>
            <a:off x="563311" y="4016905"/>
            <a:ext cx="9945505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3. TMDL View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5AB2ED-6AB6-C09B-D9EF-54FC36A9D4BB}"/>
              </a:ext>
            </a:extLst>
          </p:cNvPr>
          <p:cNvSpPr txBox="1"/>
          <p:nvPr/>
        </p:nvSpPr>
        <p:spPr>
          <a:xfrm>
            <a:off x="563312" y="4898118"/>
            <a:ext cx="8224549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4. External Tools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BBA30B-8A1C-B8D6-E255-1DCE0B346734}"/>
              </a:ext>
            </a:extLst>
          </p:cNvPr>
          <p:cNvSpPr txBox="1"/>
          <p:nvPr/>
        </p:nvSpPr>
        <p:spPr>
          <a:xfrm>
            <a:off x="563311" y="5821448"/>
            <a:ext cx="6161743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5. Conclusion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B9D32-6A64-BC6C-20DA-597BF7001FF0}"/>
              </a:ext>
            </a:extLst>
          </p:cNvPr>
          <p:cNvCxnSpPr>
            <a:cxnSpLocks/>
          </p:cNvCxnSpPr>
          <p:nvPr/>
        </p:nvCxnSpPr>
        <p:spPr>
          <a:xfrm>
            <a:off x="568850" y="1784778"/>
            <a:ext cx="1337733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97F0C0-8A29-6A0A-0B38-CF047E9C3DA8}"/>
              </a:ext>
            </a:extLst>
          </p:cNvPr>
          <p:cNvCxnSpPr>
            <a:cxnSpLocks/>
          </p:cNvCxnSpPr>
          <p:nvPr/>
        </p:nvCxnSpPr>
        <p:spPr>
          <a:xfrm>
            <a:off x="1820395" y="1784778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DA5544-5630-68AB-A0EA-7B492D12CA95}"/>
              </a:ext>
            </a:extLst>
          </p:cNvPr>
          <p:cNvCxnSpPr>
            <a:cxnSpLocks/>
          </p:cNvCxnSpPr>
          <p:nvPr/>
        </p:nvCxnSpPr>
        <p:spPr>
          <a:xfrm>
            <a:off x="3916306" y="1776127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892BCF6-C825-15B4-64CE-4606989F97A7}"/>
              </a:ext>
            </a:extLst>
          </p:cNvPr>
          <p:cNvCxnSpPr>
            <a:cxnSpLocks/>
          </p:cNvCxnSpPr>
          <p:nvPr/>
        </p:nvCxnSpPr>
        <p:spPr>
          <a:xfrm>
            <a:off x="7952848" y="1774306"/>
            <a:ext cx="2792971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FA53A2F-32DD-6B25-29D7-8A76F0FED620}"/>
              </a:ext>
            </a:extLst>
          </p:cNvPr>
          <p:cNvSpPr/>
          <p:nvPr/>
        </p:nvSpPr>
        <p:spPr>
          <a:xfrm>
            <a:off x="1738392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339D9B8-57A8-F1F7-F749-60F48247B6A8}"/>
              </a:ext>
            </a:extLst>
          </p:cNvPr>
          <p:cNvSpPr/>
          <p:nvPr/>
        </p:nvSpPr>
        <p:spPr>
          <a:xfrm>
            <a:off x="3698190" y="162826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F84E70-7545-B917-C6F0-B113F4600067}"/>
              </a:ext>
            </a:extLst>
          </p:cNvPr>
          <p:cNvCxnSpPr>
            <a:cxnSpLocks/>
          </p:cNvCxnSpPr>
          <p:nvPr/>
        </p:nvCxnSpPr>
        <p:spPr>
          <a:xfrm>
            <a:off x="5804311" y="1784778"/>
            <a:ext cx="2148537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EBF5916-3DF7-FFA4-509D-5480CF61E1D1}"/>
              </a:ext>
            </a:extLst>
          </p:cNvPr>
          <p:cNvSpPr/>
          <p:nvPr/>
        </p:nvSpPr>
        <p:spPr>
          <a:xfrm rot="306897">
            <a:off x="7806798" y="1632788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86DD3A-1D9B-976F-734B-B033177F0F78}"/>
              </a:ext>
            </a:extLst>
          </p:cNvPr>
          <p:cNvSpPr/>
          <p:nvPr/>
        </p:nvSpPr>
        <p:spPr>
          <a:xfrm>
            <a:off x="10513838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3AC7FA-BD64-3A51-6DCA-5833DF9E7279}"/>
              </a:ext>
            </a:extLst>
          </p:cNvPr>
          <p:cNvSpPr/>
          <p:nvPr/>
        </p:nvSpPr>
        <p:spPr>
          <a:xfrm>
            <a:off x="5794461" y="163675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E50EF59-16E1-58F1-95C1-0DB2C4CA8173}"/>
              </a:ext>
            </a:extLst>
          </p:cNvPr>
          <p:cNvGrpSpPr/>
          <p:nvPr/>
        </p:nvGrpSpPr>
        <p:grpSpPr>
          <a:xfrm>
            <a:off x="6532913" y="911883"/>
            <a:ext cx="762849" cy="846672"/>
            <a:chOff x="10885740" y="3724175"/>
            <a:chExt cx="742949" cy="8763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A36903B-D76E-5737-9B29-4FE75FAF58C2}"/>
                </a:ext>
              </a:extLst>
            </p:cNvPr>
            <p:cNvSpPr/>
            <p:nvPr/>
          </p:nvSpPr>
          <p:spPr>
            <a:xfrm>
              <a:off x="11143481" y="4092951"/>
              <a:ext cx="228743" cy="409396"/>
            </a:xfrm>
            <a:custGeom>
              <a:avLst/>
              <a:gdLst>
                <a:gd name="connsiteX0" fmla="*/ 161799 w 228743"/>
                <a:gd name="connsiteY0" fmla="*/ 57200 h 409396"/>
                <a:gd name="connsiteX1" fmla="*/ 190936 w 228743"/>
                <a:gd name="connsiteY1" fmla="*/ 184263 h 409396"/>
                <a:gd name="connsiteX2" fmla="*/ 209986 w 228743"/>
                <a:gd name="connsiteY2" fmla="*/ 199503 h 409396"/>
                <a:gd name="connsiteX3" fmla="*/ 212843 w 228743"/>
                <a:gd name="connsiteY3" fmla="*/ 199503 h 409396"/>
                <a:gd name="connsiteX4" fmla="*/ 228467 w 228743"/>
                <a:gd name="connsiteY4" fmla="*/ 177441 h 409396"/>
                <a:gd name="connsiteX5" fmla="*/ 228083 w 228743"/>
                <a:gd name="connsiteY5" fmla="*/ 175691 h 409396"/>
                <a:gd name="connsiteX6" fmla="*/ 196651 w 228743"/>
                <a:gd name="connsiteY6" fmla="*/ 37169 h 409396"/>
                <a:gd name="connsiteX7" fmla="*/ 189983 w 228743"/>
                <a:gd name="connsiteY7" fmla="*/ 26691 h 409396"/>
                <a:gd name="connsiteX8" fmla="*/ 151883 w 228743"/>
                <a:gd name="connsiteY8" fmla="*/ 6689 h 409396"/>
                <a:gd name="connsiteX9" fmla="*/ 113783 w 228743"/>
                <a:gd name="connsiteY9" fmla="*/ 21 h 409396"/>
                <a:gd name="connsiteX10" fmla="*/ 75683 w 228743"/>
                <a:gd name="connsiteY10" fmla="*/ 6689 h 409396"/>
                <a:gd name="connsiteX11" fmla="*/ 37583 w 228743"/>
                <a:gd name="connsiteY11" fmla="*/ 26691 h 409396"/>
                <a:gd name="connsiteX12" fmla="*/ 30916 w 228743"/>
                <a:gd name="connsiteY12" fmla="*/ 37169 h 409396"/>
                <a:gd name="connsiteX13" fmla="*/ 664 w 228743"/>
                <a:gd name="connsiteY13" fmla="*/ 175224 h 409396"/>
                <a:gd name="connsiteX14" fmla="*/ 14136 w 228743"/>
                <a:gd name="connsiteY14" fmla="*/ 198648 h 409396"/>
                <a:gd name="connsiteX15" fmla="*/ 15904 w 228743"/>
                <a:gd name="connsiteY15" fmla="*/ 199037 h 409396"/>
                <a:gd name="connsiteX16" fmla="*/ 18762 w 228743"/>
                <a:gd name="connsiteY16" fmla="*/ 199037 h 409396"/>
                <a:gd name="connsiteX17" fmla="*/ 37812 w 228743"/>
                <a:gd name="connsiteY17" fmla="*/ 183797 h 409396"/>
                <a:gd name="connsiteX18" fmla="*/ 66196 w 228743"/>
                <a:gd name="connsiteY18" fmla="*/ 57838 h 409396"/>
                <a:gd name="connsiteX19" fmla="*/ 66263 w 228743"/>
                <a:gd name="connsiteY19" fmla="*/ 57838 h 409396"/>
                <a:gd name="connsiteX20" fmla="*/ 66263 w 228743"/>
                <a:gd name="connsiteY20" fmla="*/ 409396 h 409396"/>
                <a:gd name="connsiteX21" fmla="*/ 104363 w 228743"/>
                <a:gd name="connsiteY21" fmla="*/ 409396 h 409396"/>
                <a:gd name="connsiteX22" fmla="*/ 104363 w 228743"/>
                <a:gd name="connsiteY22" fmla="*/ 209495 h 409396"/>
                <a:gd name="connsiteX23" fmla="*/ 123413 w 228743"/>
                <a:gd name="connsiteY23" fmla="*/ 209495 h 409396"/>
                <a:gd name="connsiteX24" fmla="*/ 123413 w 228743"/>
                <a:gd name="connsiteY24" fmla="*/ 409396 h 409396"/>
                <a:gd name="connsiteX25" fmla="*/ 161513 w 228743"/>
                <a:gd name="connsiteY25" fmla="*/ 409396 h 409396"/>
                <a:gd name="connsiteX26" fmla="*/ 161513 w 228743"/>
                <a:gd name="connsiteY26" fmla="*/ 57171 h 40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8743" h="409396">
                  <a:moveTo>
                    <a:pt x="161799" y="57200"/>
                  </a:moveTo>
                  <a:lnTo>
                    <a:pt x="190936" y="184263"/>
                  </a:lnTo>
                  <a:cubicBezTo>
                    <a:pt x="193094" y="193076"/>
                    <a:pt x="200914" y="199332"/>
                    <a:pt x="209986" y="199503"/>
                  </a:cubicBezTo>
                  <a:lnTo>
                    <a:pt x="212843" y="199503"/>
                  </a:lnTo>
                  <a:cubicBezTo>
                    <a:pt x="223250" y="197725"/>
                    <a:pt x="230245" y="187848"/>
                    <a:pt x="228467" y="177441"/>
                  </a:cubicBezTo>
                  <a:cubicBezTo>
                    <a:pt x="228367" y="176851"/>
                    <a:pt x="228239" y="176268"/>
                    <a:pt x="228083" y="175691"/>
                  </a:cubicBezTo>
                  <a:lnTo>
                    <a:pt x="196651" y="37169"/>
                  </a:lnTo>
                  <a:cubicBezTo>
                    <a:pt x="195734" y="32999"/>
                    <a:pt x="193372" y="29288"/>
                    <a:pt x="189983" y="26691"/>
                  </a:cubicBezTo>
                  <a:cubicBezTo>
                    <a:pt x="178689" y="17634"/>
                    <a:pt x="165752" y="10843"/>
                    <a:pt x="151883" y="6689"/>
                  </a:cubicBezTo>
                  <a:cubicBezTo>
                    <a:pt x="139595" y="2548"/>
                    <a:pt x="126748" y="300"/>
                    <a:pt x="113783" y="21"/>
                  </a:cubicBezTo>
                  <a:cubicBezTo>
                    <a:pt x="100771" y="-247"/>
                    <a:pt x="87831" y="2017"/>
                    <a:pt x="75683" y="6689"/>
                  </a:cubicBezTo>
                  <a:cubicBezTo>
                    <a:pt x="61976" y="11230"/>
                    <a:pt x="49106" y="17987"/>
                    <a:pt x="37583" y="26691"/>
                  </a:cubicBezTo>
                  <a:cubicBezTo>
                    <a:pt x="34194" y="29288"/>
                    <a:pt x="31833" y="32999"/>
                    <a:pt x="30916" y="37169"/>
                  </a:cubicBezTo>
                  <a:lnTo>
                    <a:pt x="664" y="175224"/>
                  </a:lnTo>
                  <a:cubicBezTo>
                    <a:pt x="-2085" y="185412"/>
                    <a:pt x="3947" y="195900"/>
                    <a:pt x="14136" y="198648"/>
                  </a:cubicBezTo>
                  <a:cubicBezTo>
                    <a:pt x="14719" y="198806"/>
                    <a:pt x="15309" y="198936"/>
                    <a:pt x="15904" y="199037"/>
                  </a:cubicBezTo>
                  <a:lnTo>
                    <a:pt x="18762" y="199037"/>
                  </a:lnTo>
                  <a:cubicBezTo>
                    <a:pt x="27834" y="198865"/>
                    <a:pt x="35654" y="192609"/>
                    <a:pt x="37812" y="183797"/>
                  </a:cubicBezTo>
                  <a:lnTo>
                    <a:pt x="66196" y="57838"/>
                  </a:lnTo>
                  <a:lnTo>
                    <a:pt x="66263" y="57838"/>
                  </a:lnTo>
                  <a:lnTo>
                    <a:pt x="66263" y="409396"/>
                  </a:lnTo>
                  <a:lnTo>
                    <a:pt x="104363" y="409396"/>
                  </a:lnTo>
                  <a:lnTo>
                    <a:pt x="104363" y="209495"/>
                  </a:lnTo>
                  <a:lnTo>
                    <a:pt x="123413" y="209495"/>
                  </a:lnTo>
                  <a:lnTo>
                    <a:pt x="123413" y="409396"/>
                  </a:lnTo>
                  <a:lnTo>
                    <a:pt x="161513" y="409396"/>
                  </a:lnTo>
                  <a:lnTo>
                    <a:pt x="161513" y="5717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E89E905-CA11-FCE3-D562-7C56299E4195}"/>
                </a:ext>
              </a:extLst>
            </p:cNvPr>
            <p:cNvSpPr/>
            <p:nvPr/>
          </p:nvSpPr>
          <p:spPr>
            <a:xfrm>
              <a:off x="11209668" y="3988264"/>
              <a:ext cx="95250" cy="95250"/>
            </a:xfrm>
            <a:custGeom>
              <a:avLst/>
              <a:gdLst>
                <a:gd name="connsiteX0" fmla="*/ 95250 w 95250"/>
                <a:gd name="connsiteY0" fmla="*/ 47625 h 95250"/>
                <a:gd name="connsiteX1" fmla="*/ 47625 w 95250"/>
                <a:gd name="connsiteY1" fmla="*/ 95250 h 95250"/>
                <a:gd name="connsiteX2" fmla="*/ 0 w 95250"/>
                <a:gd name="connsiteY2" fmla="*/ 47625 h 95250"/>
                <a:gd name="connsiteX3" fmla="*/ 47625 w 95250"/>
                <a:gd name="connsiteY3" fmla="*/ 0 h 95250"/>
                <a:gd name="connsiteX4" fmla="*/ 95250 w 95250"/>
                <a:gd name="connsiteY4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5250" y="47625"/>
                  </a:moveTo>
                  <a:cubicBezTo>
                    <a:pt x="95250" y="73927"/>
                    <a:pt x="73927" y="95250"/>
                    <a:pt x="47625" y="95250"/>
                  </a:cubicBezTo>
                  <a:cubicBezTo>
                    <a:pt x="21323" y="95250"/>
                    <a:pt x="0" y="73927"/>
                    <a:pt x="0" y="47625"/>
                  </a:cubicBezTo>
                  <a:cubicBezTo>
                    <a:pt x="0" y="21323"/>
                    <a:pt x="21323" y="0"/>
                    <a:pt x="47625" y="0"/>
                  </a:cubicBezTo>
                  <a:cubicBezTo>
                    <a:pt x="73927" y="0"/>
                    <a:pt x="95250" y="21323"/>
                    <a:pt x="95250" y="476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A46A78F-A306-ACB6-EE13-277A7B0D62EA}"/>
                </a:ext>
              </a:extLst>
            </p:cNvPr>
            <p:cNvSpPr/>
            <p:nvPr/>
          </p:nvSpPr>
          <p:spPr>
            <a:xfrm>
              <a:off x="10885740" y="3905150"/>
              <a:ext cx="742949" cy="695325"/>
            </a:xfrm>
            <a:custGeom>
              <a:avLst/>
              <a:gdLst>
                <a:gd name="connsiteX0" fmla="*/ 742950 w 742949"/>
                <a:gd name="connsiteY0" fmla="*/ 695325 h 695325"/>
                <a:gd name="connsiteX1" fmla="*/ 0 w 742949"/>
                <a:gd name="connsiteY1" fmla="*/ 695325 h 695325"/>
                <a:gd name="connsiteX2" fmla="*/ 0 w 742949"/>
                <a:gd name="connsiteY2" fmla="*/ 0 h 695325"/>
                <a:gd name="connsiteX3" fmla="*/ 742950 w 742949"/>
                <a:gd name="connsiteY3" fmla="*/ 0 h 695325"/>
                <a:gd name="connsiteX4" fmla="*/ 57150 w 742949"/>
                <a:gd name="connsiteY4" fmla="*/ 638175 h 695325"/>
                <a:gd name="connsiteX5" fmla="*/ 685800 w 742949"/>
                <a:gd name="connsiteY5" fmla="*/ 638175 h 695325"/>
                <a:gd name="connsiteX6" fmla="*/ 685800 w 742949"/>
                <a:gd name="connsiteY6" fmla="*/ 57150 h 695325"/>
                <a:gd name="connsiteX7" fmla="*/ 57150 w 742949"/>
                <a:gd name="connsiteY7" fmla="*/ 5715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2949" h="695325">
                  <a:moveTo>
                    <a:pt x="742950" y="695325"/>
                  </a:moveTo>
                  <a:lnTo>
                    <a:pt x="0" y="695325"/>
                  </a:lnTo>
                  <a:lnTo>
                    <a:pt x="0" y="0"/>
                  </a:lnTo>
                  <a:lnTo>
                    <a:pt x="742950" y="0"/>
                  </a:lnTo>
                  <a:close/>
                  <a:moveTo>
                    <a:pt x="57150" y="638175"/>
                  </a:moveTo>
                  <a:lnTo>
                    <a:pt x="685800" y="638175"/>
                  </a:lnTo>
                  <a:lnTo>
                    <a:pt x="685800" y="57150"/>
                  </a:lnTo>
                  <a:lnTo>
                    <a:pt x="57150" y="571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741CA1B-CE52-8D57-3723-04E54231C59E}"/>
                </a:ext>
              </a:extLst>
            </p:cNvPr>
            <p:cNvSpPr/>
            <p:nvPr/>
          </p:nvSpPr>
          <p:spPr>
            <a:xfrm>
              <a:off x="11076240" y="3724175"/>
              <a:ext cx="181613" cy="123825"/>
            </a:xfrm>
            <a:custGeom>
              <a:avLst/>
              <a:gdLst>
                <a:gd name="connsiteX0" fmla="*/ 0 w 181613"/>
                <a:gd name="connsiteY0" fmla="*/ 123825 h 123825"/>
                <a:gd name="connsiteX1" fmla="*/ 90802 w 181613"/>
                <a:gd name="connsiteY1" fmla="*/ 0 h 123825"/>
                <a:gd name="connsiteX2" fmla="*/ 181613 w 181613"/>
                <a:gd name="connsiteY2" fmla="*/ 123825 h 123825"/>
                <a:gd name="connsiteX3" fmla="*/ 0 w 181613"/>
                <a:gd name="connsiteY3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613" h="123825">
                  <a:moveTo>
                    <a:pt x="0" y="123825"/>
                  </a:moveTo>
                  <a:lnTo>
                    <a:pt x="90802" y="0"/>
                  </a:lnTo>
                  <a:lnTo>
                    <a:pt x="181613" y="123825"/>
                  </a:lnTo>
                  <a:lnTo>
                    <a:pt x="0" y="1238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6756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33F1-1989-E965-03CA-19942554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54C3-2B89-3CF6-4121-3C0E7788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" y="0"/>
            <a:ext cx="10492122" cy="744718"/>
          </a:xfrm>
        </p:spPr>
        <p:txBody>
          <a:bodyPr>
            <a:normAutofit/>
          </a:bodyPr>
          <a:lstStyle/>
          <a:p>
            <a:r>
              <a:rPr lang="en-US" sz="4000" dirty="0"/>
              <a:t>External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B18BD-6F31-4107-A03E-739D44150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914400"/>
            <a:ext cx="10690973" cy="4876801"/>
          </a:xfrm>
        </p:spPr>
        <p:txBody>
          <a:bodyPr/>
          <a:lstStyle/>
          <a:p>
            <a:r>
              <a:rPr lang="en-US" sz="5400" dirty="0"/>
              <a:t>Visual Studio Code</a:t>
            </a:r>
          </a:p>
          <a:p>
            <a:pPr lvl="1"/>
            <a:r>
              <a:rPr lang="en-US" sz="5400" dirty="0"/>
              <a:t>TMDL Extension</a:t>
            </a:r>
          </a:p>
          <a:p>
            <a:pPr lvl="1"/>
            <a:r>
              <a:rPr lang="en-US" sz="5400" b="0" i="0" dirty="0">
                <a:effectLst/>
              </a:rPr>
              <a:t>Power BI Studio</a:t>
            </a:r>
          </a:p>
          <a:p>
            <a:r>
              <a:rPr lang="en-US" sz="5400" dirty="0" err="1"/>
              <a:t>p</a:t>
            </a:r>
            <a:r>
              <a:rPr lang="en-US" sz="5400" b="0" i="0" dirty="0" err="1">
                <a:effectLst/>
              </a:rPr>
              <a:t>bi</a:t>
            </a:r>
            <a:r>
              <a:rPr lang="en-US" sz="5400" b="0" i="0" dirty="0">
                <a:effectLst/>
              </a:rPr>
              <a:t>-tools</a:t>
            </a:r>
          </a:p>
          <a:p>
            <a:r>
              <a:rPr lang="en-US" sz="5400" dirty="0"/>
              <a:t>Tabular Editor</a:t>
            </a:r>
          </a:p>
          <a:p>
            <a:endParaRPr lang="en-US" sz="5000" b="0" i="0" dirty="0">
              <a:effectLst/>
            </a:endParaRPr>
          </a:p>
          <a:p>
            <a:pPr lvl="1"/>
            <a:endParaRPr lang="en-US" sz="4600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4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743B1-16E8-08EA-BB2F-530F7F63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B91A-C4AE-CC9D-3B5A-9D1FE9E9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Tabular Editor 2.x – Save to Folder – TMDL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45E2D4-4413-8F59-01E6-220B6E00C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6449921" y="1786"/>
            <a:ext cx="5742079" cy="6856214"/>
          </a:xfrm>
          <a:noFill/>
        </p:spPr>
      </p:pic>
    </p:spTree>
    <p:extLst>
      <p:ext uri="{BB962C8B-B14F-4D97-AF65-F5344CB8AC3E}">
        <p14:creationId xmlns:p14="http://schemas.microsoft.com/office/powerpoint/2010/main" val="12326761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2010-FACB-5F29-AF93-3C36BC542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4675-5BE5-6D58-1A35-8E88AF36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r>
              <a:rPr lang="en-US"/>
              <a:t>Tabular Editor 2.x – Import TMDL 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286C87-BDFC-0122-B682-8078F5C38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8200" y="768917"/>
            <a:ext cx="7347982" cy="5180327"/>
          </a:xfrm>
          <a:noFill/>
        </p:spPr>
      </p:pic>
    </p:spTree>
    <p:extLst>
      <p:ext uri="{BB962C8B-B14F-4D97-AF65-F5344CB8AC3E}">
        <p14:creationId xmlns:p14="http://schemas.microsoft.com/office/powerpoint/2010/main" val="39300570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5A9F-8035-BDA1-DC60-0E8B2A84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163C-6116-5B1F-D9C1-DA7A7F8B0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>
            <a:normAutofit/>
          </a:bodyPr>
          <a:lstStyle/>
          <a:p>
            <a:r>
              <a:rPr lang="en-US" dirty="0"/>
              <a:t>Tabular Editor 3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BCDB8B-FD38-B006-7A03-98FFBEA9F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8384"/>
          <a:stretch>
            <a:fillRect/>
          </a:stretch>
        </p:blipFill>
        <p:spPr>
          <a:xfrm>
            <a:off x="4648200" y="10"/>
            <a:ext cx="7543800" cy="6856204"/>
          </a:xfrm>
          <a:noFill/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61E5B2B-7B2A-868E-7958-79F473F91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64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0753-4BD1-2022-99CB-113E4C16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A49BC-8603-78CB-67FC-2149ECBF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>
            <a:normAutofit/>
          </a:bodyPr>
          <a:lstStyle/>
          <a:p>
            <a:r>
              <a:rPr lang="en-US" b="1" dirty="0"/>
              <a:t>Tabular Editor 2 – Save to Folder</a:t>
            </a: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786D5EF0-D68E-6057-7E25-34454A706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1904" b="-1"/>
          <a:stretch>
            <a:fillRect/>
          </a:stretch>
        </p:blipFill>
        <p:spPr>
          <a:xfrm>
            <a:off x="685801" y="1869601"/>
            <a:ext cx="10840914" cy="3921600"/>
          </a:xfrm>
          <a:noFill/>
        </p:spPr>
      </p:pic>
    </p:spTree>
    <p:extLst>
      <p:ext uri="{BB962C8B-B14F-4D97-AF65-F5344CB8AC3E}">
        <p14:creationId xmlns:p14="http://schemas.microsoft.com/office/powerpoint/2010/main" val="19410267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581F-0962-B590-1464-22F55B54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A98004E-1714-E437-9029-E894858A24EF}"/>
              </a:ext>
            </a:extLst>
          </p:cNvPr>
          <p:cNvSpPr txBox="1">
            <a:spLocks/>
          </p:cNvSpPr>
          <p:nvPr/>
        </p:nvSpPr>
        <p:spPr>
          <a:xfrm>
            <a:off x="255818" y="34525"/>
            <a:ext cx="10560489" cy="605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4800" b="1" dirty="0">
                <a:latin typeface="Roboto" panose="02000000000000000000" pitchFamily="2" charset="0"/>
                <a:ea typeface="Roboto" panose="02000000000000000000" pitchFamily="2" charset="0"/>
              </a:rPr>
              <a:t>The TMDL Journey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2013F9-0118-78D9-405A-3B45B040173E}"/>
              </a:ext>
            </a:extLst>
          </p:cNvPr>
          <p:cNvCxnSpPr>
            <a:cxnSpLocks/>
          </p:cNvCxnSpPr>
          <p:nvPr/>
        </p:nvCxnSpPr>
        <p:spPr>
          <a:xfrm flipV="1">
            <a:off x="563311" y="721050"/>
            <a:ext cx="10227332" cy="22131"/>
          </a:xfrm>
          <a:prstGeom prst="line">
            <a:avLst/>
          </a:prstGeom>
          <a:ln w="7620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8B6CF71-F9DB-ADA4-F1F6-1E5AE234A1B5}"/>
              </a:ext>
            </a:extLst>
          </p:cNvPr>
          <p:cNvSpPr txBox="1"/>
          <p:nvPr/>
        </p:nvSpPr>
        <p:spPr>
          <a:xfrm>
            <a:off x="563311" y="2227631"/>
            <a:ext cx="733394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1. What</a:t>
            </a:r>
            <a:r>
              <a:rPr kumimoji="0" lang="en-US" sz="6000" i="0" u="none" kern="1200" cap="none" spc="0" normalizeH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 is TMDL</a:t>
            </a:r>
            <a:endParaRPr kumimoji="0" lang="en-US" sz="6000" i="0" u="none" kern="1200" cap="none" spc="0" normalizeH="0" baseline="0" noProof="0" dirty="0">
              <a:ln w="0"/>
              <a:solidFill>
                <a:schemeClr val="tx1">
                  <a:lumMod val="50000"/>
                </a:schemeClr>
              </a:solidFill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4985B4-A081-2655-EC77-5A6CF543355E}"/>
              </a:ext>
            </a:extLst>
          </p:cNvPr>
          <p:cNvSpPr txBox="1"/>
          <p:nvPr/>
        </p:nvSpPr>
        <p:spPr>
          <a:xfrm>
            <a:off x="563311" y="3089064"/>
            <a:ext cx="9208673" cy="94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2. PBIP &amp; </a:t>
            </a:r>
            <a:r>
              <a:rPr lang="en-US" sz="6000" noProof="0" dirty="0">
                <a:ln w="0"/>
                <a:solidFill>
                  <a:schemeClr val="tx1">
                    <a:lumMod val="50000"/>
                  </a:schemeClr>
                </a:solidFill>
                <a:latin typeface="Roboto" panose="02000000000000000000" pitchFamily="2" charset="0"/>
                <a:cs typeface="Kanit" pitchFamily="2" charset="-34"/>
              </a:rPr>
              <a:t>TMDL</a:t>
            </a:r>
            <a:endParaRPr kumimoji="0" lang="en-US" sz="6000" i="0" u="none" kern="1200" cap="none" spc="0" normalizeH="0" baseline="0" noProof="0" dirty="0">
              <a:ln w="0"/>
              <a:solidFill>
                <a:schemeClr val="tx1">
                  <a:lumMod val="50000"/>
                </a:schemeClr>
              </a:solidFill>
              <a:uLnTx/>
              <a:uFillTx/>
              <a:latin typeface="Roboto" panose="02000000000000000000" pitchFamily="2" charset="0"/>
              <a:cs typeface="Kanit" pitchFamily="2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1E366C-5739-646B-9E9D-90F5DDD95B7E}"/>
              </a:ext>
            </a:extLst>
          </p:cNvPr>
          <p:cNvSpPr txBox="1"/>
          <p:nvPr/>
        </p:nvSpPr>
        <p:spPr>
          <a:xfrm>
            <a:off x="563311" y="4016905"/>
            <a:ext cx="9945505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3. TMDL View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C76D4-F340-58FC-6759-4F3EE086B0AB}"/>
              </a:ext>
            </a:extLst>
          </p:cNvPr>
          <p:cNvSpPr txBox="1"/>
          <p:nvPr/>
        </p:nvSpPr>
        <p:spPr>
          <a:xfrm>
            <a:off x="563312" y="4898118"/>
            <a:ext cx="8224549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i="0" u="none" kern="1200" cap="none" spc="0" normalizeH="0" baseline="0" noProof="0" dirty="0">
                <a:ln w="0"/>
                <a:solidFill>
                  <a:schemeClr val="tx1">
                    <a:lumMod val="50000"/>
                  </a:schemeClr>
                </a:solidFill>
                <a:uLnTx/>
                <a:uFillTx/>
                <a:latin typeface="Roboto" panose="02000000000000000000" pitchFamily="2" charset="0"/>
                <a:cs typeface="Kanit" pitchFamily="2" charset="-34"/>
              </a:rPr>
              <a:t>4. External Tools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C92DF0-D843-8FA1-01E2-E22456B1C356}"/>
              </a:ext>
            </a:extLst>
          </p:cNvPr>
          <p:cNvSpPr txBox="1"/>
          <p:nvPr/>
        </p:nvSpPr>
        <p:spPr>
          <a:xfrm>
            <a:off x="563311" y="5821448"/>
            <a:ext cx="6161743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kern="1200" cap="none" spc="0" normalizeH="0" baseline="0" noProof="0" dirty="0">
                <a:ln w="0"/>
                <a:uLnTx/>
                <a:uFillTx/>
                <a:latin typeface="Roboto" panose="02000000000000000000" pitchFamily="2" charset="0"/>
                <a:cs typeface="Kanit" pitchFamily="2" charset="-34"/>
              </a:rPr>
              <a:t>5. Conclusion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06CB0D-17AA-1BE4-B0E7-F86BFB491236}"/>
              </a:ext>
            </a:extLst>
          </p:cNvPr>
          <p:cNvCxnSpPr>
            <a:cxnSpLocks/>
          </p:cNvCxnSpPr>
          <p:nvPr/>
        </p:nvCxnSpPr>
        <p:spPr>
          <a:xfrm>
            <a:off x="568850" y="1784778"/>
            <a:ext cx="1337733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0DC29A-30C0-2B8E-F794-02E555696B14}"/>
              </a:ext>
            </a:extLst>
          </p:cNvPr>
          <p:cNvCxnSpPr>
            <a:cxnSpLocks/>
          </p:cNvCxnSpPr>
          <p:nvPr/>
        </p:nvCxnSpPr>
        <p:spPr>
          <a:xfrm>
            <a:off x="1820395" y="1784778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33009A-612B-3325-5586-32605D07D605}"/>
              </a:ext>
            </a:extLst>
          </p:cNvPr>
          <p:cNvCxnSpPr>
            <a:cxnSpLocks/>
          </p:cNvCxnSpPr>
          <p:nvPr/>
        </p:nvCxnSpPr>
        <p:spPr>
          <a:xfrm>
            <a:off x="3916306" y="1776127"/>
            <a:ext cx="2103849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41CFE21-1D01-9116-5351-C2DC85512B17}"/>
              </a:ext>
            </a:extLst>
          </p:cNvPr>
          <p:cNvCxnSpPr>
            <a:cxnSpLocks/>
          </p:cNvCxnSpPr>
          <p:nvPr/>
        </p:nvCxnSpPr>
        <p:spPr>
          <a:xfrm>
            <a:off x="7952848" y="1774306"/>
            <a:ext cx="2792971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4E51C72-C8C1-5A6A-B418-10FD999B1BB0}"/>
              </a:ext>
            </a:extLst>
          </p:cNvPr>
          <p:cNvSpPr/>
          <p:nvPr/>
        </p:nvSpPr>
        <p:spPr>
          <a:xfrm>
            <a:off x="1738392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CE5BCA-8551-06D1-FD27-37A68AF9F388}"/>
              </a:ext>
            </a:extLst>
          </p:cNvPr>
          <p:cNvSpPr/>
          <p:nvPr/>
        </p:nvSpPr>
        <p:spPr>
          <a:xfrm>
            <a:off x="3698190" y="162826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9A2E059-DF12-30C8-3328-112CAF146EF8}"/>
              </a:ext>
            </a:extLst>
          </p:cNvPr>
          <p:cNvCxnSpPr>
            <a:cxnSpLocks/>
          </p:cNvCxnSpPr>
          <p:nvPr/>
        </p:nvCxnSpPr>
        <p:spPr>
          <a:xfrm>
            <a:off x="5804311" y="1784778"/>
            <a:ext cx="2148537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E43693DA-BECB-B3BC-02C5-AB165A49883E}"/>
              </a:ext>
            </a:extLst>
          </p:cNvPr>
          <p:cNvSpPr/>
          <p:nvPr/>
        </p:nvSpPr>
        <p:spPr>
          <a:xfrm rot="306897">
            <a:off x="7806798" y="1632788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EC7B97-8025-804F-041C-05EBF1DF52FD}"/>
              </a:ext>
            </a:extLst>
          </p:cNvPr>
          <p:cNvSpPr/>
          <p:nvPr/>
        </p:nvSpPr>
        <p:spPr>
          <a:xfrm>
            <a:off x="10513838" y="1637835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769125-CCF0-19A6-FE02-A67252833BCE}"/>
              </a:ext>
            </a:extLst>
          </p:cNvPr>
          <p:cNvSpPr/>
          <p:nvPr/>
        </p:nvSpPr>
        <p:spPr>
          <a:xfrm>
            <a:off x="5794461" y="1636757"/>
            <a:ext cx="292100" cy="2603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nit" pitchFamily="2" charset="-34"/>
              <a:ea typeface="+mn-ea"/>
              <a:cs typeface="+mn-cs"/>
            </a:endParaRPr>
          </a:p>
        </p:txBody>
      </p:sp>
      <p:pic>
        <p:nvPicPr>
          <p:cNvPr id="39" name="Graphic 38" descr="Sleep with solid fill">
            <a:extLst>
              <a:ext uri="{FF2B5EF4-FFF2-40B4-BE49-F238E27FC236}">
                <a16:creationId xmlns:a16="http://schemas.microsoft.com/office/drawing/2014/main" id="{E633F417-2761-F4F1-4A8B-035446BA7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8943" y="10471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1769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49AF-9595-FD69-E0B3-9CC2A0009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2" y="-1"/>
            <a:ext cx="10840914" cy="1260000"/>
          </a:xfrm>
        </p:spPr>
        <p:txBody>
          <a:bodyPr>
            <a:normAutofit/>
          </a:bodyPr>
          <a:lstStyle/>
          <a:p>
            <a:r>
              <a:rPr lang="en-US" sz="4000" dirty="0"/>
              <a:t>Future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EB8-F67E-02D8-1FFD-259F12B4A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43" y="1259999"/>
            <a:ext cx="10840914" cy="4330095"/>
          </a:xfrm>
        </p:spPr>
        <p:txBody>
          <a:bodyPr>
            <a:normAutofit fontScale="85000" lnSpcReduction="10000"/>
          </a:bodyPr>
          <a:lstStyle/>
          <a:p>
            <a:pPr marL="283464" indent="-283464" algn="l" rtl="0" eaLnBrk="1" latinLnBrk="0" hangingPunct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6500" dirty="0">
                <a:solidFill>
                  <a:srgbClr val="FFFFFF"/>
                </a:solidFill>
                <a:effectLst/>
              </a:rPr>
              <a:t>Expanding support for changes that are not currently supported</a:t>
            </a:r>
          </a:p>
          <a:p>
            <a:pPr marL="283464" indent="-283464" algn="l" rtl="0" eaLnBrk="1" latinLnBrk="0" hangingPunct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6500" dirty="0">
                <a:solidFill>
                  <a:srgbClr val="FFFFFF"/>
                </a:solidFill>
                <a:effectLst/>
              </a:rPr>
              <a:t>TMDL View available on the Web</a:t>
            </a:r>
          </a:p>
          <a:p>
            <a:pPr marL="283464" indent="-283464" algn="l" rtl="0" eaLnBrk="1" latinLnBrk="0" hangingPunct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6500" dirty="0">
                <a:solidFill>
                  <a:srgbClr val="FFFFFF"/>
                </a:solidFill>
                <a:effectLst/>
              </a:rPr>
              <a:t>TMDL View Copilot</a:t>
            </a:r>
          </a:p>
        </p:txBody>
      </p:sp>
    </p:spTree>
    <p:extLst>
      <p:ext uri="{BB962C8B-B14F-4D97-AF65-F5344CB8AC3E}">
        <p14:creationId xmlns:p14="http://schemas.microsoft.com/office/powerpoint/2010/main" val="137960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DE0DD-7BFD-BBA3-D937-323B889F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85C8-5F37-21ED-2A85-874F4F141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2" y="-1"/>
            <a:ext cx="10840914" cy="1260000"/>
          </a:xfrm>
        </p:spPr>
        <p:txBody>
          <a:bodyPr>
            <a:normAutofit/>
          </a:bodyPr>
          <a:lstStyle/>
          <a:p>
            <a:r>
              <a:rPr lang="en-US" sz="4000" dirty="0"/>
              <a:t>Endless Possibilities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1BD8-0541-F6E6-6C0C-9DFC45782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43" y="1259999"/>
            <a:ext cx="10840914" cy="4330095"/>
          </a:xfrm>
        </p:spPr>
        <p:txBody>
          <a:bodyPr>
            <a:normAutofit/>
          </a:bodyPr>
          <a:lstStyle/>
          <a:p>
            <a:pPr marL="283464" indent="-283464" algn="l" rtl="0" eaLnBrk="1" latinLnBrk="0" hangingPunct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6000" dirty="0"/>
              <a:t>Assist with Development</a:t>
            </a:r>
          </a:p>
          <a:p>
            <a:pPr marL="740664" lvl="1" indent="-283464">
              <a:buFont typeface="Arial" panose="020B0604020202020204" pitchFamily="34" charset="0"/>
              <a:buChar char="•"/>
            </a:pPr>
            <a:r>
              <a:rPr lang="en-US" sz="6000" dirty="0"/>
              <a:t>Reuse Modules</a:t>
            </a:r>
          </a:p>
          <a:p>
            <a:pPr marL="283464" indent="-283464" algn="l" rtl="0" eaLnBrk="1" latinLnBrk="0" hangingPunct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6000" dirty="0"/>
              <a:t>Build Models with AI</a:t>
            </a:r>
          </a:p>
          <a:p>
            <a:pPr marL="283464" indent="-283464" algn="l" rtl="0" eaLnBrk="1" latinLnBrk="0" hangingPunct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6000" dirty="0"/>
              <a:t>Best Practices</a:t>
            </a:r>
          </a:p>
          <a:p>
            <a:pPr marL="283464" indent="-283464" algn="l" rtl="0" eaLnBrk="1" latinLnBrk="0" hangingPunct="1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55616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D07E-6EAD-5ED0-46B0-275B3524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0"/>
            <a:ext cx="10840914" cy="904568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9CF08-424B-9B04-7C72-7182F4365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9" y="1101213"/>
            <a:ext cx="11125200" cy="533891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Microsoft TMDL Overview</a:t>
            </a:r>
            <a:endParaRPr lang="en-US" sz="32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https://learn.microsoft.com/en-us/analysis-services/tmdl/tmdl-overview</a:t>
            </a:r>
            <a:endParaRPr lang="en-US" sz="30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Developer Mode</a:t>
            </a:r>
            <a:endParaRPr lang="en-US" sz="32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https://learn.microsoft.com/en-us/power-bi/developer/projects/projects-dataset#tmdl-format</a:t>
            </a: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TMDL 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https://learn.microsoft.com/en-us/power-bi/transform-model/desktop-tmdl-view</a:t>
            </a: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0013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B1D11-D5DC-7E91-5886-0C78A81F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580E-4A5A-6522-386A-B5A8051AC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0"/>
            <a:ext cx="10840914" cy="904568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47C95-DC39-D5D0-DBFB-D8510FC19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9" y="1101213"/>
            <a:ext cx="11125200" cy="533891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Power BI TMDL View: Benefits, Security Risks and Best Practices by John </a:t>
            </a:r>
            <a:r>
              <a:rPr lang="en-US" sz="3200" dirty="0" err="1"/>
              <a:t>Kerski</a:t>
            </a:r>
            <a:r>
              <a:rPr lang="en-US" sz="3200" dirty="0"/>
              <a:t> </a:t>
            </a:r>
            <a:endParaRPr lang="en-US" sz="3200" dirty="0">
              <a:solidFill>
                <a:srgbClr val="6B9F2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https://www.red-gate.com/simple-talk/business-intelligence/power-bi-tmdl-benefits-security-risks-best-practices</a:t>
            </a:r>
            <a:endParaRPr lang="en-US" sz="3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FabSnippets</a:t>
            </a:r>
            <a:endParaRPr lang="en-US" sz="32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ea typeface="Roboto" panose="02000000000000000000" pitchFamily="2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https://fabsnippets.com</a:t>
            </a:r>
            <a:endParaRPr lang="en-US" sz="3200" kern="100" dirty="0">
              <a:effectLst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ea typeface="Roboto" panose="02000000000000000000" pitchFamily="2" charset="0"/>
                <a:cs typeface="Times New Roman" panose="02020603050405020304" pitchFamily="18" charset="0"/>
              </a:rPr>
              <a:t>DataZoe – DAX Date table in TMDL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ea typeface="Roboto" panose="02000000000000000000" pitchFamily="2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https://www.datazoe.blog/post/dax-date-table-in-tmdl</a:t>
            </a:r>
            <a:endParaRPr lang="en-US" sz="3200" kern="100" dirty="0">
              <a:effectLst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2590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3888E-EA77-4978-A43B-7CCB6092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53EB4-25D1-B729-403A-DD0B9DB19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0"/>
            <a:ext cx="10840914" cy="904568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F8D82-9BD6-7CAF-580D-9476B8C7D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9" y="1101213"/>
            <a:ext cx="11125200" cy="5338915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kern="100" dirty="0">
                <a:effectLst/>
                <a:ea typeface="Roboto" panose="02000000000000000000" pitchFamily="2" charset="0"/>
                <a:cs typeface="Times New Roman" panose="02020603050405020304" pitchFamily="18" charset="0"/>
              </a:rPr>
              <a:t>Deep dive into TMDL view for Power BI Desktop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kern="100" dirty="0">
                <a:effectLst/>
                <a:ea typeface="Roboto" panose="02000000000000000000" pitchFamily="2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https://powerbi.microsoft.com/en-us/blog/deep-dive-into-tmdl-view-for-power-bi-desktop-preview/</a:t>
            </a:r>
            <a:endParaRPr lang="en-US" sz="3000" kern="100" dirty="0">
              <a:effectLst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Microsoft </a:t>
            </a:r>
            <a:r>
              <a:rPr lang="en-US" sz="2800" dirty="0"/>
              <a:t>Lineage</a:t>
            </a:r>
            <a:r>
              <a:rPr lang="en-US" sz="3600" dirty="0"/>
              <a:t> Tags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https://learn.microsoft.com/en-us/analysis-services/tom/lineage-tags-for-power-bi-semantic-models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#SML (Saturday Morning Learning)</a:t>
            </a:r>
            <a:endParaRPr lang="en-US" sz="3600" dirty="0">
              <a:solidFill>
                <a:srgbClr val="FFFFFF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www.smlcrew.com</a:t>
            </a: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119263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BB3CDC-B3E8-CC7A-191B-74A205C33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800000"/>
            <a:ext cx="5800000" cy="3500000"/>
          </a:xfrm>
        </p:spPr>
        <p:txBody>
          <a:bodyPr>
            <a:normAutofit/>
          </a:bodyPr>
          <a:lstStyle/>
          <a:p>
            <a:r>
              <a:rPr lang="en-US" sz="4400" dirty="0"/>
              <a:t>Hope you enjoyed your stay</a:t>
            </a:r>
          </a:p>
        </p:txBody>
      </p:sp>
      <p:sp>
        <p:nvSpPr>
          <p:cNvPr id="10" name="HotelBill"/>
          <p:cNvSpPr>
            <a:spLocks noGrp="1"/>
          </p:cNvSpPr>
          <p:nvPr/>
        </p:nvSpPr>
        <p:spPr>
          <a:xfrm>
            <a:off x="6485801" y="1246908"/>
            <a:ext cx="4106989" cy="4773159"/>
          </a:xfrm>
          <a:prstGeom prst="rect">
            <a:avLst/>
          </a:prstGeom>
          <a:solidFill>
            <a:srgbClr val="FFF8E7"/>
          </a:solidFill>
          <a:ln w="25400">
            <a:solidFill>
              <a:srgbClr val="1A2E5A"/>
            </a:solidFill>
          </a:ln>
        </p:spPr>
        <p:txBody>
          <a:bodyPr lIns="180000" tIns="180000" rIns="180000" bIns="12000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E5A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HOTEL TMDL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Check-Out Receipt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--------------------------------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Guest: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 SQL Saturday Attendee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Room: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 The PBIP Suite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------------------------------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ourier New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TMDL Orientation........FREE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Source Control Access...FREE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TMDL View (GA)..........FREE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Tabular Editor Tips.....FREE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Late Checkout..NOT SUPPORTED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------------------------------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E5A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TOTAL:..................FREE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--------------------------------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Thank you for staying at Hotel TMDL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 a YMCA property —</a:t>
            </a:r>
          </a:p>
        </p:txBody>
      </p:sp>
    </p:spTree>
    <p:extLst>
      <p:ext uri="{BB962C8B-B14F-4D97-AF65-F5344CB8AC3E}">
        <p14:creationId xmlns:p14="http://schemas.microsoft.com/office/powerpoint/2010/main" val="36755078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F279-E529-1785-29DA-41E0350C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CF6FA5-E8EB-73DE-B709-7CF4122CF7CE}"/>
              </a:ext>
            </a:extLst>
          </p:cNvPr>
          <p:cNvSpPr/>
          <p:nvPr/>
        </p:nvSpPr>
        <p:spPr>
          <a:xfrm>
            <a:off x="0" y="0"/>
            <a:ext cx="2031949" cy="128016"/>
          </a:xfrm>
          <a:prstGeom prst="rect">
            <a:avLst/>
          </a:prstGeom>
          <a:solidFill>
            <a:srgbClr val="ED6C31"/>
          </a:solidFill>
          <a:ln w="12700">
            <a:solidFill>
              <a:srgbClr val="ED6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5E4625A-9C9A-A398-FAC3-5BDC27E25486}"/>
              </a:ext>
            </a:extLst>
          </p:cNvPr>
          <p:cNvSpPr/>
          <p:nvPr/>
        </p:nvSpPr>
        <p:spPr>
          <a:xfrm>
            <a:off x="2031949" y="0"/>
            <a:ext cx="2031949" cy="128016"/>
          </a:xfrm>
          <a:prstGeom prst="rect">
            <a:avLst/>
          </a:prstGeom>
          <a:solidFill>
            <a:srgbClr val="EA9E2F"/>
          </a:solidFill>
          <a:ln w="12700">
            <a:solidFill>
              <a:srgbClr val="EA9E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529A27-8B87-65BD-8967-AF231C81CA75}"/>
              </a:ext>
            </a:extLst>
          </p:cNvPr>
          <p:cNvSpPr/>
          <p:nvPr/>
        </p:nvSpPr>
        <p:spPr>
          <a:xfrm>
            <a:off x="4063898" y="0"/>
            <a:ext cx="2031949" cy="128016"/>
          </a:xfrm>
          <a:prstGeom prst="rect">
            <a:avLst/>
          </a:prstGeom>
          <a:solidFill>
            <a:srgbClr val="C3AF40"/>
          </a:solidFill>
          <a:ln w="12700">
            <a:solidFill>
              <a:srgbClr val="C3AF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3844D5-4FFB-EB2F-21A2-2411B652B00C}"/>
              </a:ext>
            </a:extLst>
          </p:cNvPr>
          <p:cNvSpPr/>
          <p:nvPr/>
        </p:nvSpPr>
        <p:spPr>
          <a:xfrm>
            <a:off x="6095848" y="0"/>
            <a:ext cx="2031949" cy="128016"/>
          </a:xfrm>
          <a:prstGeom prst="rect">
            <a:avLst/>
          </a:prstGeom>
          <a:solidFill>
            <a:srgbClr val="4DAF64"/>
          </a:solidFill>
          <a:ln w="12700">
            <a:solidFill>
              <a:srgbClr val="4DAF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F2ECAC5-E244-EE04-3F09-E14FB8E97F60}"/>
              </a:ext>
            </a:extLst>
          </p:cNvPr>
          <p:cNvSpPr/>
          <p:nvPr/>
        </p:nvSpPr>
        <p:spPr>
          <a:xfrm>
            <a:off x="8127797" y="0"/>
            <a:ext cx="2031949" cy="128016"/>
          </a:xfrm>
          <a:prstGeom prst="rect">
            <a:avLst/>
          </a:prstGeom>
          <a:solidFill>
            <a:srgbClr val="12A781"/>
          </a:solidFill>
          <a:ln w="12700">
            <a:solidFill>
              <a:srgbClr val="12A7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3592993-7576-864C-92D9-57C5916118A6}"/>
              </a:ext>
            </a:extLst>
          </p:cNvPr>
          <p:cNvSpPr/>
          <p:nvPr/>
        </p:nvSpPr>
        <p:spPr>
          <a:xfrm>
            <a:off x="10159746" y="0"/>
            <a:ext cx="2031949" cy="128016"/>
          </a:xfrm>
          <a:prstGeom prst="rect">
            <a:avLst/>
          </a:prstGeom>
          <a:solidFill>
            <a:srgbClr val="3391AB"/>
          </a:solidFill>
          <a:ln w="12700">
            <a:solidFill>
              <a:srgbClr val="3391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7d350d0e-03d7-4f3e-a65a-744229334970.png">
            <a:extLst>
              <a:ext uri="{FF2B5EF4-FFF2-40B4-BE49-F238E27FC236}">
                <a16:creationId xmlns:a16="http://schemas.microsoft.com/office/drawing/2014/main" id="{0B771775-9701-AB14-E114-CF481401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293508"/>
            <a:ext cx="960120" cy="55506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FD8D31C5-AAB8-00D7-0426-89F28EC4CFB4}"/>
              </a:ext>
            </a:extLst>
          </p:cNvPr>
          <p:cNvSpPr/>
          <p:nvPr/>
        </p:nvSpPr>
        <p:spPr>
          <a:xfrm>
            <a:off x="0" y="128016"/>
            <a:ext cx="12191695" cy="119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1820"/>
                </a:solidFill>
                <a:latin typeface="Aptos Display" pitchFamily="34" charset="0"/>
              </a:rPr>
              <a:t>Session Evaluations</a:t>
            </a:r>
            <a:endParaRPr lang="en-US" sz="4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EFAD4A6-F680-E9E7-F918-A850EC64B018}"/>
              </a:ext>
            </a:extLst>
          </p:cNvPr>
          <p:cNvSpPr/>
          <p:nvPr/>
        </p:nvSpPr>
        <p:spPr>
          <a:xfrm>
            <a:off x="685800" y="6455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Saturday Atlanta 2026  •  AI &amp; BI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2014CD2-5DBA-8342-B6C9-1D3D32182ED4}"/>
              </a:ext>
            </a:extLst>
          </p:cNvPr>
          <p:cNvSpPr/>
          <p:nvPr/>
        </p:nvSpPr>
        <p:spPr>
          <a:xfrm>
            <a:off x="109728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4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FCF3FC-7CC2-885C-F672-19FD56781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791" y="1257559"/>
            <a:ext cx="5262113" cy="52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465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37BE-74DA-2EE1-9790-1A9B2FDAB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4F7AE5-FD60-9DE1-B4FA-77D420E783E1}"/>
              </a:ext>
            </a:extLst>
          </p:cNvPr>
          <p:cNvSpPr txBox="1">
            <a:spLocks/>
          </p:cNvSpPr>
          <p:nvPr/>
        </p:nvSpPr>
        <p:spPr>
          <a:xfrm>
            <a:off x="655453" y="1989732"/>
            <a:ext cx="6839101" cy="56224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66600" rtl="0" eaLnBrk="1" fontAlgn="auto" latinLnBrk="0" hangingPunct="1">
              <a:lnSpc>
                <a:spcPct val="90000"/>
              </a:lnSpc>
              <a:spcBef>
                <a:spcPts val="12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Roboto" panose="02000000000000000000" pitchFamily="2" charset="0"/>
              </a:rPr>
              <a:t>Jason Romans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063FF0-0E35-B940-79F7-83643291FC88}"/>
              </a:ext>
            </a:extLst>
          </p:cNvPr>
          <p:cNvGrpSpPr/>
          <p:nvPr/>
        </p:nvGrpSpPr>
        <p:grpSpPr>
          <a:xfrm>
            <a:off x="1487647" y="4841423"/>
            <a:ext cx="3978974" cy="1536710"/>
            <a:chOff x="790132" y="3132499"/>
            <a:chExt cx="3978974" cy="1536710"/>
          </a:xfrm>
        </p:grpSpPr>
        <p:pic>
          <p:nvPicPr>
            <p:cNvPr id="3" name="Picture 2" descr="A cartoon of a sheep&#10;&#10;Description automatically generated">
              <a:extLst>
                <a:ext uri="{FF2B5EF4-FFF2-40B4-BE49-F238E27FC236}">
                  <a16:creationId xmlns:a16="http://schemas.microsoft.com/office/drawing/2014/main" id="{71679D09-4708-75C9-04D4-3B34A826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306" y="3132499"/>
              <a:ext cx="1601735" cy="1020773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9C67A6-84D9-832E-1DA7-76EC95936B14}"/>
                </a:ext>
              </a:extLst>
            </p:cNvPr>
            <p:cNvSpPr/>
            <p:nvPr/>
          </p:nvSpPr>
          <p:spPr>
            <a:xfrm>
              <a:off x="790132" y="4022878"/>
              <a:ext cx="3978974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normalizeH="0" baseline="0" noProof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Roboto" panose="02000000000000000000" pitchFamily="2" charset="0"/>
                </a:rPr>
                <a:t>The Dax Shepherd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7CFCE5F2-5FB9-956A-40DC-4D7DA35C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48" y="492942"/>
            <a:ext cx="5065472" cy="1325563"/>
          </a:xfrm>
        </p:spPr>
        <p:txBody>
          <a:bodyPr>
            <a:noAutofit/>
          </a:bodyPr>
          <a:lstStyle/>
          <a:p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Thank you</a:t>
            </a:r>
            <a:endParaRPr lang="en-US" b="1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C9B0113-C529-595B-05D7-06DB858926AF}"/>
              </a:ext>
            </a:extLst>
          </p:cNvPr>
          <p:cNvSpPr txBox="1">
            <a:spLocks/>
          </p:cNvSpPr>
          <p:nvPr/>
        </p:nvSpPr>
        <p:spPr bwMode="auto">
          <a:xfrm>
            <a:off x="1145201" y="3278492"/>
            <a:ext cx="5336557" cy="553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None/>
              <a:defRPr sz="1800" b="1" i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Blip>
                <a:blip r:embed="rId3"/>
              </a:buBlip>
              <a:defRPr sz="28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Blip>
                <a:blip r:embed="rId3"/>
              </a:buBlip>
              <a:defRPr sz="2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jason-r-sql-jar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7EB103FB-DDA0-9255-72FF-0E6C0616306D}"/>
              </a:ext>
            </a:extLst>
          </p:cNvPr>
          <p:cNvSpPr txBox="1">
            <a:spLocks/>
          </p:cNvSpPr>
          <p:nvPr/>
        </p:nvSpPr>
        <p:spPr bwMode="auto">
          <a:xfrm>
            <a:off x="1206673" y="4320446"/>
            <a:ext cx="5336557" cy="553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None/>
              <a:defRPr sz="1800" b="1" i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Blip>
                <a:blip r:embed="rId3"/>
              </a:buBlip>
              <a:defRPr sz="28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Blip>
                <a:blip r:embed="rId3"/>
              </a:buBlip>
              <a:defRPr sz="2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@sql_jar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FC91DB6-4ABD-5D76-BD31-1BC84C39923E}"/>
              </a:ext>
            </a:extLst>
          </p:cNvPr>
          <p:cNvSpPr txBox="1">
            <a:spLocks/>
          </p:cNvSpPr>
          <p:nvPr/>
        </p:nvSpPr>
        <p:spPr bwMode="auto">
          <a:xfrm>
            <a:off x="1115107" y="3799469"/>
            <a:ext cx="5336557" cy="553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None/>
              <a:defRPr sz="1800" b="1" i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Blip>
                <a:blip r:embed="rId3"/>
              </a:buBlip>
              <a:defRPr sz="28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Blip>
                <a:blip r:embed="rId3"/>
              </a:buBlip>
              <a:defRPr sz="2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https://thedaxshepherd.com/</a:t>
            </a:r>
          </a:p>
        </p:txBody>
      </p:sp>
      <p:sp>
        <p:nvSpPr>
          <p:cNvPr id="19" name="Content Placeholder 20">
            <a:extLst>
              <a:ext uri="{FF2B5EF4-FFF2-40B4-BE49-F238E27FC236}">
                <a16:creationId xmlns:a16="http://schemas.microsoft.com/office/drawing/2014/main" id="{5DD9BC81-AAFF-3413-61C1-8CF4F4EE3154}"/>
              </a:ext>
            </a:extLst>
          </p:cNvPr>
          <p:cNvSpPr/>
          <p:nvPr/>
        </p:nvSpPr>
        <p:spPr>
          <a:xfrm>
            <a:off x="713220" y="4433940"/>
            <a:ext cx="363204" cy="371085"/>
          </a:xfrm>
          <a:custGeom>
            <a:avLst/>
            <a:gdLst>
              <a:gd name="connsiteX0" fmla="*/ 216156 w 363204"/>
              <a:gd name="connsiteY0" fmla="*/ 157129 h 371085"/>
              <a:gd name="connsiteX1" fmla="*/ 351367 w 363204"/>
              <a:gd name="connsiteY1" fmla="*/ 0 h 371085"/>
              <a:gd name="connsiteX2" fmla="*/ 319326 w 363204"/>
              <a:gd name="connsiteY2" fmla="*/ 0 h 371085"/>
              <a:gd name="connsiteX3" fmla="*/ 201922 w 363204"/>
              <a:gd name="connsiteY3" fmla="*/ 136433 h 371085"/>
              <a:gd name="connsiteX4" fmla="*/ 108152 w 363204"/>
              <a:gd name="connsiteY4" fmla="*/ 0 h 371085"/>
              <a:gd name="connsiteX5" fmla="*/ 0 w 363204"/>
              <a:gd name="connsiteY5" fmla="*/ 0 h 371085"/>
              <a:gd name="connsiteX6" fmla="*/ 141798 w 363204"/>
              <a:gd name="connsiteY6" fmla="*/ 206311 h 371085"/>
              <a:gd name="connsiteX7" fmla="*/ 0 w 363204"/>
              <a:gd name="connsiteY7" fmla="*/ 371085 h 371085"/>
              <a:gd name="connsiteX8" fmla="*/ 32042 w 363204"/>
              <a:gd name="connsiteY8" fmla="*/ 371085 h 371085"/>
              <a:gd name="connsiteX9" fmla="*/ 156024 w 363204"/>
              <a:gd name="connsiteY9" fmla="*/ 227007 h 371085"/>
              <a:gd name="connsiteX10" fmla="*/ 255052 w 363204"/>
              <a:gd name="connsiteY10" fmla="*/ 371085 h 371085"/>
              <a:gd name="connsiteX11" fmla="*/ 363204 w 363204"/>
              <a:gd name="connsiteY11" fmla="*/ 371085 h 371085"/>
              <a:gd name="connsiteX12" fmla="*/ 216148 w 363204"/>
              <a:gd name="connsiteY12" fmla="*/ 157129 h 371085"/>
              <a:gd name="connsiteX13" fmla="*/ 216156 w 363204"/>
              <a:gd name="connsiteY13" fmla="*/ 157129 h 371085"/>
              <a:gd name="connsiteX14" fmla="*/ 172269 w 363204"/>
              <a:gd name="connsiteY14" fmla="*/ 208129 h 371085"/>
              <a:gd name="connsiteX15" fmla="*/ 157902 w 363204"/>
              <a:gd name="connsiteY15" fmla="*/ 187585 h 371085"/>
              <a:gd name="connsiteX16" fmla="*/ 43588 w 363204"/>
              <a:gd name="connsiteY16" fmla="*/ 24115 h 371085"/>
              <a:gd name="connsiteX17" fmla="*/ 92803 w 363204"/>
              <a:gd name="connsiteY17" fmla="*/ 24115 h 371085"/>
              <a:gd name="connsiteX18" fmla="*/ 185056 w 363204"/>
              <a:gd name="connsiteY18" fmla="*/ 156040 h 371085"/>
              <a:gd name="connsiteX19" fmla="*/ 199423 w 363204"/>
              <a:gd name="connsiteY19" fmla="*/ 176584 h 371085"/>
              <a:gd name="connsiteX20" fmla="*/ 319341 w 363204"/>
              <a:gd name="connsiteY20" fmla="*/ 348067 h 371085"/>
              <a:gd name="connsiteX21" fmla="*/ 270126 w 363204"/>
              <a:gd name="connsiteY21" fmla="*/ 348067 h 371085"/>
              <a:gd name="connsiteX22" fmla="*/ 172269 w 363204"/>
              <a:gd name="connsiteY22" fmla="*/ 208137 h 371085"/>
              <a:gd name="connsiteX23" fmla="*/ 172269 w 363204"/>
              <a:gd name="connsiteY23" fmla="*/ 208129 h 37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63204" h="371085">
                <a:moveTo>
                  <a:pt x="216156" y="157129"/>
                </a:moveTo>
                <a:lnTo>
                  <a:pt x="351367" y="0"/>
                </a:lnTo>
                <a:lnTo>
                  <a:pt x="319326" y="0"/>
                </a:lnTo>
                <a:lnTo>
                  <a:pt x="201922" y="136433"/>
                </a:lnTo>
                <a:lnTo>
                  <a:pt x="108152" y="0"/>
                </a:lnTo>
                <a:lnTo>
                  <a:pt x="0" y="0"/>
                </a:lnTo>
                <a:lnTo>
                  <a:pt x="141798" y="206311"/>
                </a:lnTo>
                <a:lnTo>
                  <a:pt x="0" y="371085"/>
                </a:lnTo>
                <a:lnTo>
                  <a:pt x="32042" y="371085"/>
                </a:lnTo>
                <a:lnTo>
                  <a:pt x="156024" y="227007"/>
                </a:lnTo>
                <a:lnTo>
                  <a:pt x="255052" y="371085"/>
                </a:lnTo>
                <a:lnTo>
                  <a:pt x="363204" y="371085"/>
                </a:lnTo>
                <a:lnTo>
                  <a:pt x="216148" y="157129"/>
                </a:lnTo>
                <a:lnTo>
                  <a:pt x="216156" y="157129"/>
                </a:lnTo>
                <a:close/>
                <a:moveTo>
                  <a:pt x="172269" y="208129"/>
                </a:moveTo>
                <a:lnTo>
                  <a:pt x="157902" y="187585"/>
                </a:lnTo>
                <a:lnTo>
                  <a:pt x="43588" y="24115"/>
                </a:lnTo>
                <a:lnTo>
                  <a:pt x="92803" y="24115"/>
                </a:lnTo>
                <a:lnTo>
                  <a:pt x="185056" y="156040"/>
                </a:lnTo>
                <a:lnTo>
                  <a:pt x="199423" y="176584"/>
                </a:lnTo>
                <a:lnTo>
                  <a:pt x="319341" y="348067"/>
                </a:lnTo>
                <a:lnTo>
                  <a:pt x="270126" y="348067"/>
                </a:lnTo>
                <a:lnTo>
                  <a:pt x="172269" y="208137"/>
                </a:lnTo>
                <a:lnTo>
                  <a:pt x="172269" y="208129"/>
                </a:lnTo>
                <a:close/>
              </a:path>
            </a:pathLst>
          </a:custGeom>
          <a:solidFill>
            <a:srgbClr val="FFFFFF"/>
          </a:solidFill>
          <a:ln w="30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110449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1" name="Graphic 11">
            <a:extLst>
              <a:ext uri="{FF2B5EF4-FFF2-40B4-BE49-F238E27FC236}">
                <a16:creationId xmlns:a16="http://schemas.microsoft.com/office/drawing/2014/main" id="{7492DC72-D621-9A00-0F2B-F963B06BD221}"/>
              </a:ext>
            </a:extLst>
          </p:cNvPr>
          <p:cNvSpPr/>
          <p:nvPr/>
        </p:nvSpPr>
        <p:spPr>
          <a:xfrm>
            <a:off x="686656" y="3393855"/>
            <a:ext cx="389469" cy="371187"/>
          </a:xfrm>
          <a:custGeom>
            <a:avLst/>
            <a:gdLst>
              <a:gd name="connsiteX0" fmla="*/ 479468 w 562504"/>
              <a:gd name="connsiteY0" fmla="*/ 479468 h 562504"/>
              <a:gd name="connsiteX1" fmla="*/ 396432 w 562504"/>
              <a:gd name="connsiteY1" fmla="*/ 479468 h 562504"/>
              <a:gd name="connsiteX2" fmla="*/ 396432 w 562504"/>
              <a:gd name="connsiteY2" fmla="*/ 349556 h 562504"/>
              <a:gd name="connsiteX3" fmla="*/ 353574 w 562504"/>
              <a:gd name="connsiteY3" fmla="*/ 278574 h 562504"/>
              <a:gd name="connsiteX4" fmla="*/ 302681 w 562504"/>
              <a:gd name="connsiteY4" fmla="*/ 346878 h 562504"/>
              <a:gd name="connsiteX5" fmla="*/ 302681 w 562504"/>
              <a:gd name="connsiteY5" fmla="*/ 479468 h 562504"/>
              <a:gd name="connsiteX6" fmla="*/ 219645 w 562504"/>
              <a:gd name="connsiteY6" fmla="*/ 479468 h 562504"/>
              <a:gd name="connsiteX7" fmla="*/ 219645 w 562504"/>
              <a:gd name="connsiteY7" fmla="*/ 211609 h 562504"/>
              <a:gd name="connsiteX8" fmla="*/ 300002 w 562504"/>
              <a:gd name="connsiteY8" fmla="*/ 211609 h 562504"/>
              <a:gd name="connsiteX9" fmla="*/ 300002 w 562504"/>
              <a:gd name="connsiteY9" fmla="*/ 247770 h 562504"/>
              <a:gd name="connsiteX10" fmla="*/ 301342 w 562504"/>
              <a:gd name="connsiteY10" fmla="*/ 247770 h 562504"/>
              <a:gd name="connsiteX11" fmla="*/ 380360 w 562504"/>
              <a:gd name="connsiteY11" fmla="*/ 204912 h 562504"/>
              <a:gd name="connsiteX12" fmla="*/ 480807 w 562504"/>
              <a:gd name="connsiteY12" fmla="*/ 332145 h 562504"/>
              <a:gd name="connsiteX13" fmla="*/ 479468 w 562504"/>
              <a:gd name="connsiteY13" fmla="*/ 479468 h 562504"/>
              <a:gd name="connsiteX14" fmla="*/ 124555 w 562504"/>
              <a:gd name="connsiteY14" fmla="*/ 174108 h 562504"/>
              <a:gd name="connsiteX15" fmla="*/ 76340 w 562504"/>
              <a:gd name="connsiteY15" fmla="*/ 125894 h 562504"/>
              <a:gd name="connsiteX16" fmla="*/ 124555 w 562504"/>
              <a:gd name="connsiteY16" fmla="*/ 77679 h 562504"/>
              <a:gd name="connsiteX17" fmla="*/ 172769 w 562504"/>
              <a:gd name="connsiteY17" fmla="*/ 125894 h 562504"/>
              <a:gd name="connsiteX18" fmla="*/ 124555 w 562504"/>
              <a:gd name="connsiteY18" fmla="*/ 174108 h 562504"/>
              <a:gd name="connsiteX19" fmla="*/ 166073 w 562504"/>
              <a:gd name="connsiteY19" fmla="*/ 479468 h 562504"/>
              <a:gd name="connsiteX20" fmla="*/ 83036 w 562504"/>
              <a:gd name="connsiteY20" fmla="*/ 479468 h 562504"/>
              <a:gd name="connsiteX21" fmla="*/ 83036 w 562504"/>
              <a:gd name="connsiteY21" fmla="*/ 211609 h 562504"/>
              <a:gd name="connsiteX22" fmla="*/ 166073 w 562504"/>
              <a:gd name="connsiteY22" fmla="*/ 211609 h 562504"/>
              <a:gd name="connsiteX23" fmla="*/ 166073 w 562504"/>
              <a:gd name="connsiteY23" fmla="*/ 479468 h 562504"/>
              <a:gd name="connsiteX24" fmla="*/ 520986 w 562504"/>
              <a:gd name="connsiteY24" fmla="*/ 0 h 562504"/>
              <a:gd name="connsiteX25" fmla="*/ 41518 w 562504"/>
              <a:gd name="connsiteY25" fmla="*/ 0 h 562504"/>
              <a:gd name="connsiteX26" fmla="*/ 0 w 562504"/>
              <a:gd name="connsiteY26" fmla="*/ 40179 h 562504"/>
              <a:gd name="connsiteX27" fmla="*/ 0 w 562504"/>
              <a:gd name="connsiteY27" fmla="*/ 522325 h 562504"/>
              <a:gd name="connsiteX28" fmla="*/ 41518 w 562504"/>
              <a:gd name="connsiteY28" fmla="*/ 562504 h 562504"/>
              <a:gd name="connsiteX29" fmla="*/ 520986 w 562504"/>
              <a:gd name="connsiteY29" fmla="*/ 562504 h 562504"/>
              <a:gd name="connsiteX30" fmla="*/ 562504 w 562504"/>
              <a:gd name="connsiteY30" fmla="*/ 522325 h 562504"/>
              <a:gd name="connsiteX31" fmla="*/ 562504 w 562504"/>
              <a:gd name="connsiteY31" fmla="*/ 40179 h 562504"/>
              <a:gd name="connsiteX32" fmla="*/ 520986 w 562504"/>
              <a:gd name="connsiteY32" fmla="*/ 0 h 562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2504" h="562504">
                <a:moveTo>
                  <a:pt x="479468" y="479468"/>
                </a:moveTo>
                <a:lnTo>
                  <a:pt x="396432" y="479468"/>
                </a:lnTo>
                <a:lnTo>
                  <a:pt x="396432" y="349556"/>
                </a:lnTo>
                <a:cubicBezTo>
                  <a:pt x="396432" y="318752"/>
                  <a:pt x="395092" y="278574"/>
                  <a:pt x="353574" y="278574"/>
                </a:cubicBezTo>
                <a:cubicBezTo>
                  <a:pt x="310717" y="278574"/>
                  <a:pt x="302681" y="312056"/>
                  <a:pt x="302681" y="346878"/>
                </a:cubicBezTo>
                <a:lnTo>
                  <a:pt x="302681" y="479468"/>
                </a:lnTo>
                <a:lnTo>
                  <a:pt x="219645" y="479468"/>
                </a:lnTo>
                <a:lnTo>
                  <a:pt x="219645" y="211609"/>
                </a:lnTo>
                <a:lnTo>
                  <a:pt x="300002" y="211609"/>
                </a:lnTo>
                <a:lnTo>
                  <a:pt x="300002" y="247770"/>
                </a:lnTo>
                <a:lnTo>
                  <a:pt x="301342" y="247770"/>
                </a:lnTo>
                <a:cubicBezTo>
                  <a:pt x="317413" y="219645"/>
                  <a:pt x="348217" y="203573"/>
                  <a:pt x="380360" y="204912"/>
                </a:cubicBezTo>
                <a:cubicBezTo>
                  <a:pt x="464736" y="204912"/>
                  <a:pt x="480807" y="259823"/>
                  <a:pt x="480807" y="332145"/>
                </a:cubicBezTo>
                <a:lnTo>
                  <a:pt x="479468" y="479468"/>
                </a:lnTo>
                <a:close/>
                <a:moveTo>
                  <a:pt x="124555" y="174108"/>
                </a:moveTo>
                <a:cubicBezTo>
                  <a:pt x="97769" y="174108"/>
                  <a:pt x="76340" y="152680"/>
                  <a:pt x="76340" y="125894"/>
                </a:cubicBezTo>
                <a:cubicBezTo>
                  <a:pt x="76340" y="99108"/>
                  <a:pt x="97769" y="77679"/>
                  <a:pt x="124555" y="77679"/>
                </a:cubicBezTo>
                <a:cubicBezTo>
                  <a:pt x="151340" y="77679"/>
                  <a:pt x="172769" y="99108"/>
                  <a:pt x="172769" y="125894"/>
                </a:cubicBezTo>
                <a:cubicBezTo>
                  <a:pt x="174108" y="152680"/>
                  <a:pt x="151340" y="174108"/>
                  <a:pt x="124555" y="174108"/>
                </a:cubicBezTo>
                <a:close/>
                <a:moveTo>
                  <a:pt x="166073" y="479468"/>
                </a:moveTo>
                <a:lnTo>
                  <a:pt x="83036" y="479468"/>
                </a:lnTo>
                <a:lnTo>
                  <a:pt x="83036" y="211609"/>
                </a:lnTo>
                <a:lnTo>
                  <a:pt x="166073" y="211609"/>
                </a:lnTo>
                <a:lnTo>
                  <a:pt x="166073" y="479468"/>
                </a:lnTo>
                <a:close/>
                <a:moveTo>
                  <a:pt x="520986" y="0"/>
                </a:moveTo>
                <a:lnTo>
                  <a:pt x="41518" y="0"/>
                </a:lnTo>
                <a:cubicBezTo>
                  <a:pt x="18750" y="0"/>
                  <a:pt x="0" y="18750"/>
                  <a:pt x="0" y="40179"/>
                </a:cubicBezTo>
                <a:lnTo>
                  <a:pt x="0" y="522325"/>
                </a:lnTo>
                <a:cubicBezTo>
                  <a:pt x="0" y="545093"/>
                  <a:pt x="18750" y="562504"/>
                  <a:pt x="41518" y="562504"/>
                </a:cubicBezTo>
                <a:lnTo>
                  <a:pt x="520986" y="562504"/>
                </a:lnTo>
                <a:cubicBezTo>
                  <a:pt x="543754" y="562504"/>
                  <a:pt x="562504" y="543754"/>
                  <a:pt x="562504" y="522325"/>
                </a:cubicBezTo>
                <a:lnTo>
                  <a:pt x="562504" y="40179"/>
                </a:lnTo>
                <a:cubicBezTo>
                  <a:pt x="562504" y="18750"/>
                  <a:pt x="543754" y="0"/>
                  <a:pt x="520986" y="0"/>
                </a:cubicBezTo>
                <a:close/>
              </a:path>
            </a:pathLst>
          </a:custGeom>
          <a:solidFill>
            <a:srgbClr val="FFFFFF"/>
          </a:solidFill>
          <a:ln w="1329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110449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40C94DE9-F368-E221-3229-96AB46738648}"/>
              </a:ext>
            </a:extLst>
          </p:cNvPr>
          <p:cNvSpPr txBox="1">
            <a:spLocks/>
          </p:cNvSpPr>
          <p:nvPr/>
        </p:nvSpPr>
        <p:spPr bwMode="auto">
          <a:xfrm>
            <a:off x="1104097" y="2723199"/>
            <a:ext cx="5336557" cy="553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None/>
              <a:defRPr sz="1800" b="1" i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Blip>
                <a:blip r:embed="rId3"/>
              </a:buBlip>
              <a:defRPr sz="28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50000"/>
              <a:buFontTx/>
              <a:buBlip>
                <a:blip r:embed="rId3"/>
              </a:buBlip>
              <a:defRPr sz="2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166600" fontAlgn="auto">
              <a:spcBef>
                <a:spcPts val="0"/>
              </a:spcBef>
              <a:spcAft>
                <a:spcPts val="593"/>
              </a:spcAft>
              <a:buClrTx/>
              <a:buSzTx/>
              <a:defRPr/>
            </a:pP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thedaxshepherd@gmail.com</a:t>
            </a:r>
          </a:p>
        </p:txBody>
      </p:sp>
      <p:pic>
        <p:nvPicPr>
          <p:cNvPr id="25" name="Graphic 24" descr="Email with solid fill">
            <a:extLst>
              <a:ext uri="{FF2B5EF4-FFF2-40B4-BE49-F238E27FC236}">
                <a16:creationId xmlns:a16="http://schemas.microsoft.com/office/drawing/2014/main" id="{7862F388-C43F-6651-A30A-5ED585789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453" y="2693858"/>
            <a:ext cx="478738" cy="478738"/>
          </a:xfrm>
          <a:prstGeom prst="rect">
            <a:avLst/>
          </a:prstGeom>
        </p:spPr>
      </p:pic>
      <p:pic>
        <p:nvPicPr>
          <p:cNvPr id="32" name="Graphic 31" descr="Blog with solid fill">
            <a:extLst>
              <a:ext uri="{FF2B5EF4-FFF2-40B4-BE49-F238E27FC236}">
                <a16:creationId xmlns:a16="http://schemas.microsoft.com/office/drawing/2014/main" id="{A5B39E5C-ACAE-BA16-AAD8-CDBF9BF42B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416" y="3863431"/>
            <a:ext cx="489247" cy="4892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61FDC2-9A83-13AF-3403-AC458112DB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8690" y="2159917"/>
            <a:ext cx="3521053" cy="32504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6E4321-40EF-CA88-2740-7E7A684BA5CF}"/>
              </a:ext>
            </a:extLst>
          </p:cNvPr>
          <p:cNvSpPr txBox="1"/>
          <p:nvPr/>
        </p:nvSpPr>
        <p:spPr>
          <a:xfrm>
            <a:off x="6725380" y="5410388"/>
            <a:ext cx="3825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29940621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BA7C92-EAD2-04D8-0B7E-CB1AE07E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E6579E-1D2E-C95F-6422-4DB8ACB5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Session Eval</a:t>
            </a:r>
          </a:p>
        </p:txBody>
      </p:sp>
    </p:spTree>
    <p:extLst>
      <p:ext uri="{BB962C8B-B14F-4D97-AF65-F5344CB8AC3E}">
        <p14:creationId xmlns:p14="http://schemas.microsoft.com/office/powerpoint/2010/main" val="29480153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736411_win32_fixed.potx" id="{BC2F7F5B-4979-4A54-84D5-4000EC3D9661}" vid="{81E89C45-4B49-4C30-91F6-68DD81BA825C}"/>
    </a:ext>
  </a:extLst>
</a:theme>
</file>

<file path=ppt/theme/theme2.xml><?xml version="1.0" encoding="utf-8"?>
<a:theme xmlns:a="http://schemas.openxmlformats.org/drawingml/2006/main" name="PASS on Tou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latin typeface="Roboto" panose="02000000000000000000" pitchFamily="2" charset="0"/>
            <a:ea typeface="Roboto" panose="020000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tx1"/>
        </a:solidFill>
      </a:spPr>
      <a:bodyPr wrap="square" rtlCol="0">
        <a:spAutoFit/>
      </a:bodyPr>
      <a:lstStyle>
        <a:defPPr algn="l">
          <a:defRPr sz="1200" b="0" dirty="0">
            <a:solidFill>
              <a:schemeClr val="bg1"/>
            </a:solidFill>
            <a:latin typeface="IBM Plex Sans Medium" panose="020B0503050203000203" pitchFamily="34" charset="0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gate theme v2" id="{1734A0F3-C998-EF41-934D-51BF3B82E1A2}" vid="{D6099F4A-34CB-A94F-8B65-95F962FE4140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Famous event in history presentation</Template>
  <TotalTime>3227</TotalTime>
  <Words>1540</Words>
  <Application>Microsoft Office PowerPoint</Application>
  <PresentationFormat>Widescreen</PresentationFormat>
  <Paragraphs>293</Paragraphs>
  <Slides>66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66</vt:i4>
      </vt:variant>
    </vt:vector>
  </HeadingPairs>
  <TitlesOfParts>
    <vt:vector size="82" baseType="lpstr">
      <vt:lpstr>Aptos</vt:lpstr>
      <vt:lpstr>Aptos Display</vt:lpstr>
      <vt:lpstr>Arial</vt:lpstr>
      <vt:lpstr>Arial Black</vt:lpstr>
      <vt:lpstr>Calibri</vt:lpstr>
      <vt:lpstr>Calibri Light</vt:lpstr>
      <vt:lpstr>Courier New</vt:lpstr>
      <vt:lpstr>Kanit</vt:lpstr>
      <vt:lpstr>Roboto</vt:lpstr>
      <vt:lpstr>Roboto Regular</vt:lpstr>
      <vt:lpstr>Segoe UI</vt:lpstr>
      <vt:lpstr>Verdana</vt:lpstr>
      <vt:lpstr>Celestial</vt:lpstr>
      <vt:lpstr>PASS on Tour</vt:lpstr>
      <vt:lpstr>2_Office Theme</vt:lpstr>
      <vt:lpstr>1_Office Theme</vt:lpstr>
      <vt:lpstr>Unlocking the Power of TMDL: Enhancing Power BI Development</vt:lpstr>
      <vt:lpstr>Jason </vt:lpstr>
      <vt:lpstr>Standing on the Shoulders of Giants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the Beginning…</vt:lpstr>
      <vt:lpstr>Sample Model.Bim File</vt:lpstr>
      <vt:lpstr>Issues with a Single Large BIM File</vt:lpstr>
      <vt:lpstr>Power BI PBIX File</vt:lpstr>
      <vt:lpstr>Power BI Developer Mode</vt:lpstr>
      <vt:lpstr>What’s in a Name</vt:lpstr>
      <vt:lpstr>Key Points</vt:lpstr>
      <vt:lpstr>This is not in JSON format.</vt:lpstr>
      <vt:lpstr>TMDL Credit</vt:lpstr>
      <vt:lpstr>Dual Purpose</vt:lpstr>
      <vt:lpstr>Unlocking the Power of TMDL</vt:lpstr>
      <vt:lpstr>Example of  TMDL</vt:lpstr>
      <vt:lpstr>Quick TMDL Primer</vt:lpstr>
      <vt:lpstr>More TMDL</vt:lpstr>
      <vt:lpstr>Best Way to Learn Syntax</vt:lpstr>
      <vt:lpstr>PowerPoint Presentation</vt:lpstr>
      <vt:lpstr>TMDL in Power BI Desktop</vt:lpstr>
      <vt:lpstr>Breaking News – Read All About it</vt:lpstr>
      <vt:lpstr>Preview Options - Power BI Project</vt:lpstr>
      <vt:lpstr>Learn More</vt:lpstr>
      <vt:lpstr>TMDL in Power BI Desktop</vt:lpstr>
      <vt:lpstr>Folder Renaming is NOT Version Control</vt:lpstr>
      <vt:lpstr>Visual Studio Code Demo</vt:lpstr>
      <vt:lpstr>Power BI – TMDL Issue</vt:lpstr>
      <vt:lpstr>Git Changes </vt:lpstr>
      <vt:lpstr>PowerPoint Presentation</vt:lpstr>
      <vt:lpstr>TMDL in Power BI Desktop</vt:lpstr>
      <vt:lpstr>Warning</vt:lpstr>
      <vt:lpstr>TMDL View Button</vt:lpstr>
      <vt:lpstr>Script TMDL</vt:lpstr>
      <vt:lpstr>Can be in Table or Model Selection</vt:lpstr>
      <vt:lpstr>Can script to Script Tab or Clipboard     Also, Drag and Drop to Tab </vt:lpstr>
      <vt:lpstr>TMDL View – Script Tab</vt:lpstr>
      <vt:lpstr>TMDL View – Code Interface</vt:lpstr>
      <vt:lpstr>Code Interface - Preview</vt:lpstr>
      <vt:lpstr>TMDL View – Rename Tabs</vt:lpstr>
      <vt:lpstr>TMDL Scripts – Saved in File (PBIP/PBIX)</vt:lpstr>
      <vt:lpstr>Enables functionalities Without External tool</vt:lpstr>
      <vt:lpstr>Share TMDL Scripts</vt:lpstr>
      <vt:lpstr>TMDL View Demo</vt:lpstr>
      <vt:lpstr>PowerPoint Presentation</vt:lpstr>
      <vt:lpstr>External Tools</vt:lpstr>
      <vt:lpstr>Tabular Editor 2.x – Save to Folder – TMDL </vt:lpstr>
      <vt:lpstr>Tabular Editor 2.x – Import TMDL </vt:lpstr>
      <vt:lpstr>Tabular Editor 3</vt:lpstr>
      <vt:lpstr>Tabular Editor 2 – Save to Folder</vt:lpstr>
      <vt:lpstr>PowerPoint Presentation</vt:lpstr>
      <vt:lpstr>Future Expansion</vt:lpstr>
      <vt:lpstr>Endless Possibilities</vt:lpstr>
      <vt:lpstr>Resources</vt:lpstr>
      <vt:lpstr>Resources</vt:lpstr>
      <vt:lpstr>Resources</vt:lpstr>
      <vt:lpstr>Hope you enjoyed your stay</vt:lpstr>
      <vt:lpstr>PowerPoint Presentation</vt:lpstr>
      <vt:lpstr>Thank you</vt:lpstr>
      <vt:lpstr>Session Eval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66</cp:revision>
  <dcterms:created xsi:type="dcterms:W3CDTF">2025-03-12T15:30:26Z</dcterms:created>
  <dcterms:modified xsi:type="dcterms:W3CDTF">2026-03-21T03:09:37Z</dcterms:modified>
</cp:coreProperties>
</file>